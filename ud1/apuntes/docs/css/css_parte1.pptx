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44"/>
  </p:notesMasterIdLst>
  <p:handoutMasterIdLst>
    <p:handoutMasterId r:id="rId45"/>
  </p:handoutMasterIdLst>
  <p:sldIdLst>
    <p:sldId id="256" r:id="rId4"/>
    <p:sldId id="257" r:id="rId5"/>
    <p:sldId id="258" r:id="rId6"/>
    <p:sldId id="259" r:id="rId7"/>
    <p:sldId id="260" r:id="rId8"/>
    <p:sldId id="262" r:id="rId9"/>
    <p:sldId id="261" r:id="rId10"/>
    <p:sldId id="263" r:id="rId11"/>
    <p:sldId id="264" r:id="rId12"/>
    <p:sldId id="265" r:id="rId13"/>
    <p:sldId id="267" r:id="rId14"/>
    <p:sldId id="266" r:id="rId15"/>
    <p:sldId id="291" r:id="rId16"/>
    <p:sldId id="292" r:id="rId17"/>
    <p:sldId id="293" r:id="rId18"/>
    <p:sldId id="294" r:id="rId19"/>
    <p:sldId id="268" r:id="rId20"/>
    <p:sldId id="269" r:id="rId21"/>
    <p:sldId id="270" r:id="rId22"/>
    <p:sldId id="290" r:id="rId23"/>
    <p:sldId id="271" r:id="rId24"/>
    <p:sldId id="272" r:id="rId25"/>
    <p:sldId id="295" r:id="rId26"/>
    <p:sldId id="296" r:id="rId27"/>
    <p:sldId id="273" r:id="rId28"/>
    <p:sldId id="275" r:id="rId29"/>
    <p:sldId id="278" r:id="rId30"/>
    <p:sldId id="276" r:id="rId31"/>
    <p:sldId id="277" r:id="rId32"/>
    <p:sldId id="279" r:id="rId33"/>
    <p:sldId id="281" r:id="rId34"/>
    <p:sldId id="280" r:id="rId35"/>
    <p:sldId id="282" r:id="rId36"/>
    <p:sldId id="283" r:id="rId37"/>
    <p:sldId id="284" r:id="rId38"/>
    <p:sldId id="285" r:id="rId39"/>
    <p:sldId id="286" r:id="rId40"/>
    <p:sldId id="287" r:id="rId41"/>
    <p:sldId id="288" r:id="rId42"/>
    <p:sldId id="289" r:id="rId43"/>
  </p:sldIdLst>
  <p:sldSz cx="10080625" cy="567055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3"/>
    <p:restoredTop sz="84852" autoAdjust="0"/>
  </p:normalViewPr>
  <p:slideViewPr>
    <p:cSldViewPr snapToGrid="0">
      <p:cViewPr varScale="1">
        <p:scale>
          <a:sx n="145" d="100"/>
          <a:sy n="145" d="100"/>
        </p:scale>
        <p:origin x="12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o Alia Hernández" userId="19ac7215-f1c4-4db4-9b56-4a0303001f57" providerId="ADAL" clId="{8A78044B-2865-5D51-95E8-FDAF10742AEB}"/>
    <pc:docChg chg="undo custSel addSld modSld">
      <pc:chgData name="Francisco Alia Hernández" userId="19ac7215-f1c4-4db4-9b56-4a0303001f57" providerId="ADAL" clId="{8A78044B-2865-5D51-95E8-FDAF10742AEB}" dt="2025-11-06T07:52:49.792" v="134" actId="20577"/>
      <pc:docMkLst>
        <pc:docMk/>
      </pc:docMkLst>
      <pc:sldChg chg="modSp mod">
        <pc:chgData name="Francisco Alia Hernández" userId="19ac7215-f1c4-4db4-9b56-4a0303001f57" providerId="ADAL" clId="{8A78044B-2865-5D51-95E8-FDAF10742AEB}" dt="2025-10-29T18:01:11.472" v="1" actId="20577"/>
        <pc:sldMkLst>
          <pc:docMk/>
          <pc:sldMk cId="0" sldId="256"/>
        </pc:sldMkLst>
        <pc:spChg chg="mod">
          <ac:chgData name="Francisco Alia Hernández" userId="19ac7215-f1c4-4db4-9b56-4a0303001f57" providerId="ADAL" clId="{8A78044B-2865-5D51-95E8-FDAF10742AEB}" dt="2025-10-29T18:01:11.472" v="1" actId="20577"/>
          <ac:spMkLst>
            <pc:docMk/>
            <pc:sldMk cId="0" sldId="256"/>
            <ac:spMk id="2" creationId="{AC8EDEA5-DC14-5B09-B6E5-F0BE9C9C87AB}"/>
          </ac:spMkLst>
        </pc:spChg>
      </pc:sldChg>
      <pc:sldChg chg="modSp mod">
        <pc:chgData name="Francisco Alia Hernández" userId="19ac7215-f1c4-4db4-9b56-4a0303001f57" providerId="ADAL" clId="{8A78044B-2865-5D51-95E8-FDAF10742AEB}" dt="2025-11-06T07:52:49.792" v="134" actId="20577"/>
        <pc:sldMkLst>
          <pc:docMk/>
          <pc:sldMk cId="3816414767" sldId="275"/>
        </pc:sldMkLst>
        <pc:spChg chg="mod">
          <ac:chgData name="Francisco Alia Hernández" userId="19ac7215-f1c4-4db4-9b56-4a0303001f57" providerId="ADAL" clId="{8A78044B-2865-5D51-95E8-FDAF10742AEB}" dt="2025-11-06T07:52:49.792" v="134" actId="20577"/>
          <ac:spMkLst>
            <pc:docMk/>
            <pc:sldMk cId="3816414767" sldId="275"/>
            <ac:spMk id="7" creationId="{A21E8C19-4F8E-FDA0-BCAD-25E3EEFBBF5C}"/>
          </ac:spMkLst>
        </pc:spChg>
      </pc:sldChg>
      <pc:sldChg chg="modSp">
        <pc:chgData name="Francisco Alia Hernández" userId="19ac7215-f1c4-4db4-9b56-4a0303001f57" providerId="ADAL" clId="{8A78044B-2865-5D51-95E8-FDAF10742AEB}" dt="2025-11-05T17:46:40.326" v="133" actId="20578"/>
        <pc:sldMkLst>
          <pc:docMk/>
          <pc:sldMk cId="3215190984" sldId="276"/>
        </pc:sldMkLst>
        <pc:spChg chg="mod">
          <ac:chgData name="Francisco Alia Hernández" userId="19ac7215-f1c4-4db4-9b56-4a0303001f57" providerId="ADAL" clId="{8A78044B-2865-5D51-95E8-FDAF10742AEB}" dt="2025-11-05T17:46:40.326" v="133" actId="20578"/>
          <ac:spMkLst>
            <pc:docMk/>
            <pc:sldMk cId="3215190984" sldId="276"/>
            <ac:spMk id="3" creationId="{E7835636-CDD1-DA95-8159-9349FEBFDBDF}"/>
          </ac:spMkLst>
        </pc:spChg>
      </pc:sldChg>
      <pc:sldChg chg="addSp delSp modSp new mod">
        <pc:chgData name="Francisco Alia Hernández" userId="19ac7215-f1c4-4db4-9b56-4a0303001f57" providerId="ADAL" clId="{8A78044B-2865-5D51-95E8-FDAF10742AEB}" dt="2025-10-29T18:38:56.948" v="56" actId="1076"/>
        <pc:sldMkLst>
          <pc:docMk/>
          <pc:sldMk cId="918589569" sldId="291"/>
        </pc:sldMkLst>
        <pc:spChg chg="add mod">
          <ac:chgData name="Francisco Alia Hernández" userId="19ac7215-f1c4-4db4-9b56-4a0303001f57" providerId="ADAL" clId="{8A78044B-2865-5D51-95E8-FDAF10742AEB}" dt="2025-10-29T18:38:56.948" v="56" actId="1076"/>
          <ac:spMkLst>
            <pc:docMk/>
            <pc:sldMk cId="918589569" sldId="291"/>
            <ac:spMk id="5" creationId="{D8F002E2-28EF-2002-356A-0995103B37CB}"/>
          </ac:spMkLst>
        </pc:spChg>
        <pc:spChg chg="add mod">
          <ac:chgData name="Francisco Alia Hernández" userId="19ac7215-f1c4-4db4-9b56-4a0303001f57" providerId="ADAL" clId="{8A78044B-2865-5D51-95E8-FDAF10742AEB}" dt="2025-10-29T18:38:14.721" v="44" actId="1076"/>
          <ac:spMkLst>
            <pc:docMk/>
            <pc:sldMk cId="918589569" sldId="291"/>
            <ac:spMk id="7" creationId="{A07C9F2E-C58B-46F6-500A-A4FD28E0AFEB}"/>
          </ac:spMkLst>
        </pc:spChg>
        <pc:spChg chg="add mod">
          <ac:chgData name="Francisco Alia Hernández" userId="19ac7215-f1c4-4db4-9b56-4a0303001f57" providerId="ADAL" clId="{8A78044B-2865-5D51-95E8-FDAF10742AEB}" dt="2025-10-29T18:38:29.117" v="47"/>
          <ac:spMkLst>
            <pc:docMk/>
            <pc:sldMk cId="918589569" sldId="291"/>
            <ac:spMk id="9" creationId="{EE257D30-FD5B-A4D1-70A2-DE3406642219}"/>
          </ac:spMkLst>
        </pc:spChg>
        <pc:spChg chg="add mod">
          <ac:chgData name="Francisco Alia Hernández" userId="19ac7215-f1c4-4db4-9b56-4a0303001f57" providerId="ADAL" clId="{8A78044B-2865-5D51-95E8-FDAF10742AEB}" dt="2025-10-29T18:38:44.418" v="53"/>
          <ac:spMkLst>
            <pc:docMk/>
            <pc:sldMk cId="918589569" sldId="291"/>
            <ac:spMk id="11" creationId="{95D40E6B-B1E3-2328-5A16-8B5A1D16BBA6}"/>
          </ac:spMkLst>
        </pc:spChg>
        <pc:spChg chg="add mod">
          <ac:chgData name="Francisco Alia Hernández" userId="19ac7215-f1c4-4db4-9b56-4a0303001f57" providerId="ADAL" clId="{8A78044B-2865-5D51-95E8-FDAF10742AEB}" dt="2025-10-29T18:38:48.071" v="55" actId="1076"/>
          <ac:spMkLst>
            <pc:docMk/>
            <pc:sldMk cId="918589569" sldId="291"/>
            <ac:spMk id="13" creationId="{B41B2C10-EBBD-85CE-F305-90779CD69702}"/>
          </ac:spMkLst>
        </pc:spChg>
      </pc:sldChg>
      <pc:sldChg chg="addSp modSp new mod">
        <pc:chgData name="Francisco Alia Hernández" userId="19ac7215-f1c4-4db4-9b56-4a0303001f57" providerId="ADAL" clId="{8A78044B-2865-5D51-95E8-FDAF10742AEB}" dt="2025-10-29T18:39:18.083" v="62" actId="20577"/>
        <pc:sldMkLst>
          <pc:docMk/>
          <pc:sldMk cId="2157947253" sldId="292"/>
        </pc:sldMkLst>
        <pc:spChg chg="add mod">
          <ac:chgData name="Francisco Alia Hernández" userId="19ac7215-f1c4-4db4-9b56-4a0303001f57" providerId="ADAL" clId="{8A78044B-2865-5D51-95E8-FDAF10742AEB}" dt="2025-10-29T18:39:01.811" v="58"/>
          <ac:spMkLst>
            <pc:docMk/>
            <pc:sldMk cId="2157947253" sldId="292"/>
            <ac:spMk id="2" creationId="{1EA9551E-19A5-99E8-5AAD-9C7BBBC61C9D}"/>
          </ac:spMkLst>
        </pc:spChg>
        <pc:spChg chg="add mod">
          <ac:chgData name="Francisco Alia Hernández" userId="19ac7215-f1c4-4db4-9b56-4a0303001f57" providerId="ADAL" clId="{8A78044B-2865-5D51-95E8-FDAF10742AEB}" dt="2025-10-29T18:39:18.083" v="62" actId="20577"/>
          <ac:spMkLst>
            <pc:docMk/>
            <pc:sldMk cId="2157947253" sldId="292"/>
            <ac:spMk id="4" creationId="{F18F2FBB-4EFD-816E-7947-3995430E4AC4}"/>
          </ac:spMkLst>
        </pc:spChg>
      </pc:sldChg>
      <pc:sldChg chg="addSp modSp new mod">
        <pc:chgData name="Francisco Alia Hernández" userId="19ac7215-f1c4-4db4-9b56-4a0303001f57" providerId="ADAL" clId="{8A78044B-2865-5D51-95E8-FDAF10742AEB}" dt="2025-10-29T18:40:22.756" v="74" actId="1076"/>
        <pc:sldMkLst>
          <pc:docMk/>
          <pc:sldMk cId="3853850471" sldId="293"/>
        </pc:sldMkLst>
        <pc:spChg chg="add mod">
          <ac:chgData name="Francisco Alia Hernández" userId="19ac7215-f1c4-4db4-9b56-4a0303001f57" providerId="ADAL" clId="{8A78044B-2865-5D51-95E8-FDAF10742AEB}" dt="2025-10-29T18:39:39.263" v="67" actId="20577"/>
          <ac:spMkLst>
            <pc:docMk/>
            <pc:sldMk cId="3853850471" sldId="293"/>
            <ac:spMk id="3" creationId="{AA508242-367C-C0BD-1742-3C08AE042AEB}"/>
          </ac:spMkLst>
        </pc:spChg>
        <pc:spChg chg="add mod">
          <ac:chgData name="Francisco Alia Hernández" userId="19ac7215-f1c4-4db4-9b56-4a0303001f57" providerId="ADAL" clId="{8A78044B-2865-5D51-95E8-FDAF10742AEB}" dt="2025-10-29T18:40:22.756" v="74" actId="1076"/>
          <ac:spMkLst>
            <pc:docMk/>
            <pc:sldMk cId="3853850471" sldId="293"/>
            <ac:spMk id="5" creationId="{0EBBF875-0B85-8347-5D79-7C0A11DC9E62}"/>
          </ac:spMkLst>
        </pc:spChg>
      </pc:sldChg>
      <pc:sldChg chg="addSp modSp new mod">
        <pc:chgData name="Francisco Alia Hernández" userId="19ac7215-f1c4-4db4-9b56-4a0303001f57" providerId="ADAL" clId="{8A78044B-2865-5D51-95E8-FDAF10742AEB}" dt="2025-10-29T18:40:44.196" v="78" actId="255"/>
        <pc:sldMkLst>
          <pc:docMk/>
          <pc:sldMk cId="3713755101" sldId="294"/>
        </pc:sldMkLst>
        <pc:spChg chg="add mod">
          <ac:chgData name="Francisco Alia Hernández" userId="19ac7215-f1c4-4db4-9b56-4a0303001f57" providerId="ADAL" clId="{8A78044B-2865-5D51-95E8-FDAF10742AEB}" dt="2025-10-29T18:40:44.196" v="78" actId="255"/>
          <ac:spMkLst>
            <pc:docMk/>
            <pc:sldMk cId="3713755101" sldId="294"/>
            <ac:spMk id="4" creationId="{070A9776-739B-4137-6FC6-2454C9B5E096}"/>
          </ac:spMkLst>
        </pc:spChg>
        <pc:graphicFrameChg chg="add mod">
          <ac:chgData name="Francisco Alia Hernández" userId="19ac7215-f1c4-4db4-9b56-4a0303001f57" providerId="ADAL" clId="{8A78044B-2865-5D51-95E8-FDAF10742AEB}" dt="2025-10-29T18:40:18.588" v="73" actId="1076"/>
          <ac:graphicFrameMkLst>
            <pc:docMk/>
            <pc:sldMk cId="3713755101" sldId="294"/>
            <ac:graphicFrameMk id="2" creationId="{237544CA-9C0A-246D-2B07-87F7A573EE57}"/>
          </ac:graphicFrameMkLst>
        </pc:graphicFrameChg>
      </pc:sldChg>
      <pc:sldChg chg="addSp modSp new mod">
        <pc:chgData name="Francisco Alia Hernández" userId="19ac7215-f1c4-4db4-9b56-4a0303001f57" providerId="ADAL" clId="{8A78044B-2865-5D51-95E8-FDAF10742AEB}" dt="2025-10-29T18:46:51.229" v="117" actId="13926"/>
        <pc:sldMkLst>
          <pc:docMk/>
          <pc:sldMk cId="4161674092" sldId="295"/>
        </pc:sldMkLst>
        <pc:spChg chg="add mod">
          <ac:chgData name="Francisco Alia Hernández" userId="19ac7215-f1c4-4db4-9b56-4a0303001f57" providerId="ADAL" clId="{8A78044B-2865-5D51-95E8-FDAF10742AEB}" dt="2025-10-29T18:44:51.982" v="93" actId="207"/>
          <ac:spMkLst>
            <pc:docMk/>
            <pc:sldMk cId="4161674092" sldId="295"/>
            <ac:spMk id="2" creationId="{31CF745D-A7A1-1064-AB42-2F2867170607}"/>
          </ac:spMkLst>
        </pc:spChg>
        <pc:spChg chg="add mod">
          <ac:chgData name="Francisco Alia Hernández" userId="19ac7215-f1c4-4db4-9b56-4a0303001f57" providerId="ADAL" clId="{8A78044B-2865-5D51-95E8-FDAF10742AEB}" dt="2025-10-29T18:46:34.550" v="111" actId="1076"/>
          <ac:spMkLst>
            <pc:docMk/>
            <pc:sldMk cId="4161674092" sldId="295"/>
            <ac:spMk id="4" creationId="{5B7ACA35-86DA-3351-CE77-15C4D34265DF}"/>
          </ac:spMkLst>
        </pc:spChg>
        <pc:spChg chg="add mod">
          <ac:chgData name="Francisco Alia Hernández" userId="19ac7215-f1c4-4db4-9b56-4a0303001f57" providerId="ADAL" clId="{8A78044B-2865-5D51-95E8-FDAF10742AEB}" dt="2025-10-29T18:46:51.229" v="117" actId="13926"/>
          <ac:spMkLst>
            <pc:docMk/>
            <pc:sldMk cId="4161674092" sldId="295"/>
            <ac:spMk id="6" creationId="{D6B166B2-8513-F8AE-BD01-2ADD436A2FD2}"/>
          </ac:spMkLst>
        </pc:spChg>
        <pc:spChg chg="add mod">
          <ac:chgData name="Francisco Alia Hernández" userId="19ac7215-f1c4-4db4-9b56-4a0303001f57" providerId="ADAL" clId="{8A78044B-2865-5D51-95E8-FDAF10742AEB}" dt="2025-10-29T18:46:22.182" v="110" actId="5793"/>
          <ac:spMkLst>
            <pc:docMk/>
            <pc:sldMk cId="4161674092" sldId="295"/>
            <ac:spMk id="8" creationId="{DBBE5CCF-905E-14EE-D210-C80630E0748B}"/>
          </ac:spMkLst>
        </pc:spChg>
      </pc:sldChg>
      <pc:sldChg chg="addSp delSp modSp add mod">
        <pc:chgData name="Francisco Alia Hernández" userId="19ac7215-f1c4-4db4-9b56-4a0303001f57" providerId="ADAL" clId="{8A78044B-2865-5D51-95E8-FDAF10742AEB}" dt="2025-10-29T18:48:06.999" v="132" actId="1076"/>
        <pc:sldMkLst>
          <pc:docMk/>
          <pc:sldMk cId="323052714" sldId="296"/>
        </pc:sldMkLst>
        <pc:spChg chg="mod">
          <ac:chgData name="Francisco Alia Hernández" userId="19ac7215-f1c4-4db4-9b56-4a0303001f57" providerId="ADAL" clId="{8A78044B-2865-5D51-95E8-FDAF10742AEB}" dt="2025-10-29T18:47:40.389" v="126" actId="14100"/>
          <ac:spMkLst>
            <pc:docMk/>
            <pc:sldMk cId="323052714" sldId="296"/>
            <ac:spMk id="4" creationId="{A94BAB41-1095-C26B-253A-77659561D2BC}"/>
          </ac:spMkLst>
        </pc:spChg>
        <pc:spChg chg="add mod">
          <ac:chgData name="Francisco Alia Hernández" userId="19ac7215-f1c4-4db4-9b56-4a0303001f57" providerId="ADAL" clId="{8A78044B-2865-5D51-95E8-FDAF10742AEB}" dt="2025-10-29T18:48:06.999" v="132" actId="1076"/>
          <ac:spMkLst>
            <pc:docMk/>
            <pc:sldMk cId="323052714" sldId="296"/>
            <ac:spMk id="5" creationId="{973B9CE4-8D90-6AFF-9A50-22C3B0C453A0}"/>
          </ac:spMkLst>
        </pc:spChg>
        <pc:spChg chg="mod">
          <ac:chgData name="Francisco Alia Hernández" userId="19ac7215-f1c4-4db4-9b56-4a0303001f57" providerId="ADAL" clId="{8A78044B-2865-5D51-95E8-FDAF10742AEB}" dt="2025-10-29T18:47:48.044" v="127"/>
          <ac:spMkLst>
            <pc:docMk/>
            <pc:sldMk cId="323052714" sldId="296"/>
            <ac:spMk id="6" creationId="{6488C041-5867-61B6-994A-A6A511B851E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9A09ED6-3FC1-DD06-824E-67FD960D449A}"/>
              </a:ext>
            </a:extLst>
          </p:cNvPr>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3" name="Marcador de fecha 2">
            <a:extLst>
              <a:ext uri="{FF2B5EF4-FFF2-40B4-BE49-F238E27FC236}">
                <a16:creationId xmlns:a16="http://schemas.microsoft.com/office/drawing/2014/main" id="{2EF50449-E7D5-9850-EFF7-58570BFC82BA}"/>
              </a:ext>
            </a:extLst>
          </p:cNvPr>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ctr" anchorCtr="0" compatLnSpc="0">
            <a:noAutofit/>
          </a:bodyPr>
          <a:lstStyle/>
          <a:p>
            <a:pPr marL="0" marR="0" lvl="0" indent="0" algn="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pie de página 3">
            <a:extLst>
              <a:ext uri="{FF2B5EF4-FFF2-40B4-BE49-F238E27FC236}">
                <a16:creationId xmlns:a16="http://schemas.microsoft.com/office/drawing/2014/main" id="{8CC26FD8-D2A6-1D48-7554-BF6B8E071AB3}"/>
              </a:ext>
            </a:extLst>
          </p:cNvPr>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1" compatLnSpc="0">
            <a:noAutofit/>
          </a:bodyPr>
          <a:lstStyle/>
          <a:p>
            <a:pPr marL="0" marR="0" lvl="0" indent="0" algn="ct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endParaRPr lang="es-ES" sz="1400" b="0" i="0" u="none" strike="noStrike" kern="1200" cap="none" spc="0" baseline="0">
              <a:solidFill>
                <a:srgbClr val="2C3E50"/>
              </a:solidFill>
              <a:uFillTx/>
              <a:latin typeface="Noto Sans" pitchFamily="34"/>
              <a:ea typeface="DejaVu Sans" pitchFamily="2"/>
              <a:cs typeface="Noto Sans" pitchFamily="2"/>
            </a:endParaRPr>
          </a:p>
        </p:txBody>
      </p:sp>
      <p:sp>
        <p:nvSpPr>
          <p:cNvPr id="5" name="Marcador de número de diapositiva 4">
            <a:extLst>
              <a:ext uri="{FF2B5EF4-FFF2-40B4-BE49-F238E27FC236}">
                <a16:creationId xmlns:a16="http://schemas.microsoft.com/office/drawing/2014/main" id="{C7E431F3-473A-B3FC-5623-2298F5B3CA6D}"/>
              </a:ext>
            </a:extLst>
          </p:cNvPr>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1">
              <a:lnSpc>
                <a:spcPct val="100000"/>
              </a:lnSpc>
              <a:spcBef>
                <a:spcPts val="0"/>
              </a:spcBef>
              <a:spcAft>
                <a:spcPts val="0"/>
              </a:spcAft>
              <a:buNone/>
              <a:tabLst/>
              <a:defRPr sz="1400" b="0" i="0" u="none" strike="noStrike" kern="0" cap="none" spc="0" baseline="0">
                <a:solidFill>
                  <a:srgbClr val="000000"/>
                </a:solidFill>
                <a:uFillTx/>
              </a:defRPr>
            </a:pPr>
            <a:fld id="{477EBC9B-59DA-4189-B930-1515F385C660}" type="slidenum">
              <a:t>‹Nº›</a:t>
            </a:fld>
            <a:endParaRPr lang="es-ES" sz="1400" b="0" i="0" u="none" strike="noStrike" kern="1200" cap="none" spc="0" baseline="0">
              <a:solidFill>
                <a:srgbClr val="2C3E50"/>
              </a:solidFill>
              <a:uFillTx/>
              <a:latin typeface="Noto Sans" pitchFamily="34"/>
              <a:ea typeface="DejaVu Sans" pitchFamily="2"/>
              <a:cs typeface="Noto Sans" pitchFamily="2"/>
            </a:endParaRPr>
          </a:p>
        </p:txBody>
      </p:sp>
    </p:spTree>
    <p:extLst>
      <p:ext uri="{BB962C8B-B14F-4D97-AF65-F5344CB8AC3E}">
        <p14:creationId xmlns:p14="http://schemas.microsoft.com/office/powerpoint/2010/main" val="22764032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1BC640-33C8-19F5-2804-82C00FCB59DE}"/>
              </a:ext>
            </a:extLst>
          </p:cNvPr>
          <p:cNvSpPr>
            <a:spLocks noGrp="1" noRot="1" noChangeAspect="1"/>
          </p:cNvSpPr>
          <p:nvPr>
            <p:ph type="sldImg" idx="2"/>
          </p:nvPr>
        </p:nvSpPr>
        <p:spPr>
          <a:xfrm>
            <a:off x="1107000" y="812517"/>
            <a:ext cx="5345280" cy="4008958"/>
          </a:xfrm>
          <a:prstGeom prst="rect">
            <a:avLst/>
          </a:prstGeom>
          <a:noFill/>
          <a:ln>
            <a:noFill/>
            <a:prstDash val="solid"/>
          </a:ln>
        </p:spPr>
      </p:sp>
      <p:sp>
        <p:nvSpPr>
          <p:cNvPr id="3" name="Marcador de notas 2">
            <a:extLst>
              <a:ext uri="{FF2B5EF4-FFF2-40B4-BE49-F238E27FC236}">
                <a16:creationId xmlns:a16="http://schemas.microsoft.com/office/drawing/2014/main" id="{9CE3AFC3-0540-E29A-7A5A-8BED8DAED126}"/>
              </a:ext>
            </a:extLst>
          </p:cNvPr>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s-ES"/>
          </a:p>
        </p:txBody>
      </p:sp>
      <p:sp>
        <p:nvSpPr>
          <p:cNvPr id="4" name="Marcador de encabezado 3">
            <a:extLst>
              <a:ext uri="{FF2B5EF4-FFF2-40B4-BE49-F238E27FC236}">
                <a16:creationId xmlns:a16="http://schemas.microsoft.com/office/drawing/2014/main" id="{DA830D70-17A8-7764-DBEB-51262DA5174F}"/>
              </a:ext>
            </a:extLst>
          </p:cNvPr>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5" name="Marcador de fecha 4">
            <a:extLst>
              <a:ext uri="{FF2B5EF4-FFF2-40B4-BE49-F238E27FC236}">
                <a16:creationId xmlns:a16="http://schemas.microsoft.com/office/drawing/2014/main" id="{28874CA0-3CBE-08C4-4801-5A11E696ACC5}"/>
              </a:ext>
            </a:extLst>
          </p:cNvPr>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6" name="Marcador de pie de página 5">
            <a:extLst>
              <a:ext uri="{FF2B5EF4-FFF2-40B4-BE49-F238E27FC236}">
                <a16:creationId xmlns:a16="http://schemas.microsoft.com/office/drawing/2014/main" id="{2984137D-7E8F-14D7-9951-C7DC15600AD6}"/>
              </a:ext>
            </a:extLst>
          </p:cNvPr>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número de diapositiva 6">
            <a:extLst>
              <a:ext uri="{FF2B5EF4-FFF2-40B4-BE49-F238E27FC236}">
                <a16:creationId xmlns:a16="http://schemas.microsoft.com/office/drawing/2014/main" id="{E5C80BC4-81B1-D018-2CBE-A6A7CD0753D8}"/>
              </a:ext>
            </a:extLst>
          </p:cNvPr>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s-ES" sz="1400" b="1" i="0" u="none" strike="noStrike" kern="1200" cap="none" spc="0" baseline="0">
                <a:solidFill>
                  <a:srgbClr val="FFFFFF"/>
                </a:solidFill>
                <a:uFillTx/>
                <a:latin typeface="Noto Sans" pitchFamily="34"/>
                <a:ea typeface="DejaVu Sans" pitchFamily="2"/>
                <a:cs typeface="Noto Sans" pitchFamily="2"/>
              </a:defRPr>
            </a:lvl1pPr>
          </a:lstStyle>
          <a:p>
            <a:pPr lvl="0"/>
            <a:fld id="{EC4DFB48-AD85-4696-B09F-6B6C75784B86}" type="slidenum">
              <a:t>‹Nº›</a:t>
            </a:fld>
            <a:endParaRPr lang="es-ES"/>
          </a:p>
        </p:txBody>
      </p:sp>
    </p:spTree>
    <p:extLst>
      <p:ext uri="{BB962C8B-B14F-4D97-AF65-F5344CB8AC3E}">
        <p14:creationId xmlns:p14="http://schemas.microsoft.com/office/powerpoint/2010/main" val="1123604533"/>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s-ES" sz="2000" b="0" i="0" u="none" strike="noStrike" kern="1200" cap="none" spc="0" baseline="0">
        <a:solidFill>
          <a:srgbClr val="000000"/>
        </a:solidFill>
        <a:uFillTx/>
        <a:latin typeface="Noto Sans" pitchFamily="34"/>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BDB22667-3A99-AF64-3CE6-A1865DAB2BA3}"/>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D6521BA-F933-46AD-B80A-D1358030354C}" type="slidenum">
              <a:t>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5D55F0B2-1EBD-61D8-3000-3D02E3CD32B6}"/>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29F0135F-F318-2B60-20EF-C27191F67282}"/>
              </a:ext>
            </a:extLst>
          </p:cNvPr>
          <p:cNvSpPr txBox="1">
            <a:spLocks noGrp="1"/>
          </p:cNvSpPr>
          <p:nvPr>
            <p:ph type="body" sz="quarter" idx="1"/>
          </p:nvPr>
        </p:nvSpPr>
        <p:spPr>
          <a:xfrm>
            <a:off x="755998" y="5078522"/>
            <a:ext cx="6047997" cy="4811042"/>
          </a:xfrm>
        </p:spPr>
        <p:txBody>
          <a:bodyPr>
            <a:spAutoFit/>
          </a:bodyP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749598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507124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76065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839504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58575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779531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2009521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3442823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830085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909785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17488" y="812800"/>
            <a:ext cx="7123112" cy="4008438"/>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lvl="0"/>
            <a:fld id="{EC4DFB48-AD85-4696-B09F-6B6C75784B86}" type="slidenum">
              <a:rPr lang="es-ES" smtClean="0"/>
              <a:t>13</a:t>
            </a:fld>
            <a:endParaRPr lang="es-ES"/>
          </a:p>
        </p:txBody>
      </p:sp>
    </p:spTree>
    <p:extLst>
      <p:ext uri="{BB962C8B-B14F-4D97-AF65-F5344CB8AC3E}">
        <p14:creationId xmlns:p14="http://schemas.microsoft.com/office/powerpoint/2010/main" val="37510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a:p>
        </p:txBody>
      </p:sp>
    </p:spTree>
    <p:extLst>
      <p:ext uri="{BB962C8B-B14F-4D97-AF65-F5344CB8AC3E}">
        <p14:creationId xmlns:p14="http://schemas.microsoft.com/office/powerpoint/2010/main" val="1316310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1738546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19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r>
              <a:rPr lang="es-ES" dirty="0" err="1"/>
              <a:t>img</a:t>
            </a:r>
            <a:r>
              <a:rPr lang="es-ES" dirty="0"/>
              <a:t>[</a:t>
            </a:r>
            <a:r>
              <a:rPr lang="es-ES" dirty="0" err="1"/>
              <a:t>alt</a:t>
            </a:r>
            <a:r>
              <a:rPr lang="es-ES" dirty="0"/>
              <a:t>]</a:t>
            </a:r>
          </a:p>
          <a:p>
            <a:r>
              <a:rPr lang="es-ES" dirty="0" err="1"/>
              <a:t>img</a:t>
            </a:r>
            <a:r>
              <a:rPr lang="es-ES" dirty="0"/>
              <a:t>[</a:t>
            </a:r>
            <a:r>
              <a:rPr lang="es-ES" dirty="0" err="1"/>
              <a:t>src</a:t>
            </a:r>
            <a:r>
              <a:rPr lang="es-ES" dirty="0"/>
              <a:t>=“alerta.gif”]</a:t>
            </a:r>
          </a:p>
          <a:p>
            <a:r>
              <a:rPr lang="es-ES" dirty="0" err="1"/>
              <a:t>img</a:t>
            </a:r>
            <a:r>
              <a:rPr lang="es-ES" dirty="0"/>
              <a:t>[</a:t>
            </a:r>
            <a:r>
              <a:rPr lang="es-ES" dirty="0" err="1"/>
              <a:t>src</a:t>
            </a:r>
            <a:r>
              <a:rPr lang="es-ES" dirty="0"/>
              <a:t>^=“alerta”]</a:t>
            </a:r>
          </a:p>
          <a:p>
            <a:r>
              <a:rPr lang="es-ES" dirty="0" err="1"/>
              <a:t>img</a:t>
            </a:r>
            <a:r>
              <a:rPr lang="es-ES" dirty="0"/>
              <a:t>[</a:t>
            </a:r>
            <a:r>
              <a:rPr lang="es-ES" dirty="0" err="1"/>
              <a:t>src</a:t>
            </a:r>
            <a:r>
              <a:rPr lang="es-ES" dirty="0"/>
              <a:t>$=“gif”]</a:t>
            </a:r>
          </a:p>
          <a:p>
            <a:r>
              <a:rPr lang="es-ES" dirty="0" err="1"/>
              <a:t>img</a:t>
            </a:r>
            <a:r>
              <a:rPr lang="es-ES" dirty="0"/>
              <a:t>[</a:t>
            </a:r>
            <a:r>
              <a:rPr lang="es-ES" dirty="0" err="1"/>
              <a:t>src</a:t>
            </a:r>
            <a:r>
              <a:rPr lang="es-ES" dirty="0"/>
              <a:t>*=“</a:t>
            </a:r>
            <a:r>
              <a:rPr lang="es-ES" dirty="0" err="1"/>
              <a:t>ert</a:t>
            </a:r>
            <a:r>
              <a:rPr lang="es-ES" dirty="0"/>
              <a:t>”]</a:t>
            </a:r>
          </a:p>
        </p:txBody>
      </p:sp>
    </p:spTree>
    <p:extLst>
      <p:ext uri="{BB962C8B-B14F-4D97-AF65-F5344CB8AC3E}">
        <p14:creationId xmlns:p14="http://schemas.microsoft.com/office/powerpoint/2010/main" val="1319194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r>
              <a:rPr lang="es-ES" dirty="0" err="1"/>
              <a:t>img</a:t>
            </a:r>
            <a:r>
              <a:rPr lang="es-ES" dirty="0"/>
              <a:t>[</a:t>
            </a:r>
            <a:r>
              <a:rPr lang="es-ES" dirty="0" err="1"/>
              <a:t>alt</a:t>
            </a:r>
            <a:r>
              <a:rPr lang="es-ES" dirty="0"/>
              <a:t>]</a:t>
            </a:r>
          </a:p>
          <a:p>
            <a:r>
              <a:rPr lang="es-ES" dirty="0" err="1"/>
              <a:t>img</a:t>
            </a:r>
            <a:r>
              <a:rPr lang="es-ES" dirty="0"/>
              <a:t>[</a:t>
            </a:r>
            <a:r>
              <a:rPr lang="es-ES" dirty="0" err="1"/>
              <a:t>src</a:t>
            </a:r>
            <a:r>
              <a:rPr lang="es-ES" dirty="0"/>
              <a:t>=“alerta.gif”]</a:t>
            </a:r>
          </a:p>
          <a:p>
            <a:r>
              <a:rPr lang="es-ES" dirty="0" err="1"/>
              <a:t>img</a:t>
            </a:r>
            <a:r>
              <a:rPr lang="es-ES" dirty="0"/>
              <a:t>[</a:t>
            </a:r>
            <a:r>
              <a:rPr lang="es-ES" dirty="0" err="1"/>
              <a:t>src</a:t>
            </a:r>
            <a:r>
              <a:rPr lang="es-ES" dirty="0"/>
              <a:t>^=“alerta”]</a:t>
            </a:r>
          </a:p>
          <a:p>
            <a:r>
              <a:rPr lang="es-ES" dirty="0" err="1"/>
              <a:t>img</a:t>
            </a:r>
            <a:r>
              <a:rPr lang="es-ES" dirty="0"/>
              <a:t>[</a:t>
            </a:r>
            <a:r>
              <a:rPr lang="es-ES" dirty="0" err="1"/>
              <a:t>src</a:t>
            </a:r>
            <a:r>
              <a:rPr lang="es-ES" dirty="0"/>
              <a:t>$=“gif”]</a:t>
            </a:r>
          </a:p>
          <a:p>
            <a:r>
              <a:rPr lang="es-ES" dirty="0" err="1"/>
              <a:t>img</a:t>
            </a:r>
            <a:r>
              <a:rPr lang="es-ES" dirty="0"/>
              <a:t>[</a:t>
            </a:r>
            <a:r>
              <a:rPr lang="es-ES" dirty="0" err="1"/>
              <a:t>src</a:t>
            </a:r>
            <a:r>
              <a:rPr lang="es-ES" dirty="0"/>
              <a:t>*=“</a:t>
            </a:r>
            <a:r>
              <a:rPr lang="es-ES" dirty="0" err="1"/>
              <a:t>ert</a:t>
            </a:r>
            <a:r>
              <a:rPr lang="es-ES" dirty="0"/>
              <a:t>”]</a:t>
            </a:r>
          </a:p>
        </p:txBody>
      </p:sp>
    </p:spTree>
    <p:extLst>
      <p:ext uri="{BB962C8B-B14F-4D97-AF65-F5344CB8AC3E}">
        <p14:creationId xmlns:p14="http://schemas.microsoft.com/office/powerpoint/2010/main" val="3598565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2696359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3962283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2680753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3683843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675244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1042961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29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410783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6297613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31</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42877189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32</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4042078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33</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38276029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34</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812511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35</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2143076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36</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33884085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37</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1207777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38</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1141657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39</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3408637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6">
            <a:extLst>
              <a:ext uri="{FF2B5EF4-FFF2-40B4-BE49-F238E27FC236}">
                <a16:creationId xmlns:a16="http://schemas.microsoft.com/office/drawing/2014/main" id="{0704A616-8DA5-FC33-7012-261FAB3E45FF}"/>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C0D996D-FD7F-4A3E-ACE5-36DA4657FD47}" type="slidenum">
              <a:t>40</a:t>
            </a:fld>
            <a:endParaRPr lang="es-ES" sz="1400" b="1" i="0" u="none" strike="noStrike" kern="1200" cap="none" spc="0" baseline="0">
              <a:solidFill>
                <a:srgbClr val="FFFFFF"/>
              </a:solidFill>
              <a:uFillTx/>
              <a:latin typeface="Noto Sans" pitchFamily="34"/>
              <a:ea typeface="DejaVu Sans" pitchFamily="2"/>
              <a:cs typeface="Noto Sans" pitchFamily="2"/>
            </a:endParaRPr>
          </a:p>
        </p:txBody>
      </p:sp>
      <p:sp>
        <p:nvSpPr>
          <p:cNvPr id="3" name="Marcador de imagen de diapositiva 1">
            <a:extLst>
              <a:ext uri="{FF2B5EF4-FFF2-40B4-BE49-F238E27FC236}">
                <a16:creationId xmlns:a16="http://schemas.microsoft.com/office/drawing/2014/main" id="{6A468A68-199F-6CBF-F11F-17AAE9B63F18}"/>
              </a:ext>
            </a:extLst>
          </p:cNvPr>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Marcador de notas 2">
            <a:extLst>
              <a:ext uri="{FF2B5EF4-FFF2-40B4-BE49-F238E27FC236}">
                <a16:creationId xmlns:a16="http://schemas.microsoft.com/office/drawing/2014/main" id="{3D8BAE16-E5AB-098C-6C0E-10952B89098B}"/>
              </a:ext>
            </a:extLst>
          </p:cNvPr>
          <p:cNvSpPr txBox="1">
            <a:spLocks noGrp="1"/>
          </p:cNvSpPr>
          <p:nvPr>
            <p:ph type="body" sz="quarter" idx="1"/>
          </p:nvPr>
        </p:nvSpPr>
        <p:spPr>
          <a:xfrm>
            <a:off x="755998" y="5078522"/>
            <a:ext cx="6047997" cy="4811042"/>
          </a:xfrm>
        </p:spPr>
        <p:txBody>
          <a:bodyPr>
            <a:spAutoFit/>
          </a:bodyPr>
          <a:lstStyle/>
          <a:p>
            <a:endParaRPr lang="es-ES" dirty="0"/>
          </a:p>
        </p:txBody>
      </p:sp>
    </p:spTree>
    <p:extLst>
      <p:ext uri="{BB962C8B-B14F-4D97-AF65-F5344CB8AC3E}">
        <p14:creationId xmlns:p14="http://schemas.microsoft.com/office/powerpoint/2010/main" val="299562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23EEFB-D846-52C1-454B-8D0648707000}"/>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C347DB59-38FC-9DBF-8074-664567373EB7}"/>
              </a:ext>
            </a:extLst>
          </p:cNvPr>
          <p:cNvSpPr txBox="1">
            <a:spLocks noGrp="1"/>
          </p:cNvSpPr>
          <p:nvPr>
            <p:ph type="subTitle" idx="1"/>
          </p:nvPr>
        </p:nvSpPr>
        <p:spPr>
          <a:xfrm>
            <a:off x="1260472" y="2978145"/>
            <a:ext cx="7559673" cy="1370008"/>
          </a:xfrm>
        </p:spPr>
        <p:txBody>
          <a:bodyPr anchorCtr="1"/>
          <a:lstStyle>
            <a:lvl1pPr algn="ctr">
              <a:defRPr/>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A5E80BA3-50B7-E799-08B0-96D73BDA5EDB}"/>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7EE570F9-FD3F-9602-4FEB-9EB862618CFF}"/>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259236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945DEC-99FA-AB06-617F-F1319851E66B}"/>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9D397AE1-2939-C691-F007-1F5CDA3AC942}"/>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BF3BB25-DC7F-5513-AD67-674E1EDCAEF7}"/>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0A6C28E-A1E5-4BE1-B29A-0C9B0407D3A0}"/>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441913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80E7B-B1BB-EF82-E9EB-B5653C90132D}"/>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4A829174-A2E2-9731-0088-259309D68BB7}"/>
              </a:ext>
            </a:extLst>
          </p:cNvPr>
          <p:cNvSpPr txBox="1">
            <a:spLocks noGrp="1"/>
          </p:cNvSpPr>
          <p:nvPr>
            <p:ph type="body" idx="1"/>
          </p:nvPr>
        </p:nvSpPr>
        <p:spPr>
          <a:xfrm>
            <a:off x="687391" y="3794129"/>
            <a:ext cx="8694736" cy="1241426"/>
          </a:xfrm>
        </p:spPr>
        <p:txBody>
          <a:bodyPr/>
          <a:lstStyle>
            <a:lvl1pPr>
              <a:defRPr>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E2A456D-594C-0F8E-0696-67924F1CE08D}"/>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D8042F6D-74CD-E415-51A2-A27B40E098B5}"/>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47723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101308-28EE-5C46-72B1-A351D51BD524}"/>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F3F132AB-749C-657C-1E9C-C791D3A16927}"/>
              </a:ext>
            </a:extLst>
          </p:cNvPr>
          <p:cNvSpPr txBox="1">
            <a:spLocks noGrp="1"/>
          </p:cNvSpPr>
          <p:nvPr>
            <p:ph idx="1"/>
          </p:nvPr>
        </p:nvSpPr>
        <p:spPr>
          <a:xfrm>
            <a:off x="360365" y="1484308"/>
            <a:ext cx="4603747" cy="3781428"/>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FCDD8C83-3FF6-0FF9-67EB-A68393D161E9}"/>
              </a:ext>
            </a:extLst>
          </p:cNvPr>
          <p:cNvSpPr txBox="1">
            <a:spLocks noGrp="1"/>
          </p:cNvSpPr>
          <p:nvPr>
            <p:ph idx="2"/>
          </p:nvPr>
        </p:nvSpPr>
        <p:spPr>
          <a:xfrm>
            <a:off x="5116516" y="1484308"/>
            <a:ext cx="4603747" cy="3781428"/>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943B7AC-A9E9-D70B-00F4-C2B7900B3A3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566CCB74-AA47-452A-D571-774E54D377E3}"/>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1044516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957400-DC1A-F78B-B363-4359453CFF5E}"/>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0C903322-D6C3-C9C5-0163-4B6A965473D5}"/>
              </a:ext>
            </a:extLst>
          </p:cNvPr>
          <p:cNvSpPr txBox="1">
            <a:spLocks noGrp="1"/>
          </p:cNvSpPr>
          <p:nvPr>
            <p:ph type="body" idx="1"/>
          </p:nvPr>
        </p:nvSpPr>
        <p:spPr>
          <a:xfrm>
            <a:off x="693736" y="1390646"/>
            <a:ext cx="4265611" cy="681035"/>
          </a:xfrm>
        </p:spPr>
        <p:txBody>
          <a:bodyPr anchor="b"/>
          <a:lstStyle>
            <a:lvl1pPr>
              <a:defRPr/>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D5ABFFE-8A08-8CAA-9019-CE8F73A678EF}"/>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83E08A6-7D84-EBEB-5213-3C80464BC380}"/>
              </a:ext>
            </a:extLst>
          </p:cNvPr>
          <p:cNvSpPr txBox="1">
            <a:spLocks noGrp="1"/>
          </p:cNvSpPr>
          <p:nvPr>
            <p:ph type="body" idx="3"/>
          </p:nvPr>
        </p:nvSpPr>
        <p:spPr>
          <a:xfrm>
            <a:off x="5103815" y="1390646"/>
            <a:ext cx="4284658" cy="681035"/>
          </a:xfrm>
        </p:spPr>
        <p:txBody>
          <a:bodyPr anchor="b"/>
          <a:lstStyle>
            <a:lvl1pPr>
              <a:defRPr/>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C6CC157-4B42-8573-0E08-BB90355A9C9B}"/>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49688FE-B154-CDF4-0878-E4B4D9DD315A}"/>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5228FBB6-CB26-0297-8C09-27D70B2055F2}"/>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2495634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8338D-8252-EA44-6466-2B3E42651AD7}"/>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BF3AE1BD-2385-2FE8-4499-13202713AD53}"/>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9476860B-45D9-89C9-8795-378F89A9A773}"/>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925958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54FD526-BC7D-A147-24F4-528F56449E59}"/>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FFBE33F3-86C8-1E9B-ACCD-011709E3782A}"/>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4350207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2B29CF-2542-5F6C-76E7-00918C791EED}"/>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25B70E1C-7E9C-C2B1-63D6-7384B5B1E0ED}"/>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4FA8FAB-F1F3-CE4F-B16D-650743411D20}"/>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8AFE855-7A6B-7DC5-1563-8DE07F9F90A3}"/>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DC459B6F-BD1E-235E-9A52-CBD13CA6D37F}"/>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608379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63AE6-0752-7B74-A889-F913E3677AC8}"/>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BD967C6D-1FB0-2CC0-ABCF-158D3DCA707A}"/>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71530463-7B88-BAF9-A5D0-09402EAE533A}"/>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5401149-7F0A-394D-5D64-3E38AA1C9B65}"/>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79C3F8A2-86E9-58B7-0C4F-908D95BC0ACB}"/>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55685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395CBE-33EF-8D26-9FF8-CDC4A8E9BE3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9F45ADAA-DBE8-6C55-719A-D180AEBA765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F2CEBFE-F12E-A405-2190-C838D45578A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7CE706C7-577E-DF14-CE5A-8DA6AC99D131}"/>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95644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CA2EEDD-4399-209C-D6AC-E1CAEC13D010}"/>
              </a:ext>
            </a:extLst>
          </p:cNvPr>
          <p:cNvSpPr txBox="1">
            <a:spLocks noGrp="1"/>
          </p:cNvSpPr>
          <p:nvPr>
            <p:ph type="title" orient="vert"/>
          </p:nvPr>
        </p:nvSpPr>
        <p:spPr>
          <a:xfrm>
            <a:off x="7380286" y="225427"/>
            <a:ext cx="2339977" cy="5040309"/>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650D5937-786D-F7FE-557B-A478FAF3C683}"/>
              </a:ext>
            </a:extLst>
          </p:cNvPr>
          <p:cNvSpPr txBox="1">
            <a:spLocks noGrp="1"/>
          </p:cNvSpPr>
          <p:nvPr>
            <p:ph type="body" orient="vert" idx="1"/>
          </p:nvPr>
        </p:nvSpPr>
        <p:spPr>
          <a:xfrm>
            <a:off x="360365" y="225427"/>
            <a:ext cx="6867528" cy="5040309"/>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C53B096-6856-3D6B-E4B2-D6DD92A60DC9}"/>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0F316A37-0F80-13A5-752B-32A0CF780BA8}"/>
              </a:ext>
            </a:extLst>
          </p:cNvPr>
          <p:cNvSpPr txBox="1">
            <a:spLocks noGrp="1"/>
          </p:cNvSpPr>
          <p:nvPr>
            <p:ph type="ftr" sz="quarter" idx="9"/>
          </p:nvPr>
        </p:nvSpPr>
        <p:spPr/>
        <p:txBody>
          <a:bodyPr/>
          <a:lstStyle>
            <a:lvl1pPr>
              <a:defRPr/>
            </a:lvl1pPr>
          </a:lstStyle>
          <a:p>
            <a:pPr lvl="0"/>
            <a:endParaRPr lang="es-ES"/>
          </a:p>
        </p:txBody>
      </p:sp>
    </p:spTree>
    <p:extLst>
      <p:ext uri="{BB962C8B-B14F-4D97-AF65-F5344CB8AC3E}">
        <p14:creationId xmlns:p14="http://schemas.microsoft.com/office/powerpoint/2010/main" val="3341646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7F2C63-5946-0FB9-2EC8-778ED30E4C3B}"/>
              </a:ext>
            </a:extLst>
          </p:cNvPr>
          <p:cNvSpPr txBox="1">
            <a:spLocks noGrp="1"/>
          </p:cNvSpPr>
          <p:nvPr>
            <p:ph type="ctrTitle"/>
          </p:nvPr>
        </p:nvSpPr>
        <p:spPr>
          <a:xfrm>
            <a:off x="1260472" y="928692"/>
            <a:ext cx="7559673" cy="1973266"/>
          </a:xfrm>
        </p:spPr>
        <p:txBody>
          <a:bodyPr anchor="b"/>
          <a:lstStyle>
            <a:lvl1pP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3766DAAF-C03F-6489-5806-ADF92F5C1E79}"/>
              </a:ext>
            </a:extLst>
          </p:cNvPr>
          <p:cNvSpPr txBox="1">
            <a:spLocks noGrp="1"/>
          </p:cNvSpPr>
          <p:nvPr>
            <p:ph type="subTitle" idx="1"/>
          </p:nvPr>
        </p:nvSpPr>
        <p:spPr>
          <a:xfrm>
            <a:off x="1260472" y="2978145"/>
            <a:ext cx="7559673" cy="1370008"/>
          </a:xfrm>
        </p:spPr>
        <p:txBody>
          <a:bodyPr anchorCtr="1"/>
          <a:lstStyle>
            <a:lvl1pPr algn="ctr">
              <a:defRPr sz="2400"/>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B4933918-775A-E88C-A981-0F0F8ACCDC20}"/>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3FCC09D3-BB4F-004B-D15B-6888FC908B64}"/>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81DF75FE-9CC3-39E6-F82D-BA9EB11DD1FD}"/>
              </a:ext>
            </a:extLst>
          </p:cNvPr>
          <p:cNvSpPr txBox="1">
            <a:spLocks noGrp="1"/>
          </p:cNvSpPr>
          <p:nvPr>
            <p:ph type="sldNum" sz="quarter" idx="8"/>
          </p:nvPr>
        </p:nvSpPr>
        <p:spPr/>
        <p:txBody>
          <a:bodyPr/>
          <a:lstStyle>
            <a:lvl1pPr>
              <a:defRPr/>
            </a:lvl1pPr>
          </a:lstStyle>
          <a:p>
            <a:pPr lvl="0"/>
            <a:fld id="{E9C1042A-9D14-4EBD-AF79-B622C2241E68}" type="slidenum">
              <a:t>‹Nº›</a:t>
            </a:fld>
            <a:endParaRPr lang="es-ES"/>
          </a:p>
        </p:txBody>
      </p:sp>
    </p:spTree>
    <p:extLst>
      <p:ext uri="{BB962C8B-B14F-4D97-AF65-F5344CB8AC3E}">
        <p14:creationId xmlns:p14="http://schemas.microsoft.com/office/powerpoint/2010/main" val="3274200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935B56-221E-308A-D044-C7A1BCB6E5F4}"/>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80059E78-551A-9058-8F00-C4227C2FA6B2}"/>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5BD8B18-09B7-562C-BB3A-3308448B07DD}"/>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CF154E41-0403-EE4D-2DDE-2AC27D7DFC08}"/>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30796C1E-941A-AC9C-6A59-F0AB7DE6325C}"/>
              </a:ext>
            </a:extLst>
          </p:cNvPr>
          <p:cNvSpPr txBox="1">
            <a:spLocks noGrp="1"/>
          </p:cNvSpPr>
          <p:nvPr>
            <p:ph type="sldNum" sz="quarter" idx="8"/>
          </p:nvPr>
        </p:nvSpPr>
        <p:spPr/>
        <p:txBody>
          <a:bodyPr/>
          <a:lstStyle>
            <a:lvl1pPr>
              <a:defRPr/>
            </a:lvl1pPr>
          </a:lstStyle>
          <a:p>
            <a:pPr lvl="0"/>
            <a:fld id="{423EB97B-34DA-4682-8A38-AF3B8AE9688F}" type="slidenum">
              <a:t>‹Nº›</a:t>
            </a:fld>
            <a:endParaRPr lang="es-ES"/>
          </a:p>
        </p:txBody>
      </p:sp>
    </p:spTree>
    <p:extLst>
      <p:ext uri="{BB962C8B-B14F-4D97-AF65-F5344CB8AC3E}">
        <p14:creationId xmlns:p14="http://schemas.microsoft.com/office/powerpoint/2010/main" val="436742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9BA023-97AE-3960-4B6C-35C04C97E90D}"/>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1A93DE5D-CDF0-8E05-38E3-07B71CE4A2C5}"/>
              </a:ext>
            </a:extLst>
          </p:cNvPr>
          <p:cNvSpPr txBox="1">
            <a:spLocks noGrp="1"/>
          </p:cNvSpPr>
          <p:nvPr>
            <p:ph type="body" idx="1"/>
          </p:nvPr>
        </p:nvSpPr>
        <p:spPr>
          <a:xfrm>
            <a:off x="687391" y="3794129"/>
            <a:ext cx="8694736" cy="1241426"/>
          </a:xfrm>
        </p:spPr>
        <p:txBody>
          <a:bodyPr/>
          <a:lstStyle>
            <a:lvl1pPr>
              <a:defRPr sz="2400">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1CC92BA-747F-18F7-63BB-23B55D9B186B}"/>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8B4CE622-A848-A5F8-A59F-CA201930C2A7}"/>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5DCD72D3-B60B-81F5-BBDD-24F27E51FF78}"/>
              </a:ext>
            </a:extLst>
          </p:cNvPr>
          <p:cNvSpPr txBox="1">
            <a:spLocks noGrp="1"/>
          </p:cNvSpPr>
          <p:nvPr>
            <p:ph type="sldNum" sz="quarter" idx="8"/>
          </p:nvPr>
        </p:nvSpPr>
        <p:spPr/>
        <p:txBody>
          <a:bodyPr/>
          <a:lstStyle>
            <a:lvl1pPr>
              <a:defRPr/>
            </a:lvl1pPr>
          </a:lstStyle>
          <a:p>
            <a:pPr lvl="0"/>
            <a:fld id="{D77F13D9-3751-41A4-A69D-D41355859AE2}" type="slidenum">
              <a:t>‹Nº›</a:t>
            </a:fld>
            <a:endParaRPr lang="es-ES"/>
          </a:p>
        </p:txBody>
      </p:sp>
    </p:spTree>
    <p:extLst>
      <p:ext uri="{BB962C8B-B14F-4D97-AF65-F5344CB8AC3E}">
        <p14:creationId xmlns:p14="http://schemas.microsoft.com/office/powerpoint/2010/main" val="3632097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1F6F1-337C-CFB7-02BE-9A8741FF08C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B318311E-509B-2A2F-8261-D025CED4D55F}"/>
              </a:ext>
            </a:extLst>
          </p:cNvPr>
          <p:cNvSpPr txBox="1">
            <a:spLocks noGrp="1"/>
          </p:cNvSpPr>
          <p:nvPr>
            <p:ph idx="1"/>
          </p:nvPr>
        </p:nvSpPr>
        <p:spPr>
          <a:xfrm>
            <a:off x="360365" y="3914775"/>
            <a:ext cx="4603747" cy="1485900"/>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7010DA6-476F-A3BE-9101-D9F94E9CA1B9}"/>
              </a:ext>
            </a:extLst>
          </p:cNvPr>
          <p:cNvSpPr txBox="1">
            <a:spLocks noGrp="1"/>
          </p:cNvSpPr>
          <p:nvPr>
            <p:ph idx="2"/>
          </p:nvPr>
        </p:nvSpPr>
        <p:spPr>
          <a:xfrm>
            <a:off x="5116516" y="3914775"/>
            <a:ext cx="4603747" cy="1485900"/>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FA87C1B-51B7-AF85-A028-5395B23D9191}"/>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9718ADFB-85D8-34B9-C6D7-6D303518B40C}"/>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2B73E14-4D0A-A806-51CC-FB2BF886F840}"/>
              </a:ext>
            </a:extLst>
          </p:cNvPr>
          <p:cNvSpPr txBox="1">
            <a:spLocks noGrp="1"/>
          </p:cNvSpPr>
          <p:nvPr>
            <p:ph type="sldNum" sz="quarter" idx="8"/>
          </p:nvPr>
        </p:nvSpPr>
        <p:spPr/>
        <p:txBody>
          <a:bodyPr/>
          <a:lstStyle>
            <a:lvl1pPr>
              <a:defRPr/>
            </a:lvl1pPr>
          </a:lstStyle>
          <a:p>
            <a:pPr lvl="0"/>
            <a:fld id="{4E174AA7-6C02-4663-BCA3-57EC12D66DAE}" type="slidenum">
              <a:t>‹Nº›</a:t>
            </a:fld>
            <a:endParaRPr lang="es-ES"/>
          </a:p>
        </p:txBody>
      </p:sp>
    </p:spTree>
    <p:extLst>
      <p:ext uri="{BB962C8B-B14F-4D97-AF65-F5344CB8AC3E}">
        <p14:creationId xmlns:p14="http://schemas.microsoft.com/office/powerpoint/2010/main" val="553756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767D5-109C-7772-72E1-5A26329E82E1}"/>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4AD61446-13D4-8C2F-7C21-E39950C47522}"/>
              </a:ext>
            </a:extLst>
          </p:cNvPr>
          <p:cNvSpPr txBox="1">
            <a:spLocks noGrp="1"/>
          </p:cNvSpPr>
          <p:nvPr>
            <p:ph type="body" idx="1"/>
          </p:nvPr>
        </p:nvSpPr>
        <p:spPr>
          <a:xfrm>
            <a:off x="693736" y="1390646"/>
            <a:ext cx="4265611" cy="681035"/>
          </a:xfrm>
        </p:spPr>
        <p:txBody>
          <a:bodyPr anchor="b"/>
          <a:lstStyle>
            <a:lvl1pPr>
              <a:defRPr sz="2400" b="1"/>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53436D7-A4DF-CEEC-5515-05EBDD59F211}"/>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94E22DA-993C-DB0E-23AE-B6BB7EBCA4FC}"/>
              </a:ext>
            </a:extLst>
          </p:cNvPr>
          <p:cNvSpPr txBox="1">
            <a:spLocks noGrp="1"/>
          </p:cNvSpPr>
          <p:nvPr>
            <p:ph type="body" idx="3"/>
          </p:nvPr>
        </p:nvSpPr>
        <p:spPr>
          <a:xfrm>
            <a:off x="5103815" y="1390646"/>
            <a:ext cx="4284658" cy="681035"/>
          </a:xfrm>
        </p:spPr>
        <p:txBody>
          <a:bodyPr anchor="b"/>
          <a:lstStyle>
            <a:lvl1pPr>
              <a:defRPr sz="2400" b="1"/>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CD14849-FF58-F5C9-70AF-512D246FEF5B}"/>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C7EBFC5C-C130-35F8-0027-89C9D206CBF7}"/>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82AEF2DD-0398-B6CA-1909-F935E8622F96}"/>
              </a:ext>
            </a:extLst>
          </p:cNvPr>
          <p:cNvSpPr txBox="1">
            <a:spLocks noGrp="1"/>
          </p:cNvSpPr>
          <p:nvPr>
            <p:ph type="ftr" sz="quarter" idx="9"/>
          </p:nvPr>
        </p:nvSpPr>
        <p:spPr/>
        <p:txBody>
          <a:bodyPr/>
          <a:lstStyle>
            <a:lvl1pPr>
              <a:defRPr/>
            </a:lvl1pPr>
          </a:lstStyle>
          <a:p>
            <a:pPr lvl="0"/>
            <a:endParaRPr lang="es-ES"/>
          </a:p>
        </p:txBody>
      </p:sp>
      <p:sp>
        <p:nvSpPr>
          <p:cNvPr id="9" name="Marcador de número de diapositiva 8">
            <a:extLst>
              <a:ext uri="{FF2B5EF4-FFF2-40B4-BE49-F238E27FC236}">
                <a16:creationId xmlns:a16="http://schemas.microsoft.com/office/drawing/2014/main" id="{DFEB4112-6B48-E145-947A-3CD44E85943C}"/>
              </a:ext>
            </a:extLst>
          </p:cNvPr>
          <p:cNvSpPr txBox="1">
            <a:spLocks noGrp="1"/>
          </p:cNvSpPr>
          <p:nvPr>
            <p:ph type="sldNum" sz="quarter" idx="8"/>
          </p:nvPr>
        </p:nvSpPr>
        <p:spPr/>
        <p:txBody>
          <a:bodyPr/>
          <a:lstStyle>
            <a:lvl1pPr>
              <a:defRPr/>
            </a:lvl1pPr>
          </a:lstStyle>
          <a:p>
            <a:pPr lvl="0"/>
            <a:fld id="{E41C6468-C2F8-4741-886C-FFA327EFFAC1}" type="slidenum">
              <a:t>‹Nº›</a:t>
            </a:fld>
            <a:endParaRPr lang="es-ES"/>
          </a:p>
        </p:txBody>
      </p:sp>
    </p:spTree>
    <p:extLst>
      <p:ext uri="{BB962C8B-B14F-4D97-AF65-F5344CB8AC3E}">
        <p14:creationId xmlns:p14="http://schemas.microsoft.com/office/powerpoint/2010/main" val="1065309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DB8C9-6740-11D8-B21C-693D66D6A5BC}"/>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D08D6EDD-5E1D-9EB2-F05F-2EBFDC6A78FE}"/>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0BD60AB6-5387-4FB6-8BA2-4D356B0B8965}"/>
              </a:ext>
            </a:extLst>
          </p:cNvPr>
          <p:cNvSpPr txBox="1">
            <a:spLocks noGrp="1"/>
          </p:cNvSpPr>
          <p:nvPr>
            <p:ph type="ftr" sz="quarter" idx="9"/>
          </p:nvPr>
        </p:nvSpPr>
        <p:spPr/>
        <p:txBody>
          <a:bodyPr/>
          <a:lstStyle>
            <a:lvl1pPr>
              <a:defRPr/>
            </a:lvl1pPr>
          </a:lstStyle>
          <a:p>
            <a:pPr lvl="0"/>
            <a:endParaRPr lang="es-ES"/>
          </a:p>
        </p:txBody>
      </p:sp>
      <p:sp>
        <p:nvSpPr>
          <p:cNvPr id="5" name="Marcador de número de diapositiva 4">
            <a:extLst>
              <a:ext uri="{FF2B5EF4-FFF2-40B4-BE49-F238E27FC236}">
                <a16:creationId xmlns:a16="http://schemas.microsoft.com/office/drawing/2014/main" id="{C7A77C2A-8E95-86C2-449B-A4496D8DD099}"/>
              </a:ext>
            </a:extLst>
          </p:cNvPr>
          <p:cNvSpPr txBox="1">
            <a:spLocks noGrp="1"/>
          </p:cNvSpPr>
          <p:nvPr>
            <p:ph type="sldNum" sz="quarter" idx="8"/>
          </p:nvPr>
        </p:nvSpPr>
        <p:spPr/>
        <p:txBody>
          <a:bodyPr/>
          <a:lstStyle>
            <a:lvl1pPr>
              <a:defRPr/>
            </a:lvl1pPr>
          </a:lstStyle>
          <a:p>
            <a:pPr lvl="0"/>
            <a:fld id="{4F834BE9-ADE1-4DBC-AB3E-AA1EB2860A61}" type="slidenum">
              <a:t>‹Nº›</a:t>
            </a:fld>
            <a:endParaRPr lang="es-ES"/>
          </a:p>
        </p:txBody>
      </p:sp>
    </p:spTree>
    <p:extLst>
      <p:ext uri="{BB962C8B-B14F-4D97-AF65-F5344CB8AC3E}">
        <p14:creationId xmlns:p14="http://schemas.microsoft.com/office/powerpoint/2010/main" val="2649708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30081E-5772-D5C9-08AE-4F0B1C06A406}"/>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EBF13DED-7DA7-422E-4533-E4CAA356089E}"/>
              </a:ext>
            </a:extLst>
          </p:cNvPr>
          <p:cNvSpPr txBox="1">
            <a:spLocks noGrp="1"/>
          </p:cNvSpPr>
          <p:nvPr>
            <p:ph type="ftr" sz="quarter" idx="9"/>
          </p:nvPr>
        </p:nvSpPr>
        <p:spPr/>
        <p:txBody>
          <a:bodyPr/>
          <a:lstStyle>
            <a:lvl1pPr>
              <a:defRPr/>
            </a:lvl1pPr>
          </a:lstStyle>
          <a:p>
            <a:pPr lvl="0"/>
            <a:endParaRPr lang="es-ES"/>
          </a:p>
        </p:txBody>
      </p:sp>
      <p:sp>
        <p:nvSpPr>
          <p:cNvPr id="4" name="Marcador de número de diapositiva 3">
            <a:extLst>
              <a:ext uri="{FF2B5EF4-FFF2-40B4-BE49-F238E27FC236}">
                <a16:creationId xmlns:a16="http://schemas.microsoft.com/office/drawing/2014/main" id="{D5FBDBD8-B22A-D862-2914-4269E7266A88}"/>
              </a:ext>
            </a:extLst>
          </p:cNvPr>
          <p:cNvSpPr txBox="1">
            <a:spLocks noGrp="1"/>
          </p:cNvSpPr>
          <p:nvPr>
            <p:ph type="sldNum" sz="quarter" idx="8"/>
          </p:nvPr>
        </p:nvSpPr>
        <p:spPr/>
        <p:txBody>
          <a:bodyPr/>
          <a:lstStyle>
            <a:lvl1pPr>
              <a:defRPr/>
            </a:lvl1pPr>
          </a:lstStyle>
          <a:p>
            <a:pPr lvl="0"/>
            <a:fld id="{38CC562E-4259-451F-8DC1-67048490F0B7}" type="slidenum">
              <a:t>‹Nº›</a:t>
            </a:fld>
            <a:endParaRPr lang="es-ES"/>
          </a:p>
        </p:txBody>
      </p:sp>
    </p:spTree>
    <p:extLst>
      <p:ext uri="{BB962C8B-B14F-4D97-AF65-F5344CB8AC3E}">
        <p14:creationId xmlns:p14="http://schemas.microsoft.com/office/powerpoint/2010/main" val="90080985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36E8C-9AC2-5475-F938-E73A1A205004}"/>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27C9F1CE-75DE-A375-4A56-873F2C8BCA20}"/>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4DA9412-19CA-B08A-ACE2-E91D76248C74}"/>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B2FDAED-1148-9E67-65E8-F55627F9B751}"/>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0138087D-F9EF-5AF4-31BA-0B80FEB5D6FD}"/>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306F01C-6BA0-7957-D4A7-968E39A31B20}"/>
              </a:ext>
            </a:extLst>
          </p:cNvPr>
          <p:cNvSpPr txBox="1">
            <a:spLocks noGrp="1"/>
          </p:cNvSpPr>
          <p:nvPr>
            <p:ph type="sldNum" sz="quarter" idx="8"/>
          </p:nvPr>
        </p:nvSpPr>
        <p:spPr/>
        <p:txBody>
          <a:bodyPr/>
          <a:lstStyle>
            <a:lvl1pPr>
              <a:defRPr/>
            </a:lvl1pPr>
          </a:lstStyle>
          <a:p>
            <a:pPr lvl="0"/>
            <a:fld id="{1410AB1E-58B0-4F9D-94F3-E7E83E664D76}" type="slidenum">
              <a:t>‹Nº›</a:t>
            </a:fld>
            <a:endParaRPr lang="es-ES"/>
          </a:p>
        </p:txBody>
      </p:sp>
    </p:spTree>
    <p:extLst>
      <p:ext uri="{BB962C8B-B14F-4D97-AF65-F5344CB8AC3E}">
        <p14:creationId xmlns:p14="http://schemas.microsoft.com/office/powerpoint/2010/main" val="17115211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D2ED09-9CF5-9A05-A306-F48A3DFBEF6D}"/>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66F4331A-2208-CAF3-25E5-FFEF2E949921}"/>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FAC2A124-7447-279C-D7AA-DB027BE22B71}"/>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809F887-7BF8-6AEA-5394-85623F60C17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CA141C3A-E912-74C1-686D-7646C88F42E6}"/>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F6123AAF-5AFD-0830-858D-2A1B9D3AFBF8}"/>
              </a:ext>
            </a:extLst>
          </p:cNvPr>
          <p:cNvSpPr txBox="1">
            <a:spLocks noGrp="1"/>
          </p:cNvSpPr>
          <p:nvPr>
            <p:ph type="sldNum" sz="quarter" idx="8"/>
          </p:nvPr>
        </p:nvSpPr>
        <p:spPr/>
        <p:txBody>
          <a:bodyPr/>
          <a:lstStyle>
            <a:lvl1pPr>
              <a:defRPr/>
            </a:lvl1pPr>
          </a:lstStyle>
          <a:p>
            <a:pPr lvl="0"/>
            <a:fld id="{73D933CA-D653-4094-9A86-14D9F814373B}" type="slidenum">
              <a:t>‹Nº›</a:t>
            </a:fld>
            <a:endParaRPr lang="es-ES"/>
          </a:p>
        </p:txBody>
      </p:sp>
    </p:spTree>
    <p:extLst>
      <p:ext uri="{BB962C8B-B14F-4D97-AF65-F5344CB8AC3E}">
        <p14:creationId xmlns:p14="http://schemas.microsoft.com/office/powerpoint/2010/main" val="163039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01F17-0245-43AE-7E90-B7583227198B}"/>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FE2F8DF9-E449-6BB8-68E2-42082141BFE8}"/>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81D0110-A61F-A47D-049B-CFE767AF0A75}"/>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5DDCA2DE-7E3D-7E48-3628-1301EE96C38F}"/>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3DA38E19-F09E-017C-E6E1-DA8293E7B268}"/>
              </a:ext>
            </a:extLst>
          </p:cNvPr>
          <p:cNvSpPr txBox="1">
            <a:spLocks noGrp="1"/>
          </p:cNvSpPr>
          <p:nvPr>
            <p:ph type="sldNum" sz="quarter" idx="8"/>
          </p:nvPr>
        </p:nvSpPr>
        <p:spPr/>
        <p:txBody>
          <a:bodyPr/>
          <a:lstStyle>
            <a:lvl1pPr>
              <a:defRPr/>
            </a:lvl1pPr>
          </a:lstStyle>
          <a:p>
            <a:pPr lvl="0"/>
            <a:fld id="{7D4CB41B-7C32-4693-81BF-5B1AD60B606D}" type="slidenum">
              <a:t>‹Nº›</a:t>
            </a:fld>
            <a:endParaRPr lang="es-ES"/>
          </a:p>
        </p:txBody>
      </p:sp>
    </p:spTree>
    <p:extLst>
      <p:ext uri="{BB962C8B-B14F-4D97-AF65-F5344CB8AC3E}">
        <p14:creationId xmlns:p14="http://schemas.microsoft.com/office/powerpoint/2010/main" val="3997661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509D577-37BF-1DF5-E1B4-B29AAEF9022C}"/>
              </a:ext>
            </a:extLst>
          </p:cNvPr>
          <p:cNvSpPr txBox="1">
            <a:spLocks noGrp="1"/>
          </p:cNvSpPr>
          <p:nvPr>
            <p:ph type="title" orient="vert"/>
          </p:nvPr>
        </p:nvSpPr>
        <p:spPr>
          <a:xfrm>
            <a:off x="7380286" y="2835270"/>
            <a:ext cx="2339977" cy="2565404"/>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CF9B8E9E-61BA-41D9-9A12-3CCC3F4E2064}"/>
              </a:ext>
            </a:extLst>
          </p:cNvPr>
          <p:cNvSpPr txBox="1">
            <a:spLocks noGrp="1"/>
          </p:cNvSpPr>
          <p:nvPr>
            <p:ph type="body" orient="vert" idx="1"/>
          </p:nvPr>
        </p:nvSpPr>
        <p:spPr>
          <a:xfrm>
            <a:off x="360365" y="2835270"/>
            <a:ext cx="6867528" cy="2565404"/>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20414CA-1924-939F-57A2-04DE58B7E51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5F3A443C-D968-A4A8-8CC7-960FCFF57943}"/>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2D4D3A0E-50DD-85B2-D01F-AD6FBB6E8331}"/>
              </a:ext>
            </a:extLst>
          </p:cNvPr>
          <p:cNvSpPr txBox="1">
            <a:spLocks noGrp="1"/>
          </p:cNvSpPr>
          <p:nvPr>
            <p:ph type="sldNum" sz="quarter" idx="8"/>
          </p:nvPr>
        </p:nvSpPr>
        <p:spPr/>
        <p:txBody>
          <a:bodyPr/>
          <a:lstStyle>
            <a:lvl1pPr>
              <a:defRPr/>
            </a:lvl1pPr>
          </a:lstStyle>
          <a:p>
            <a:pPr lvl="0"/>
            <a:fld id="{A570918B-91B3-446A-AE46-DCB31A84BA4F}" type="slidenum">
              <a:t>‹Nº›</a:t>
            </a:fld>
            <a:endParaRPr lang="es-ES"/>
          </a:p>
        </p:txBody>
      </p:sp>
    </p:spTree>
    <p:extLst>
      <p:ext uri="{BB962C8B-B14F-4D97-AF65-F5344CB8AC3E}">
        <p14:creationId xmlns:p14="http://schemas.microsoft.com/office/powerpoint/2010/main" val="2784780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C28D1-92DE-F2C4-2085-FBC8BD4C9F06}"/>
              </a:ext>
            </a:extLst>
          </p:cNvPr>
          <p:cNvSpPr txBox="1">
            <a:spLocks noGrp="1"/>
          </p:cNvSpPr>
          <p:nvPr>
            <p:ph type="ctrTitle"/>
          </p:nvPr>
        </p:nvSpPr>
        <p:spPr>
          <a:xfrm>
            <a:off x="1260472" y="928692"/>
            <a:ext cx="7559673" cy="1973266"/>
          </a:xfrm>
        </p:spPr>
        <p:txBody>
          <a:bodyPr anchor="b"/>
          <a:lstStyle>
            <a:lvl1pPr>
              <a:defRPr sz="6000"/>
            </a:lvl1pPr>
          </a:lstStyle>
          <a:p>
            <a:pPr lvl="0"/>
            <a:r>
              <a:rPr lang="es-ES"/>
              <a:t>Haga clic para modificar el estilo de título del patrón</a:t>
            </a:r>
          </a:p>
        </p:txBody>
      </p:sp>
      <p:sp>
        <p:nvSpPr>
          <p:cNvPr id="3" name="Subtítulo 2">
            <a:extLst>
              <a:ext uri="{FF2B5EF4-FFF2-40B4-BE49-F238E27FC236}">
                <a16:creationId xmlns:a16="http://schemas.microsoft.com/office/drawing/2014/main" id="{A462B4D6-A45D-969A-B42C-181B519B91DF}"/>
              </a:ext>
            </a:extLst>
          </p:cNvPr>
          <p:cNvSpPr txBox="1">
            <a:spLocks noGrp="1"/>
          </p:cNvSpPr>
          <p:nvPr>
            <p:ph type="subTitle" idx="1"/>
          </p:nvPr>
        </p:nvSpPr>
        <p:spPr>
          <a:xfrm>
            <a:off x="1260472" y="2978145"/>
            <a:ext cx="7559673" cy="1370008"/>
          </a:xfrm>
        </p:spPr>
        <p:txBody>
          <a:bodyPr anchorCtr="1"/>
          <a:lstStyle>
            <a:lvl1pPr algn="ctr">
              <a:defRPr sz="2400"/>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9D667BDD-05A6-224D-47DB-1CDB8B6504CF}"/>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EAFF5F29-8392-5264-6D0C-8947BC5450F9}"/>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7A363D4C-7586-E25B-AD85-73D630C12129}"/>
              </a:ext>
            </a:extLst>
          </p:cNvPr>
          <p:cNvSpPr txBox="1">
            <a:spLocks noGrp="1"/>
          </p:cNvSpPr>
          <p:nvPr>
            <p:ph type="sldNum" sz="quarter" idx="8"/>
          </p:nvPr>
        </p:nvSpPr>
        <p:spPr/>
        <p:txBody>
          <a:bodyPr/>
          <a:lstStyle>
            <a:lvl1pPr>
              <a:defRPr/>
            </a:lvl1pPr>
          </a:lstStyle>
          <a:p>
            <a:pPr lvl="0"/>
            <a:fld id="{B75545E8-DF4C-4143-ACE3-AABB863ACEB0}" type="slidenum">
              <a:t>‹Nº›</a:t>
            </a:fld>
            <a:endParaRPr lang="es-ES"/>
          </a:p>
        </p:txBody>
      </p:sp>
    </p:spTree>
    <p:extLst>
      <p:ext uri="{BB962C8B-B14F-4D97-AF65-F5344CB8AC3E}">
        <p14:creationId xmlns:p14="http://schemas.microsoft.com/office/powerpoint/2010/main" val="24664851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E5492-893C-34BA-41A9-1E9662788745}"/>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3F986455-EC40-8FF8-3CE3-44FC68C4A8A3}"/>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EA9AD4D-9DB0-A8B3-1CFC-34E98B9B2A4A}"/>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7A1DDB9-EFC7-4BF8-37C5-98E59837984E}"/>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296DD592-7115-9A36-6CA4-25D453C08765}"/>
              </a:ext>
            </a:extLst>
          </p:cNvPr>
          <p:cNvSpPr txBox="1">
            <a:spLocks noGrp="1"/>
          </p:cNvSpPr>
          <p:nvPr>
            <p:ph type="sldNum" sz="quarter" idx="8"/>
          </p:nvPr>
        </p:nvSpPr>
        <p:spPr/>
        <p:txBody>
          <a:bodyPr/>
          <a:lstStyle>
            <a:lvl1pPr>
              <a:defRPr/>
            </a:lvl1pPr>
          </a:lstStyle>
          <a:p>
            <a:pPr lvl="0"/>
            <a:fld id="{4721549A-6D14-4262-8DCD-3324D9715331}" type="slidenum">
              <a:t>‹Nº›</a:t>
            </a:fld>
            <a:endParaRPr lang="es-ES"/>
          </a:p>
        </p:txBody>
      </p:sp>
    </p:spTree>
    <p:extLst>
      <p:ext uri="{BB962C8B-B14F-4D97-AF65-F5344CB8AC3E}">
        <p14:creationId xmlns:p14="http://schemas.microsoft.com/office/powerpoint/2010/main" val="180175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4D7E55-4DAC-4BBE-5CD7-EC4809804C6A}"/>
              </a:ext>
            </a:extLst>
          </p:cNvPr>
          <p:cNvSpPr txBox="1">
            <a:spLocks noGrp="1"/>
          </p:cNvSpPr>
          <p:nvPr>
            <p:ph type="title"/>
          </p:nvPr>
        </p:nvSpPr>
        <p:spPr>
          <a:xfrm>
            <a:off x="687391" y="1414467"/>
            <a:ext cx="8694736" cy="2357432"/>
          </a:xfrm>
        </p:spPr>
        <p:txBody>
          <a:bodyPr anchor="b"/>
          <a:lstStyle>
            <a:lvl1pPr>
              <a:defRPr sz="6000"/>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B76F0558-9FDD-A272-9C4C-13FDA727AF46}"/>
              </a:ext>
            </a:extLst>
          </p:cNvPr>
          <p:cNvSpPr txBox="1">
            <a:spLocks noGrp="1"/>
          </p:cNvSpPr>
          <p:nvPr>
            <p:ph type="body" idx="1"/>
          </p:nvPr>
        </p:nvSpPr>
        <p:spPr>
          <a:xfrm>
            <a:off x="687391" y="3794129"/>
            <a:ext cx="8694736" cy="1241426"/>
          </a:xfrm>
        </p:spPr>
        <p:txBody>
          <a:bodyPr/>
          <a:lstStyle>
            <a:lvl1pPr>
              <a:defRPr sz="2400">
                <a:solidFill>
                  <a:srgbClr val="898989"/>
                </a:solidFill>
              </a:defRPr>
            </a:lvl1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2CEDD9F-6805-B46C-841B-43B3388A0F94}"/>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E8D0F504-34D6-0E7D-AE3E-B54F622A7A97}"/>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A4441BFB-5784-87EA-FAF9-DCF059D97FE6}"/>
              </a:ext>
            </a:extLst>
          </p:cNvPr>
          <p:cNvSpPr txBox="1">
            <a:spLocks noGrp="1"/>
          </p:cNvSpPr>
          <p:nvPr>
            <p:ph type="sldNum" sz="quarter" idx="8"/>
          </p:nvPr>
        </p:nvSpPr>
        <p:spPr/>
        <p:txBody>
          <a:bodyPr/>
          <a:lstStyle>
            <a:lvl1pPr>
              <a:defRPr/>
            </a:lvl1pPr>
          </a:lstStyle>
          <a:p>
            <a:pPr lvl="0"/>
            <a:fld id="{52E2169F-D324-49D9-AFD0-387B433A8BF2}" type="slidenum">
              <a:t>‹Nº›</a:t>
            </a:fld>
            <a:endParaRPr lang="es-ES"/>
          </a:p>
        </p:txBody>
      </p:sp>
    </p:spTree>
    <p:extLst>
      <p:ext uri="{BB962C8B-B14F-4D97-AF65-F5344CB8AC3E}">
        <p14:creationId xmlns:p14="http://schemas.microsoft.com/office/powerpoint/2010/main" val="1248387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FCC252-39FF-36FF-DECC-85AC9F9D0F88}"/>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740593A9-1AA8-7745-9226-C125F25FFD38}"/>
              </a:ext>
            </a:extLst>
          </p:cNvPr>
          <p:cNvSpPr txBox="1">
            <a:spLocks noGrp="1"/>
          </p:cNvSpPr>
          <p:nvPr>
            <p:ph idx="1"/>
          </p:nvPr>
        </p:nvSpPr>
        <p:spPr>
          <a:xfrm>
            <a:off x="3419471" y="3240084"/>
            <a:ext cx="3073398" cy="1619246"/>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0017B06-D2D0-2590-F706-0F59C76DB33C}"/>
              </a:ext>
            </a:extLst>
          </p:cNvPr>
          <p:cNvSpPr txBox="1">
            <a:spLocks noGrp="1"/>
          </p:cNvSpPr>
          <p:nvPr>
            <p:ph idx="2"/>
          </p:nvPr>
        </p:nvSpPr>
        <p:spPr>
          <a:xfrm>
            <a:off x="6645273" y="3240084"/>
            <a:ext cx="3074990" cy="1619246"/>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7EC3BD9-B92C-866B-7935-F5B656673999}"/>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ABD9E434-B6ED-F3CA-D383-03CD04750454}"/>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643C7383-9ED8-26A4-A267-3B630AF7EA23}"/>
              </a:ext>
            </a:extLst>
          </p:cNvPr>
          <p:cNvSpPr txBox="1">
            <a:spLocks noGrp="1"/>
          </p:cNvSpPr>
          <p:nvPr>
            <p:ph type="sldNum" sz="quarter" idx="8"/>
          </p:nvPr>
        </p:nvSpPr>
        <p:spPr/>
        <p:txBody>
          <a:bodyPr/>
          <a:lstStyle>
            <a:lvl1pPr>
              <a:defRPr/>
            </a:lvl1pPr>
          </a:lstStyle>
          <a:p>
            <a:pPr lvl="0"/>
            <a:fld id="{0B3A6C39-FE94-42CB-8A5B-DAB8635C9EB0}" type="slidenum">
              <a:t>‹Nº›</a:t>
            </a:fld>
            <a:endParaRPr lang="es-ES"/>
          </a:p>
        </p:txBody>
      </p:sp>
    </p:spTree>
    <p:extLst>
      <p:ext uri="{BB962C8B-B14F-4D97-AF65-F5344CB8AC3E}">
        <p14:creationId xmlns:p14="http://schemas.microsoft.com/office/powerpoint/2010/main" val="21235856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57BA3-12E1-53DE-3F05-5BC365AF5D30}"/>
              </a:ext>
            </a:extLst>
          </p:cNvPr>
          <p:cNvSpPr txBox="1">
            <a:spLocks noGrp="1"/>
          </p:cNvSpPr>
          <p:nvPr>
            <p:ph type="title"/>
          </p:nvPr>
        </p:nvSpPr>
        <p:spPr>
          <a:xfrm>
            <a:off x="693736" y="301623"/>
            <a:ext cx="8694736" cy="1096959"/>
          </a:xfrm>
        </p:spPr>
        <p:txBody>
          <a:bodyPr/>
          <a:lstStyle>
            <a:lvl1pPr>
              <a:defRPr/>
            </a:lvl1pPr>
          </a:lstStyle>
          <a:p>
            <a:pPr lvl="0"/>
            <a:r>
              <a:rPr lang="es-ES"/>
              <a:t>Haga clic para modificar el estilo de título del patrón</a:t>
            </a:r>
          </a:p>
        </p:txBody>
      </p:sp>
      <p:sp>
        <p:nvSpPr>
          <p:cNvPr id="3" name="Marcador de texto 2">
            <a:extLst>
              <a:ext uri="{FF2B5EF4-FFF2-40B4-BE49-F238E27FC236}">
                <a16:creationId xmlns:a16="http://schemas.microsoft.com/office/drawing/2014/main" id="{372AFE2B-A8DE-B08C-A7BB-D0E6743C1426}"/>
              </a:ext>
            </a:extLst>
          </p:cNvPr>
          <p:cNvSpPr txBox="1">
            <a:spLocks noGrp="1"/>
          </p:cNvSpPr>
          <p:nvPr>
            <p:ph type="body" idx="1"/>
          </p:nvPr>
        </p:nvSpPr>
        <p:spPr>
          <a:xfrm>
            <a:off x="693736" y="1390646"/>
            <a:ext cx="4265611" cy="681035"/>
          </a:xfrm>
        </p:spPr>
        <p:txBody>
          <a:bodyPr anchor="b"/>
          <a:lstStyle>
            <a:lvl1pPr>
              <a:defRPr sz="2400" b="1"/>
            </a:lvl1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01CB9C1-5DFE-5FD0-AA45-7B5D7EB10044}"/>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0D0DF41-805F-686D-D0FB-F8AB1BC3CDB4}"/>
              </a:ext>
            </a:extLst>
          </p:cNvPr>
          <p:cNvSpPr txBox="1">
            <a:spLocks noGrp="1"/>
          </p:cNvSpPr>
          <p:nvPr>
            <p:ph type="body" idx="3"/>
          </p:nvPr>
        </p:nvSpPr>
        <p:spPr>
          <a:xfrm>
            <a:off x="5103815" y="1390646"/>
            <a:ext cx="4284658" cy="681035"/>
          </a:xfrm>
        </p:spPr>
        <p:txBody>
          <a:bodyPr anchor="b"/>
          <a:lstStyle>
            <a:lvl1pPr>
              <a:defRPr sz="2400" b="1"/>
            </a:lvl1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E7E28B2-F787-A337-8928-E44D7DBC0665}"/>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1D36B26B-BD81-4E25-3308-DE585FD0FC02}"/>
              </a:ext>
            </a:extLst>
          </p:cNvPr>
          <p:cNvSpPr txBox="1">
            <a:spLocks noGrp="1"/>
          </p:cNvSpPr>
          <p:nvPr>
            <p:ph type="dt" sz="half" idx="7"/>
          </p:nvPr>
        </p:nvSpPr>
        <p:spPr/>
        <p:txBody>
          <a:bodyPr/>
          <a:lstStyle>
            <a:lvl1pPr>
              <a:defRPr/>
            </a:lvl1pPr>
          </a:lstStyle>
          <a:p>
            <a:pPr lvl="0"/>
            <a:endParaRPr lang="es-ES"/>
          </a:p>
        </p:txBody>
      </p:sp>
      <p:sp>
        <p:nvSpPr>
          <p:cNvPr id="8" name="Marcador de pie de página 7">
            <a:extLst>
              <a:ext uri="{FF2B5EF4-FFF2-40B4-BE49-F238E27FC236}">
                <a16:creationId xmlns:a16="http://schemas.microsoft.com/office/drawing/2014/main" id="{0558AD32-0C72-F81F-6CE4-8C59122E9F39}"/>
              </a:ext>
            </a:extLst>
          </p:cNvPr>
          <p:cNvSpPr txBox="1">
            <a:spLocks noGrp="1"/>
          </p:cNvSpPr>
          <p:nvPr>
            <p:ph type="ftr" sz="quarter" idx="9"/>
          </p:nvPr>
        </p:nvSpPr>
        <p:spPr/>
        <p:txBody>
          <a:bodyPr/>
          <a:lstStyle>
            <a:lvl1pPr>
              <a:defRPr/>
            </a:lvl1pPr>
          </a:lstStyle>
          <a:p>
            <a:pPr lvl="0"/>
            <a:endParaRPr lang="es-ES"/>
          </a:p>
        </p:txBody>
      </p:sp>
      <p:sp>
        <p:nvSpPr>
          <p:cNvPr id="9" name="Marcador de número de diapositiva 8">
            <a:extLst>
              <a:ext uri="{FF2B5EF4-FFF2-40B4-BE49-F238E27FC236}">
                <a16:creationId xmlns:a16="http://schemas.microsoft.com/office/drawing/2014/main" id="{56725C4E-770E-AE29-91DA-E3A51188A466}"/>
              </a:ext>
            </a:extLst>
          </p:cNvPr>
          <p:cNvSpPr txBox="1">
            <a:spLocks noGrp="1"/>
          </p:cNvSpPr>
          <p:nvPr>
            <p:ph type="sldNum" sz="quarter" idx="8"/>
          </p:nvPr>
        </p:nvSpPr>
        <p:spPr/>
        <p:txBody>
          <a:bodyPr/>
          <a:lstStyle>
            <a:lvl1pPr>
              <a:defRPr/>
            </a:lvl1pPr>
          </a:lstStyle>
          <a:p>
            <a:pPr lvl="0"/>
            <a:fld id="{E1D9CB2F-2BA3-486E-8461-741CC0FBE7E2}" type="slidenum">
              <a:t>‹Nº›</a:t>
            </a:fld>
            <a:endParaRPr lang="es-ES"/>
          </a:p>
        </p:txBody>
      </p:sp>
    </p:spTree>
    <p:extLst>
      <p:ext uri="{BB962C8B-B14F-4D97-AF65-F5344CB8AC3E}">
        <p14:creationId xmlns:p14="http://schemas.microsoft.com/office/powerpoint/2010/main" val="28798141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BB2E0B-8991-F766-47DF-676A6B60C48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fecha 2">
            <a:extLst>
              <a:ext uri="{FF2B5EF4-FFF2-40B4-BE49-F238E27FC236}">
                <a16:creationId xmlns:a16="http://schemas.microsoft.com/office/drawing/2014/main" id="{716FA1C9-CBED-4F39-3EFA-82693A5956F3}"/>
              </a:ext>
            </a:extLst>
          </p:cNvPr>
          <p:cNvSpPr txBox="1">
            <a:spLocks noGrp="1"/>
          </p:cNvSpPr>
          <p:nvPr>
            <p:ph type="dt" sz="half" idx="7"/>
          </p:nvPr>
        </p:nvSpPr>
        <p:spPr/>
        <p:txBody>
          <a:bodyPr/>
          <a:lstStyle>
            <a:lvl1pPr>
              <a:defRPr/>
            </a:lvl1pPr>
          </a:lstStyle>
          <a:p>
            <a:pPr lvl="0"/>
            <a:endParaRPr lang="es-ES"/>
          </a:p>
        </p:txBody>
      </p:sp>
      <p:sp>
        <p:nvSpPr>
          <p:cNvPr id="4" name="Marcador de pie de página 3">
            <a:extLst>
              <a:ext uri="{FF2B5EF4-FFF2-40B4-BE49-F238E27FC236}">
                <a16:creationId xmlns:a16="http://schemas.microsoft.com/office/drawing/2014/main" id="{FF9D8561-74B4-57A1-F1AA-010C0049B5C9}"/>
              </a:ext>
            </a:extLst>
          </p:cNvPr>
          <p:cNvSpPr txBox="1">
            <a:spLocks noGrp="1"/>
          </p:cNvSpPr>
          <p:nvPr>
            <p:ph type="ftr" sz="quarter" idx="9"/>
          </p:nvPr>
        </p:nvSpPr>
        <p:spPr/>
        <p:txBody>
          <a:bodyPr/>
          <a:lstStyle>
            <a:lvl1pPr>
              <a:defRPr/>
            </a:lvl1pPr>
          </a:lstStyle>
          <a:p>
            <a:pPr lvl="0"/>
            <a:endParaRPr lang="es-ES"/>
          </a:p>
        </p:txBody>
      </p:sp>
      <p:sp>
        <p:nvSpPr>
          <p:cNvPr id="5" name="Marcador de número de diapositiva 4">
            <a:extLst>
              <a:ext uri="{FF2B5EF4-FFF2-40B4-BE49-F238E27FC236}">
                <a16:creationId xmlns:a16="http://schemas.microsoft.com/office/drawing/2014/main" id="{FE201416-9427-472E-C93C-A37D818AB298}"/>
              </a:ext>
            </a:extLst>
          </p:cNvPr>
          <p:cNvSpPr txBox="1">
            <a:spLocks noGrp="1"/>
          </p:cNvSpPr>
          <p:nvPr>
            <p:ph type="sldNum" sz="quarter" idx="8"/>
          </p:nvPr>
        </p:nvSpPr>
        <p:spPr/>
        <p:txBody>
          <a:bodyPr/>
          <a:lstStyle>
            <a:lvl1pPr>
              <a:defRPr/>
            </a:lvl1pPr>
          </a:lstStyle>
          <a:p>
            <a:pPr lvl="0"/>
            <a:fld id="{B599052C-2F16-435F-A972-FDAA1FF19E2C}" type="slidenum">
              <a:t>‹Nº›</a:t>
            </a:fld>
            <a:endParaRPr lang="es-ES"/>
          </a:p>
        </p:txBody>
      </p:sp>
    </p:spTree>
    <p:extLst>
      <p:ext uri="{BB962C8B-B14F-4D97-AF65-F5344CB8AC3E}">
        <p14:creationId xmlns:p14="http://schemas.microsoft.com/office/powerpoint/2010/main" val="11808728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9470A78-5A72-7B72-2014-01C17526F7DF}"/>
              </a:ext>
            </a:extLst>
          </p:cNvPr>
          <p:cNvSpPr txBox="1">
            <a:spLocks noGrp="1"/>
          </p:cNvSpPr>
          <p:nvPr>
            <p:ph type="dt" sz="half" idx="7"/>
          </p:nvPr>
        </p:nvSpPr>
        <p:spPr/>
        <p:txBody>
          <a:bodyPr/>
          <a:lstStyle>
            <a:lvl1pPr>
              <a:defRPr/>
            </a:lvl1pPr>
          </a:lstStyle>
          <a:p>
            <a:pPr lvl="0"/>
            <a:endParaRPr lang="es-ES"/>
          </a:p>
        </p:txBody>
      </p:sp>
      <p:sp>
        <p:nvSpPr>
          <p:cNvPr id="3" name="Marcador de pie de página 2">
            <a:extLst>
              <a:ext uri="{FF2B5EF4-FFF2-40B4-BE49-F238E27FC236}">
                <a16:creationId xmlns:a16="http://schemas.microsoft.com/office/drawing/2014/main" id="{73086614-BC1E-2E45-D1FA-4FE26A9C82A4}"/>
              </a:ext>
            </a:extLst>
          </p:cNvPr>
          <p:cNvSpPr txBox="1">
            <a:spLocks noGrp="1"/>
          </p:cNvSpPr>
          <p:nvPr>
            <p:ph type="ftr" sz="quarter" idx="9"/>
          </p:nvPr>
        </p:nvSpPr>
        <p:spPr/>
        <p:txBody>
          <a:bodyPr/>
          <a:lstStyle>
            <a:lvl1pPr>
              <a:defRPr/>
            </a:lvl1pPr>
          </a:lstStyle>
          <a:p>
            <a:pPr lvl="0"/>
            <a:endParaRPr lang="es-ES"/>
          </a:p>
        </p:txBody>
      </p:sp>
      <p:sp>
        <p:nvSpPr>
          <p:cNvPr id="4" name="Marcador de número de diapositiva 3">
            <a:extLst>
              <a:ext uri="{FF2B5EF4-FFF2-40B4-BE49-F238E27FC236}">
                <a16:creationId xmlns:a16="http://schemas.microsoft.com/office/drawing/2014/main" id="{E2764A49-4836-B77B-3155-CB35C28129EE}"/>
              </a:ext>
            </a:extLst>
          </p:cNvPr>
          <p:cNvSpPr txBox="1">
            <a:spLocks noGrp="1"/>
          </p:cNvSpPr>
          <p:nvPr>
            <p:ph type="sldNum" sz="quarter" idx="8"/>
          </p:nvPr>
        </p:nvSpPr>
        <p:spPr/>
        <p:txBody>
          <a:bodyPr/>
          <a:lstStyle>
            <a:lvl1pPr>
              <a:defRPr/>
            </a:lvl1pPr>
          </a:lstStyle>
          <a:p>
            <a:pPr lvl="0"/>
            <a:fld id="{2B820339-2F39-42B9-A0C5-990E131D007A}" type="slidenum">
              <a:t>‹Nº›</a:t>
            </a:fld>
            <a:endParaRPr lang="es-ES"/>
          </a:p>
        </p:txBody>
      </p:sp>
    </p:spTree>
    <p:extLst>
      <p:ext uri="{BB962C8B-B14F-4D97-AF65-F5344CB8AC3E}">
        <p14:creationId xmlns:p14="http://schemas.microsoft.com/office/powerpoint/2010/main" val="23111968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5E6992-2D05-DBBA-FAA1-B8DECFD5BD03}"/>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contenido 2">
            <a:extLst>
              <a:ext uri="{FF2B5EF4-FFF2-40B4-BE49-F238E27FC236}">
                <a16:creationId xmlns:a16="http://schemas.microsoft.com/office/drawing/2014/main" id="{AB171966-C0C0-02B1-D6F9-2C41445699B2}"/>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C031CC7-95D0-A653-69FD-942C0278CB9B}"/>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206033-83CC-D06B-997C-1F8D60D0D3C9}"/>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B6CFC3D9-F253-8B1D-489C-C8C4581C209E}"/>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A305AAF3-DD1E-A79F-8F4C-5D41F91A7E2E}"/>
              </a:ext>
            </a:extLst>
          </p:cNvPr>
          <p:cNvSpPr txBox="1">
            <a:spLocks noGrp="1"/>
          </p:cNvSpPr>
          <p:nvPr>
            <p:ph type="sldNum" sz="quarter" idx="8"/>
          </p:nvPr>
        </p:nvSpPr>
        <p:spPr/>
        <p:txBody>
          <a:bodyPr/>
          <a:lstStyle>
            <a:lvl1pPr>
              <a:defRPr/>
            </a:lvl1pPr>
          </a:lstStyle>
          <a:p>
            <a:pPr lvl="0"/>
            <a:fld id="{7BA127BE-62CD-43D3-BFB7-3A4724EF79EB}" type="slidenum">
              <a:t>‹Nº›</a:t>
            </a:fld>
            <a:endParaRPr lang="es-ES"/>
          </a:p>
        </p:txBody>
      </p:sp>
    </p:spTree>
    <p:extLst>
      <p:ext uri="{BB962C8B-B14F-4D97-AF65-F5344CB8AC3E}">
        <p14:creationId xmlns:p14="http://schemas.microsoft.com/office/powerpoint/2010/main" val="2895545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C7D86-449A-ED50-D820-7A0DC4DAAE0B}"/>
              </a:ext>
            </a:extLst>
          </p:cNvPr>
          <p:cNvSpPr txBox="1">
            <a:spLocks noGrp="1"/>
          </p:cNvSpPr>
          <p:nvPr>
            <p:ph type="title"/>
          </p:nvPr>
        </p:nvSpPr>
        <p:spPr>
          <a:xfrm>
            <a:off x="693736" y="377820"/>
            <a:ext cx="3251204" cy="1323978"/>
          </a:xfrm>
        </p:spPr>
        <p:txBody>
          <a:bodyPr anchor="b"/>
          <a:lstStyle>
            <a:lvl1pPr>
              <a:defRPr sz="3200"/>
            </a:lvl1pPr>
          </a:lstStyle>
          <a:p>
            <a:pPr lvl="0"/>
            <a:r>
              <a:rPr lang="es-ES"/>
              <a:t>Haga clic para modificar el estilo de título del patrón</a:t>
            </a:r>
          </a:p>
        </p:txBody>
      </p:sp>
      <p:sp>
        <p:nvSpPr>
          <p:cNvPr id="3" name="Marcador de posición de imagen 2">
            <a:extLst>
              <a:ext uri="{FF2B5EF4-FFF2-40B4-BE49-F238E27FC236}">
                <a16:creationId xmlns:a16="http://schemas.microsoft.com/office/drawing/2014/main" id="{DDEF5285-FCE3-F7C3-8626-829647561543}"/>
              </a:ext>
            </a:extLst>
          </p:cNvPr>
          <p:cNvSpPr txBox="1">
            <a:spLocks noGrp="1"/>
          </p:cNvSpPr>
          <p:nvPr>
            <p:ph type="pic" idx="1"/>
          </p:nvPr>
        </p:nvSpPr>
        <p:spPr>
          <a:xfrm>
            <a:off x="4286249" y="815973"/>
            <a:ext cx="5102223" cy="4030666"/>
          </a:xfrm>
        </p:spPr>
        <p:txBody>
          <a:bodyPr/>
          <a:lstStyle>
            <a:lvl1pPr>
              <a:defRPr sz="3200"/>
            </a:lvl1pPr>
          </a:lstStyle>
          <a:p>
            <a:pPr lvl="0"/>
            <a:endParaRPr lang="es-ES"/>
          </a:p>
        </p:txBody>
      </p:sp>
      <p:sp>
        <p:nvSpPr>
          <p:cNvPr id="4" name="Marcador de texto 3">
            <a:extLst>
              <a:ext uri="{FF2B5EF4-FFF2-40B4-BE49-F238E27FC236}">
                <a16:creationId xmlns:a16="http://schemas.microsoft.com/office/drawing/2014/main" id="{A0FF5E04-A92A-2C44-BAF7-021E51E0DEE2}"/>
              </a:ext>
            </a:extLst>
          </p:cNvPr>
          <p:cNvSpPr txBox="1">
            <a:spLocks noGrp="1"/>
          </p:cNvSpPr>
          <p:nvPr>
            <p:ph type="body" idx="2"/>
          </p:nvPr>
        </p:nvSpPr>
        <p:spPr>
          <a:xfrm>
            <a:off x="693736" y="1701798"/>
            <a:ext cx="3251204" cy="3151186"/>
          </a:xfrm>
        </p:spPr>
        <p:txBody>
          <a:bodyPr/>
          <a:lstStyle>
            <a:lvl1pPr>
              <a:defRPr sz="1600"/>
            </a:lvl1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A179E0C-7818-73ED-D858-0D37BC4A13F6}"/>
              </a:ext>
            </a:extLst>
          </p:cNvPr>
          <p:cNvSpPr txBox="1">
            <a:spLocks noGrp="1"/>
          </p:cNvSpPr>
          <p:nvPr>
            <p:ph type="dt" sz="half" idx="7"/>
          </p:nvPr>
        </p:nvSpPr>
        <p:spPr/>
        <p:txBody>
          <a:bodyPr/>
          <a:lstStyle>
            <a:lvl1pPr>
              <a:defRPr/>
            </a:lvl1pPr>
          </a:lstStyle>
          <a:p>
            <a:pPr lvl="0"/>
            <a:endParaRPr lang="es-ES"/>
          </a:p>
        </p:txBody>
      </p:sp>
      <p:sp>
        <p:nvSpPr>
          <p:cNvPr id="6" name="Marcador de pie de página 5">
            <a:extLst>
              <a:ext uri="{FF2B5EF4-FFF2-40B4-BE49-F238E27FC236}">
                <a16:creationId xmlns:a16="http://schemas.microsoft.com/office/drawing/2014/main" id="{D039B247-3762-22D0-DDD9-11C135B6FF45}"/>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CD0CAC25-5BDF-6CE4-1EDA-D83E6A6894DA}"/>
              </a:ext>
            </a:extLst>
          </p:cNvPr>
          <p:cNvSpPr txBox="1">
            <a:spLocks noGrp="1"/>
          </p:cNvSpPr>
          <p:nvPr>
            <p:ph type="sldNum" sz="quarter" idx="8"/>
          </p:nvPr>
        </p:nvSpPr>
        <p:spPr/>
        <p:txBody>
          <a:bodyPr/>
          <a:lstStyle>
            <a:lvl1pPr>
              <a:defRPr/>
            </a:lvl1pPr>
          </a:lstStyle>
          <a:p>
            <a:pPr lvl="0"/>
            <a:fld id="{96976020-3AF7-478B-96E9-D309031F3C04}" type="slidenum">
              <a:t>‹Nº›</a:t>
            </a:fld>
            <a:endParaRPr lang="es-ES"/>
          </a:p>
        </p:txBody>
      </p:sp>
    </p:spTree>
    <p:extLst>
      <p:ext uri="{BB962C8B-B14F-4D97-AF65-F5344CB8AC3E}">
        <p14:creationId xmlns:p14="http://schemas.microsoft.com/office/powerpoint/2010/main" val="3125784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16FB3-3A50-2DF1-AF78-827EFA383EEE}"/>
              </a:ext>
            </a:extLst>
          </p:cNvPr>
          <p:cNvSpPr txBox="1">
            <a:spLocks noGrp="1"/>
          </p:cNvSpPr>
          <p:nvPr>
            <p:ph type="title"/>
          </p:nvPr>
        </p:nvSpPr>
        <p:spPr/>
        <p:txBody>
          <a:bodyPr/>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C4DCA69F-C747-8D28-7A65-7235DD54F489}"/>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584371-9E5F-CB8A-A98B-DA04E04A5C73}"/>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DDDFC7BC-E574-2F8E-74A1-9569D083F431}"/>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073FB9DB-4D98-A379-BC4E-0B5221A42A40}"/>
              </a:ext>
            </a:extLst>
          </p:cNvPr>
          <p:cNvSpPr txBox="1">
            <a:spLocks noGrp="1"/>
          </p:cNvSpPr>
          <p:nvPr>
            <p:ph type="sldNum" sz="quarter" idx="8"/>
          </p:nvPr>
        </p:nvSpPr>
        <p:spPr/>
        <p:txBody>
          <a:bodyPr/>
          <a:lstStyle>
            <a:lvl1pPr>
              <a:defRPr/>
            </a:lvl1pPr>
          </a:lstStyle>
          <a:p>
            <a:pPr lvl="0"/>
            <a:fld id="{FD3AE53F-359B-4230-BC6F-17E8193B6EC1}" type="slidenum">
              <a:t>‹Nº›</a:t>
            </a:fld>
            <a:endParaRPr lang="es-ES"/>
          </a:p>
        </p:txBody>
      </p:sp>
    </p:spTree>
    <p:extLst>
      <p:ext uri="{BB962C8B-B14F-4D97-AF65-F5344CB8AC3E}">
        <p14:creationId xmlns:p14="http://schemas.microsoft.com/office/powerpoint/2010/main" val="3745781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EFA2CD2-07DD-4802-41DD-5C645B81CFA8}"/>
              </a:ext>
            </a:extLst>
          </p:cNvPr>
          <p:cNvSpPr txBox="1">
            <a:spLocks noGrp="1"/>
          </p:cNvSpPr>
          <p:nvPr>
            <p:ph type="title" orient="vert"/>
          </p:nvPr>
        </p:nvSpPr>
        <p:spPr>
          <a:xfrm>
            <a:off x="7966079" y="1484308"/>
            <a:ext cx="1754184" cy="3375022"/>
          </a:xfrm>
        </p:spPr>
        <p:txBody>
          <a:bodyPr vert="eaVert"/>
          <a:lstStyle>
            <a:lvl1pPr>
              <a:defRPr/>
            </a:lvl1pPr>
          </a:lstStyle>
          <a:p>
            <a:pPr lvl="0"/>
            <a:r>
              <a:rPr lang="es-ES"/>
              <a:t>Haga clic para modificar el estilo de título del patrón</a:t>
            </a:r>
          </a:p>
        </p:txBody>
      </p:sp>
      <p:sp>
        <p:nvSpPr>
          <p:cNvPr id="3" name="Marcador de texto vertical 2">
            <a:extLst>
              <a:ext uri="{FF2B5EF4-FFF2-40B4-BE49-F238E27FC236}">
                <a16:creationId xmlns:a16="http://schemas.microsoft.com/office/drawing/2014/main" id="{6206D830-9B01-7C31-5856-63B180B51967}"/>
              </a:ext>
            </a:extLst>
          </p:cNvPr>
          <p:cNvSpPr txBox="1">
            <a:spLocks noGrp="1"/>
          </p:cNvSpPr>
          <p:nvPr>
            <p:ph type="body" orient="vert" idx="1"/>
          </p:nvPr>
        </p:nvSpPr>
        <p:spPr>
          <a:xfrm>
            <a:off x="2700342" y="1484308"/>
            <a:ext cx="5113333" cy="3375022"/>
          </a:xfrm>
        </p:spPr>
        <p:txBody>
          <a:bodyPr vert="eaVert"/>
          <a:lstStyle>
            <a:lvl1pPr>
              <a:defRPr/>
            </a:lvl1pPr>
            <a:lvl2pPr>
              <a:defRPr/>
            </a:lvl2pPr>
            <a:lvl3pPr>
              <a:defRPr/>
            </a:lvl3pPr>
            <a:lvl4pPr>
              <a:defRPr/>
            </a:lvl4pPr>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529CCC7-8917-AC1D-E0F9-8E9C22DFDBA8}"/>
              </a:ext>
            </a:extLst>
          </p:cNvPr>
          <p:cNvSpPr txBox="1">
            <a:spLocks noGrp="1"/>
          </p:cNvSpPr>
          <p:nvPr>
            <p:ph type="dt" sz="half" idx="7"/>
          </p:nvPr>
        </p:nvSpPr>
        <p:spPr/>
        <p:txBody>
          <a:bodyPr/>
          <a:lstStyle>
            <a:lvl1pPr>
              <a:defRPr/>
            </a:lvl1pPr>
          </a:lstStyle>
          <a:p>
            <a:pPr lvl="0"/>
            <a:endParaRPr lang="es-ES"/>
          </a:p>
        </p:txBody>
      </p:sp>
      <p:sp>
        <p:nvSpPr>
          <p:cNvPr id="5" name="Marcador de pie de página 4">
            <a:extLst>
              <a:ext uri="{FF2B5EF4-FFF2-40B4-BE49-F238E27FC236}">
                <a16:creationId xmlns:a16="http://schemas.microsoft.com/office/drawing/2014/main" id="{1546EB30-17C6-9D75-6980-D8328089ABED}"/>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A6A86696-61CC-CF97-56A1-FC77AD7D80F8}"/>
              </a:ext>
            </a:extLst>
          </p:cNvPr>
          <p:cNvSpPr txBox="1">
            <a:spLocks noGrp="1"/>
          </p:cNvSpPr>
          <p:nvPr>
            <p:ph type="sldNum" sz="quarter" idx="8"/>
          </p:nvPr>
        </p:nvSpPr>
        <p:spPr/>
        <p:txBody>
          <a:bodyPr/>
          <a:lstStyle>
            <a:lvl1pPr>
              <a:defRPr/>
            </a:lvl1pPr>
          </a:lstStyle>
          <a:p>
            <a:pPr lvl="0"/>
            <a:fld id="{3BC947CC-A906-4633-94D4-548D278A4DC2}" type="slidenum">
              <a:t>‹Nº›</a:t>
            </a:fld>
            <a:endParaRPr lang="es-ES"/>
          </a:p>
        </p:txBody>
      </p:sp>
    </p:spTree>
    <p:extLst>
      <p:ext uri="{BB962C8B-B14F-4D97-AF65-F5344CB8AC3E}">
        <p14:creationId xmlns:p14="http://schemas.microsoft.com/office/powerpoint/2010/main" val="6671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F1CE5018-46D8-10BF-08E8-35C5ADBD2AAD}"/>
              </a:ext>
            </a:extLst>
          </p:cNvPr>
          <p:cNvSpPr>
            <a:spLocks noMove="1" noResize="1"/>
          </p:cNvSpPr>
          <p:nvPr/>
        </p:nvSpPr>
        <p:spPr>
          <a:xfrm>
            <a:off x="0" y="5399998"/>
            <a:ext cx="10079998" cy="270004"/>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DD617041-1A5F-8BC8-054B-015CE02ECF28}"/>
              </a:ext>
            </a:extLst>
          </p:cNvPr>
          <p:cNvSpPr/>
          <p:nvPr/>
        </p:nvSpPr>
        <p:spPr>
          <a:xfrm>
            <a:off x="0" y="0"/>
            <a:ext cx="10079998" cy="1214999"/>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D8CFF4DC-4B84-93B0-A779-1B78D1BB3ECC}"/>
              </a:ext>
            </a:extLst>
          </p:cNvPr>
          <p:cNvSpPr txBox="1">
            <a:spLocks noGrp="1"/>
          </p:cNvSpPr>
          <p:nvPr>
            <p:ph type="title"/>
          </p:nvPr>
        </p:nvSpPr>
        <p:spPr>
          <a:xfrm>
            <a:off x="359999" y="225719"/>
            <a:ext cx="9359999" cy="718919"/>
          </a:xfrm>
          <a:prstGeom prst="rect">
            <a:avLst/>
          </a:prstGeom>
          <a:noFill/>
          <a:ln>
            <a:noFill/>
          </a:ln>
        </p:spPr>
        <p:txBody>
          <a:bodyPr vert="horz" wrap="square" lIns="0" tIns="0" rIns="0" bIns="0" anchor="ctr" anchorCtr="0" compatLnSpc="1">
            <a:noAutofit/>
          </a:bodyPr>
          <a:lstStyle/>
          <a:p>
            <a:pPr lvl="0"/>
            <a:endParaRPr lang="es-ES"/>
          </a:p>
        </p:txBody>
      </p:sp>
      <p:sp>
        <p:nvSpPr>
          <p:cNvPr id="5" name="Marcador de texto 4">
            <a:extLst>
              <a:ext uri="{FF2B5EF4-FFF2-40B4-BE49-F238E27FC236}">
                <a16:creationId xmlns:a16="http://schemas.microsoft.com/office/drawing/2014/main" id="{89971444-E5DE-724D-15B0-B796E71F079A}"/>
              </a:ext>
            </a:extLst>
          </p:cNvPr>
          <p:cNvSpPr txBox="1">
            <a:spLocks noGrp="1"/>
          </p:cNvSpPr>
          <p:nvPr>
            <p:ph type="body" idx="1"/>
          </p:nvPr>
        </p:nvSpPr>
        <p:spPr>
          <a:xfrm>
            <a:off x="359999" y="1484994"/>
            <a:ext cx="9359999" cy="3780001"/>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34409E8B-0948-FA0C-226F-E04DA709F7E0}"/>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79E643AC-33A6-4A9C-2986-3A5346C82D48}"/>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Forma libre: forma 7">
            <a:extLst>
              <a:ext uri="{FF2B5EF4-FFF2-40B4-BE49-F238E27FC236}">
                <a16:creationId xmlns:a16="http://schemas.microsoft.com/office/drawing/2014/main" id="{8E2ABCC4-612A-49CE-CE14-8B5E99D3FA54}"/>
              </a:ext>
            </a:extLst>
          </p:cNvPr>
          <p:cNvSpPr/>
          <p:nvPr/>
        </p:nvSpPr>
        <p:spPr>
          <a:xfrm>
            <a:off x="9315001" y="5175001"/>
            <a:ext cx="450003" cy="450003"/>
          </a:xfrm>
          <a:custGeom>
            <a:avLst/>
            <a:gdLst>
              <a:gd name="f0" fmla="val 10800000"/>
              <a:gd name="f1" fmla="val 5400000"/>
              <a:gd name="f2" fmla="val 180"/>
              <a:gd name="f3" fmla="val w"/>
              <a:gd name="f4" fmla="val h"/>
              <a:gd name="f5" fmla="val 0"/>
              <a:gd name="f6" fmla="val 21600"/>
              <a:gd name="f7" fmla="*/ 5419351 1 1725033"/>
              <a:gd name="f8" fmla="*/ 10800 10800 1"/>
              <a:gd name="f9" fmla="+- 0 0 360"/>
              <a:gd name="f10" fmla="val 10800"/>
              <a:gd name="f11" fmla="+- 0 0 0"/>
              <a:gd name="f12" fmla="*/ f3 1 21600"/>
              <a:gd name="f13" fmla="*/ f4 1 21600"/>
              <a:gd name="f14" fmla="val f5"/>
              <a:gd name="f15" fmla="val f6"/>
              <a:gd name="f16" fmla="*/ 0 f7 1"/>
              <a:gd name="f17" fmla="*/ f5 f0 1"/>
              <a:gd name="f18" fmla="*/ f9 f0 1"/>
              <a:gd name="f19" fmla="*/ f11 f0 1"/>
              <a:gd name="f20" fmla="+- f15 0 f14"/>
              <a:gd name="f21" fmla="*/ f16 1 f2"/>
              <a:gd name="f22" fmla="*/ f17 1 f2"/>
              <a:gd name="f23" fmla="*/ f18 1 f2"/>
              <a:gd name="f24" fmla="*/ f19 1 f2"/>
              <a:gd name="f25" fmla="*/ f20 1 21600"/>
              <a:gd name="f26" fmla="+- 0 0 f21"/>
              <a:gd name="f27" fmla="+- f22 0 f1"/>
              <a:gd name="f28" fmla="+- f23 0 f1"/>
              <a:gd name="f29" fmla="+- f24 0 f1"/>
              <a:gd name="f30" fmla="*/ 3163 f25 1"/>
              <a:gd name="f31" fmla="*/ 18437 f25 1"/>
              <a:gd name="f32" fmla="*/ 10800 f25 1"/>
              <a:gd name="f33" fmla="*/ 0 f25 1"/>
              <a:gd name="f34" fmla="*/ 21600 f25 1"/>
              <a:gd name="f35" fmla="*/ f26 f0 1"/>
              <a:gd name="f36" fmla="+- f28 0 f27"/>
              <a:gd name="f37" fmla="*/ f35 1 f7"/>
              <a:gd name="f38" fmla="*/ f32 1 f25"/>
              <a:gd name="f39" fmla="*/ f33 1 f25"/>
              <a:gd name="f40" fmla="*/ f30 1 f25"/>
              <a:gd name="f41" fmla="*/ f31 1 f25"/>
              <a:gd name="f42" fmla="*/ f34 1 f25"/>
              <a:gd name="f43" fmla="+- f37 0 f1"/>
              <a:gd name="f44" fmla="*/ f40 f12 1"/>
              <a:gd name="f45" fmla="*/ f41 f12 1"/>
              <a:gd name="f46" fmla="*/ f41 f13 1"/>
              <a:gd name="f47" fmla="*/ f40 f13 1"/>
              <a:gd name="f48" fmla="*/ f38 f12 1"/>
              <a:gd name="f49" fmla="*/ f39 f13 1"/>
              <a:gd name="f50" fmla="*/ f39 f12 1"/>
              <a:gd name="f51" fmla="*/ f38 f13 1"/>
              <a:gd name="f52" fmla="*/ f42 f13 1"/>
              <a:gd name="f53" fmla="*/ f42 f12 1"/>
              <a:gd name="f54" fmla="+- f43 f1 0"/>
              <a:gd name="f55" fmla="*/ f54 f7 1"/>
              <a:gd name="f56" fmla="*/ f55 1 f0"/>
              <a:gd name="f57" fmla="+- 0 0 f56"/>
              <a:gd name="f58" fmla="+- 0 0 f57"/>
              <a:gd name="f59" fmla="*/ f58 f0 1"/>
              <a:gd name="f60" fmla="*/ f59 1 f7"/>
              <a:gd name="f61" fmla="+- f60 0 f1"/>
              <a:gd name="f62" fmla="cos 1 f61"/>
              <a:gd name="f63" fmla="sin 1 f61"/>
              <a:gd name="f64" fmla="+- 0 0 f62"/>
              <a:gd name="f65" fmla="+- 0 0 f63"/>
              <a:gd name="f66" fmla="+- 0 0 f64"/>
              <a:gd name="f67" fmla="+- 0 0 f65"/>
              <a:gd name="f68" fmla="val f66"/>
              <a:gd name="f69" fmla="val f67"/>
              <a:gd name="f70" fmla="+- 0 0 f68"/>
              <a:gd name="f71" fmla="+- 0 0 f69"/>
              <a:gd name="f72" fmla="*/ 10800 f70 1"/>
              <a:gd name="f73" fmla="*/ 10800 f71 1"/>
              <a:gd name="f74" fmla="*/ f72 f72 1"/>
              <a:gd name="f75" fmla="*/ f73 f73 1"/>
              <a:gd name="f76" fmla="+- f74 f75 0"/>
              <a:gd name="f77" fmla="sqrt f76"/>
              <a:gd name="f78" fmla="*/ f8 1 f77"/>
              <a:gd name="f79" fmla="*/ f70 f78 1"/>
              <a:gd name="f80" fmla="*/ f71 f78 1"/>
              <a:gd name="f81" fmla="+- 10800 0 f79"/>
              <a:gd name="f82" fmla="+- 10800 0 f80"/>
            </a:gdLst>
            <a:ahLst/>
            <a:cxnLst>
              <a:cxn ang="3cd4">
                <a:pos x="hc" y="t"/>
              </a:cxn>
              <a:cxn ang="0">
                <a:pos x="r" y="vc"/>
              </a:cxn>
              <a:cxn ang="cd4">
                <a:pos x="hc" y="b"/>
              </a:cxn>
              <a:cxn ang="cd2">
                <a:pos x="l" y="vc"/>
              </a:cxn>
              <a:cxn ang="f29">
                <a:pos x="f48" y="f49"/>
              </a:cxn>
              <a:cxn ang="f29">
                <a:pos x="f44" y="f47"/>
              </a:cxn>
              <a:cxn ang="f29">
                <a:pos x="f50" y="f51"/>
              </a:cxn>
              <a:cxn ang="f29">
                <a:pos x="f44" y="f46"/>
              </a:cxn>
              <a:cxn ang="f29">
                <a:pos x="f48" y="f52"/>
              </a:cxn>
              <a:cxn ang="f29">
                <a:pos x="f45" y="f46"/>
              </a:cxn>
              <a:cxn ang="f29">
                <a:pos x="f53" y="f51"/>
              </a:cxn>
              <a:cxn ang="f29">
                <a:pos x="f45" y="f47"/>
              </a:cxn>
            </a:cxnLst>
            <a:rect l="f44" t="f47" r="f45" b="f46"/>
            <a:pathLst>
              <a:path w="21600" h="21600">
                <a:moveTo>
                  <a:pt x="f81" y="f82"/>
                </a:moveTo>
                <a:arcTo wR="f10" hR="f10" stAng="f27" swAng="f36"/>
                <a:close/>
              </a:path>
            </a:pathLst>
          </a:custGeom>
          <a:solidFill>
            <a:srgbClr val="1ABC9C"/>
          </a:solidFill>
          <a:ln w="10799" cap="flat">
            <a:solidFill>
              <a:srgbClr val="1ABC9C"/>
            </a:solidFill>
            <a:prstDash val="solid"/>
            <a:miter/>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9" name="CuadroTexto 8">
            <a:extLst>
              <a:ext uri="{FF2B5EF4-FFF2-40B4-BE49-F238E27FC236}">
                <a16:creationId xmlns:a16="http://schemas.microsoft.com/office/drawing/2014/main" id="{B1DAD70A-159C-CDBF-B6D9-659B60AB7278}"/>
              </a:ext>
            </a:extLst>
          </p:cNvPr>
          <p:cNvSpPr txBox="1"/>
          <p:nvPr/>
        </p:nvSpPr>
        <p:spPr>
          <a:xfrm>
            <a:off x="9179999" y="5130003"/>
            <a:ext cx="719998" cy="539998"/>
          </a:xfrm>
          <a:prstGeom prst="rect">
            <a:avLst/>
          </a:prstGeom>
          <a:noFill/>
          <a:ln cap="flat">
            <a:noFill/>
          </a:ln>
        </p:spPr>
        <p:txBody>
          <a:bodyPr vert="horz" wrap="square" lIns="0" tIns="0" rIns="0" bIns="0" anchor="ctr" anchorCtr="1"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55C7738-6A16-479C-802C-ADBFA76A8E02}" type="slidenum">
              <a:t>‹Nº›</a:t>
            </a:fld>
            <a:endParaRPr lang="es-ES" sz="1800" b="1" i="0" u="none" strike="noStrike" kern="1200" cap="none" spc="0" baseline="0">
              <a:solidFill>
                <a:srgbClr val="FFFFFF"/>
              </a:solidFill>
              <a:uFillTx/>
              <a:latin typeface="Noto Sans" pitchFamily="34"/>
              <a:ea typeface="DejaVu Sans" pitchFamily="2"/>
              <a:cs typeface="Noto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100000"/>
        </a:lnSpc>
        <a:spcBef>
          <a:spcPts val="0"/>
        </a:spcBef>
        <a:spcAft>
          <a:spcPts val="0"/>
        </a:spcAft>
        <a:buNone/>
        <a:tabLst/>
        <a:defRPr lang="es-ES" sz="2700" b="1" i="0" u="none" strike="noStrike" kern="1200" cap="none" spc="0" baseline="0">
          <a:solidFill>
            <a:srgbClr val="FFFFFF"/>
          </a:solidFill>
          <a:uFillTx/>
          <a:latin typeface="Noto Sans" pitchFamily="34"/>
        </a:defRPr>
      </a:lvl1pPr>
    </p:titleStyle>
    <p:body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E394195D-6C91-E1E5-5D84-01DBEA827EFB}"/>
              </a:ext>
            </a:extLst>
          </p:cNvPr>
          <p:cNvSpPr/>
          <p:nvPr/>
        </p:nvSpPr>
        <p:spPr>
          <a:xfrm>
            <a:off x="0" y="0"/>
            <a:ext cx="10079998" cy="567000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72DC6603-3B65-506E-425A-A1EB6F6A8C16}"/>
              </a:ext>
            </a:extLst>
          </p:cNvPr>
          <p:cNvSpPr/>
          <p:nvPr/>
        </p:nvSpPr>
        <p:spPr>
          <a:xfrm>
            <a:off x="0" y="0"/>
            <a:ext cx="10079998" cy="3780001"/>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1ABC9C"/>
          </a:solidFill>
          <a:ln w="10799" cap="flat">
            <a:solidFill>
              <a:srgbClr val="1ABC9C"/>
            </a:solidFill>
            <a:prstDash val="solid"/>
            <a:miter/>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8C81C780-F3E5-A408-0E5F-793517772B63}"/>
              </a:ext>
            </a:extLst>
          </p:cNvPr>
          <p:cNvSpPr txBox="1">
            <a:spLocks noGrp="1"/>
          </p:cNvSpPr>
          <p:nvPr>
            <p:ph type="title"/>
          </p:nvPr>
        </p:nvSpPr>
        <p:spPr>
          <a:xfrm>
            <a:off x="359999" y="2834996"/>
            <a:ext cx="9359999" cy="718919"/>
          </a:xfrm>
          <a:prstGeom prst="rect">
            <a:avLst/>
          </a:prstGeom>
          <a:noFill/>
          <a:ln>
            <a:noFill/>
          </a:ln>
        </p:spPr>
        <p:txBody>
          <a:bodyPr vert="horz" wrap="square" lIns="0" tIns="0" rIns="0" bIns="0" anchor="ctr" anchorCtr="1" compatLnSpc="1">
            <a:noAutofit/>
          </a:bodyPr>
          <a:lstStyle/>
          <a:p>
            <a:pPr lvl="0"/>
            <a:endParaRPr lang="es-ES"/>
          </a:p>
        </p:txBody>
      </p:sp>
      <p:sp>
        <p:nvSpPr>
          <p:cNvPr id="5" name="Marcador de texto 4">
            <a:extLst>
              <a:ext uri="{FF2B5EF4-FFF2-40B4-BE49-F238E27FC236}">
                <a16:creationId xmlns:a16="http://schemas.microsoft.com/office/drawing/2014/main" id="{96CC924C-EB0E-6AF1-9272-0DE4D4513F52}"/>
              </a:ext>
            </a:extLst>
          </p:cNvPr>
          <p:cNvSpPr txBox="1">
            <a:spLocks noGrp="1"/>
          </p:cNvSpPr>
          <p:nvPr>
            <p:ph type="body" idx="1"/>
          </p:nvPr>
        </p:nvSpPr>
        <p:spPr>
          <a:xfrm>
            <a:off x="359999" y="3915003"/>
            <a:ext cx="9359999" cy="1484994"/>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591B5A81-9DFC-2074-4718-44D9F4831422}"/>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B818A3D7-38AA-36D5-8B09-7F6CFB271E32}"/>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Marcador de número de diapositiva 7">
            <a:extLst>
              <a:ext uri="{FF2B5EF4-FFF2-40B4-BE49-F238E27FC236}">
                <a16:creationId xmlns:a16="http://schemas.microsoft.com/office/drawing/2014/main" id="{F855C08B-C0EA-B225-34B2-1CA792E56238}"/>
              </a:ext>
            </a:extLst>
          </p:cNvPr>
          <p:cNvSpPr txBox="1">
            <a:spLocks noGrp="1"/>
          </p:cNvSpPr>
          <p:nvPr>
            <p:ph type="sldNum" sz="quarter" idx="4"/>
          </p:nvPr>
        </p:nvSpPr>
        <p:spPr>
          <a:xfrm>
            <a:off x="9179999" y="5130003"/>
            <a:ext cx="719998" cy="539998"/>
          </a:xfrm>
          <a:prstGeom prst="rect">
            <a:avLst/>
          </a:prstGeom>
          <a:noFill/>
          <a:ln>
            <a:noFill/>
          </a:ln>
        </p:spPr>
        <p:txBody>
          <a:bodyPr vert="horz" wrap="square" lIns="0" tIns="0" rIns="0" bIns="0" anchor="ctr"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fld id="{A89C4F70-015A-4F43-899C-AEAB7D1A8A2F}" type="slidenum">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ctr" defTabSz="914400" rtl="0" fontAlgn="auto" hangingPunct="1">
        <a:lnSpc>
          <a:spcPct val="150000"/>
        </a:lnSpc>
        <a:spcBef>
          <a:spcPts val="0"/>
        </a:spcBef>
        <a:spcAft>
          <a:spcPts val="0"/>
        </a:spcAft>
        <a:buNone/>
        <a:tabLst/>
        <a:defRPr lang="es-ES" sz="2700" b="1" i="0" u="none" strike="noStrike" kern="1200" cap="none" spc="0" baseline="0">
          <a:solidFill>
            <a:srgbClr val="FFFFFF"/>
          </a:solidFill>
          <a:uFillTx/>
          <a:latin typeface="Noto Sans" pitchFamily="34"/>
        </a:defRPr>
      </a:lvl1pPr>
    </p:titleStyle>
    <p:bodyStyle>
      <a:lvl1pPr marL="0" marR="0" lvl="0" indent="0" algn="l" defTabSz="914400" rtl="0" fontAlgn="auto" hangingPunct="1">
        <a:lnSpc>
          <a:spcPct val="100000"/>
        </a:lnSpc>
        <a:spcBef>
          <a:spcPts val="0"/>
        </a:spcBef>
        <a:spcAft>
          <a:spcPts val="655"/>
        </a:spcAft>
        <a:buNone/>
        <a:tabLst/>
        <a:defRPr lang="es-ES" sz="1500" b="0" i="0" u="none" strike="noStrike" kern="1200" cap="none" spc="0" baseline="0">
          <a:solidFill>
            <a:srgbClr val="FFFFFF"/>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94187E7A-21AC-2D76-9CFD-27FE6D40B33D}"/>
              </a:ext>
            </a:extLst>
          </p:cNvPr>
          <p:cNvSpPr/>
          <p:nvPr/>
        </p:nvSpPr>
        <p:spPr>
          <a:xfrm>
            <a:off x="0" y="0"/>
            <a:ext cx="10079998" cy="567000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2C3E50"/>
          </a:solidFill>
          <a:ln cap="flat">
            <a:noFill/>
            <a:prstDash val="solid"/>
          </a:ln>
        </p:spPr>
        <p:txBody>
          <a:bodyPr vert="horz" wrap="none" lIns="90004" tIns="44997" rIns="90004" bIns="44997"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3" name="Forma libre: forma 2">
            <a:extLst>
              <a:ext uri="{FF2B5EF4-FFF2-40B4-BE49-F238E27FC236}">
                <a16:creationId xmlns:a16="http://schemas.microsoft.com/office/drawing/2014/main" id="{2D1BEAE2-B16E-D274-E2B9-949DB7B55D7F}"/>
              </a:ext>
            </a:extLst>
          </p:cNvPr>
          <p:cNvSpPr/>
          <p:nvPr/>
        </p:nvSpPr>
        <p:spPr>
          <a:xfrm>
            <a:off x="2520004" y="1350001"/>
            <a:ext cx="5039999" cy="1890000"/>
          </a:xfrm>
          <a:custGeom>
            <a:avLst>
              <a:gd name="f0" fmla="val 3449"/>
              <a:gd name="f1" fmla="val 39510"/>
            </a:avLst>
            <a:gdLst>
              <a:gd name="f2" fmla="val 10800000"/>
              <a:gd name="f3" fmla="val 5400000"/>
              <a:gd name="f4" fmla="val 180"/>
              <a:gd name="f5" fmla="val w"/>
              <a:gd name="f6" fmla="val h"/>
              <a:gd name="f7" fmla="val 0"/>
              <a:gd name="f8" fmla="val 21600"/>
              <a:gd name="f9" fmla="+- 0 0 1"/>
              <a:gd name="f10" fmla="val 2147483647"/>
              <a:gd name="f11" fmla="val 3590"/>
              <a:gd name="f12" fmla="val 8970"/>
              <a:gd name="f13" fmla="val 12630"/>
              <a:gd name="f14" fmla="val 18010"/>
              <a:gd name="f15" fmla="val -2147483647"/>
              <a:gd name="f16" fmla="+- 0 0 0"/>
              <a:gd name="f17" fmla="*/ f5 1 21600"/>
              <a:gd name="f18" fmla="*/ f6 1 21600"/>
              <a:gd name="f19" fmla="val f7"/>
              <a:gd name="f20" fmla="val f8"/>
              <a:gd name="f21" fmla="pin -2147483647 f0 2147483647"/>
              <a:gd name="f22" fmla="pin -2147483647 f1 2147483647"/>
              <a:gd name="f23" fmla="*/ f16 f2 1"/>
              <a:gd name="f24" fmla="+- f20 0 f19"/>
              <a:gd name="f25" fmla="val f21"/>
              <a:gd name="f26" fmla="val f22"/>
              <a:gd name="f27" fmla="*/ f21 f17 1"/>
              <a:gd name="f28" fmla="*/ f22 f18 1"/>
              <a:gd name="f29" fmla="*/ f23 1 f4"/>
              <a:gd name="f30" fmla="*/ f24 1 21600"/>
              <a:gd name="f31" fmla="+- f25 0 10800"/>
              <a:gd name="f32" fmla="+- f26 0 10800"/>
              <a:gd name="f33" fmla="+- f26 0 21600"/>
              <a:gd name="f34" fmla="+- f25 0 21600"/>
              <a:gd name="f35" fmla="+- f29 0 f3"/>
              <a:gd name="f36" fmla="*/ f25 f17 1"/>
              <a:gd name="f37" fmla="*/ f26 f18 1"/>
              <a:gd name="f38" fmla="*/ 0 f30 1"/>
              <a:gd name="f39" fmla="*/ 21600 f30 1"/>
              <a:gd name="f40" fmla="*/ 10800 f30 1"/>
              <a:gd name="f41" fmla="abs f31"/>
              <a:gd name="f42" fmla="abs f32"/>
              <a:gd name="f43" fmla="+- f41 0 f42"/>
              <a:gd name="f44" fmla="+- f42 0 f41"/>
              <a:gd name="f45" fmla="*/ f40 1 f30"/>
              <a:gd name="f46" fmla="*/ f38 1 f30"/>
              <a:gd name="f47" fmla="*/ f39 1 f30"/>
              <a:gd name="f48" fmla="?: f32 f9 f43"/>
              <a:gd name="f49" fmla="?: f32 f43 f9"/>
              <a:gd name="f50" fmla="?: f31 f9 f44"/>
              <a:gd name="f51" fmla="?: f31 f44 f9"/>
              <a:gd name="f52" fmla="*/ f46 f17 1"/>
              <a:gd name="f53" fmla="*/ f47 f17 1"/>
              <a:gd name="f54" fmla="*/ f47 f18 1"/>
              <a:gd name="f55" fmla="*/ f46 f18 1"/>
              <a:gd name="f56" fmla="*/ f45 f17 1"/>
              <a:gd name="f57" fmla="*/ f45 f18 1"/>
              <a:gd name="f58" fmla="?: f25 f9 f48"/>
              <a:gd name="f59" fmla="?: f25 f9 f49"/>
              <a:gd name="f60" fmla="?: f33 f50 f9"/>
              <a:gd name="f61" fmla="?: f33 f51 f9"/>
              <a:gd name="f62" fmla="?: f34 f49 f9"/>
              <a:gd name="f63" fmla="?: f34 f48 f9"/>
              <a:gd name="f64" fmla="?: f26 f9 f51"/>
              <a:gd name="f65" fmla="?: f26 f9 f50"/>
              <a:gd name="f66" fmla="?: f58 f25 0"/>
              <a:gd name="f67" fmla="?: f58 f26 6280"/>
              <a:gd name="f68" fmla="?: f59 f25 0"/>
              <a:gd name="f69" fmla="?: f59 f26 15320"/>
              <a:gd name="f70" fmla="?: f60 f25 6280"/>
              <a:gd name="f71" fmla="?: f60 f26 21600"/>
              <a:gd name="f72" fmla="?: f61 f25 15320"/>
              <a:gd name="f73" fmla="?: f61 f26 21600"/>
              <a:gd name="f74" fmla="?: f62 f25 21600"/>
              <a:gd name="f75" fmla="?: f62 f26 15320"/>
              <a:gd name="f76" fmla="?: f63 f25 21600"/>
              <a:gd name="f77" fmla="?: f63 f26 6280"/>
              <a:gd name="f78" fmla="?: f64 f25 15320"/>
              <a:gd name="f79" fmla="?: f64 f26 0"/>
              <a:gd name="f80" fmla="?: f65 f25 6280"/>
              <a:gd name="f81" fmla="?: f65 f26 0"/>
            </a:gdLst>
            <a:ahLst>
              <a:ahXY gdRefX="f0" minX="f15" maxX="f10" gdRefY="f1" minY="f15" maxY="f10">
                <a:pos x="f27" y="f28"/>
              </a:ahXY>
            </a:ahLst>
            <a:cxnLst>
              <a:cxn ang="3cd4">
                <a:pos x="hc" y="t"/>
              </a:cxn>
              <a:cxn ang="0">
                <a:pos x="r" y="vc"/>
              </a:cxn>
              <a:cxn ang="cd4">
                <a:pos x="hc" y="b"/>
              </a:cxn>
              <a:cxn ang="cd2">
                <a:pos x="l" y="vc"/>
              </a:cxn>
              <a:cxn ang="f35">
                <a:pos x="f56" y="f55"/>
              </a:cxn>
              <a:cxn ang="f35">
                <a:pos x="f52" y="f57"/>
              </a:cxn>
              <a:cxn ang="f35">
                <a:pos x="f56" y="f54"/>
              </a:cxn>
              <a:cxn ang="f35">
                <a:pos x="f53" y="f57"/>
              </a:cxn>
              <a:cxn ang="f35">
                <a:pos x="f36" y="f37"/>
              </a:cxn>
            </a:cxnLst>
            <a:rect l="f52" t="f55" r="f53" b="f54"/>
            <a:pathLst>
              <a:path w="21600" h="21600">
                <a:moveTo>
                  <a:pt x="f7" y="f7"/>
                </a:moveTo>
                <a:lnTo>
                  <a:pt x="f7" y="f11"/>
                </a:lnTo>
                <a:lnTo>
                  <a:pt x="f66" y="f67"/>
                </a:lnTo>
                <a:lnTo>
                  <a:pt x="f7" y="f12"/>
                </a:lnTo>
                <a:lnTo>
                  <a:pt x="f7" y="f13"/>
                </a:lnTo>
                <a:lnTo>
                  <a:pt x="f68" y="f69"/>
                </a:lnTo>
                <a:lnTo>
                  <a:pt x="f7" y="f14"/>
                </a:lnTo>
                <a:lnTo>
                  <a:pt x="f7" y="f8"/>
                </a:lnTo>
                <a:lnTo>
                  <a:pt x="f11" y="f8"/>
                </a:lnTo>
                <a:lnTo>
                  <a:pt x="f70" y="f71"/>
                </a:lnTo>
                <a:lnTo>
                  <a:pt x="f12" y="f8"/>
                </a:lnTo>
                <a:lnTo>
                  <a:pt x="f13" y="f8"/>
                </a:lnTo>
                <a:lnTo>
                  <a:pt x="f72" y="f73"/>
                </a:lnTo>
                <a:lnTo>
                  <a:pt x="f14" y="f8"/>
                </a:lnTo>
                <a:lnTo>
                  <a:pt x="f8" y="f8"/>
                </a:lnTo>
                <a:lnTo>
                  <a:pt x="f8" y="f14"/>
                </a:lnTo>
                <a:lnTo>
                  <a:pt x="f74" y="f75"/>
                </a:lnTo>
                <a:lnTo>
                  <a:pt x="f8" y="f13"/>
                </a:lnTo>
                <a:lnTo>
                  <a:pt x="f8" y="f12"/>
                </a:lnTo>
                <a:lnTo>
                  <a:pt x="f76" y="f77"/>
                </a:lnTo>
                <a:lnTo>
                  <a:pt x="f8" y="f11"/>
                </a:lnTo>
                <a:lnTo>
                  <a:pt x="f8" y="f7"/>
                </a:lnTo>
                <a:lnTo>
                  <a:pt x="f14" y="f7"/>
                </a:lnTo>
                <a:lnTo>
                  <a:pt x="f78" y="f79"/>
                </a:lnTo>
                <a:lnTo>
                  <a:pt x="f13" y="f7"/>
                </a:lnTo>
                <a:lnTo>
                  <a:pt x="f12" y="f7"/>
                </a:lnTo>
                <a:lnTo>
                  <a:pt x="f80" y="f81"/>
                </a:lnTo>
                <a:lnTo>
                  <a:pt x="f11" y="f7"/>
                </a:lnTo>
                <a:lnTo>
                  <a:pt x="f7" y="f7"/>
                </a:lnTo>
                <a:close/>
              </a:path>
            </a:pathLst>
          </a:custGeom>
          <a:solidFill>
            <a:srgbClr val="FFFFFF"/>
          </a:solidFill>
          <a:ln w="71999" cap="flat">
            <a:solidFill>
              <a:srgbClr val="1ABC9C"/>
            </a:solidFill>
            <a:prstDash val="solid"/>
            <a:miter/>
          </a:ln>
        </p:spPr>
        <p:txBody>
          <a:bodyPr vert="horz" wrap="none" lIns="120600" tIns="75602" rIns="120600" bIns="75602" anchor="ctr" anchorCtr="1" compatLnSpc="0">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2C3E50"/>
              </a:solidFill>
              <a:uFillTx/>
              <a:latin typeface="Noto Sans" pitchFamily="34"/>
              <a:ea typeface="DejaVu Sans" pitchFamily="2"/>
              <a:cs typeface="Noto Sans" pitchFamily="2"/>
            </a:endParaRPr>
          </a:p>
        </p:txBody>
      </p:sp>
      <p:sp>
        <p:nvSpPr>
          <p:cNvPr id="4" name="Marcador de título 3">
            <a:extLst>
              <a:ext uri="{FF2B5EF4-FFF2-40B4-BE49-F238E27FC236}">
                <a16:creationId xmlns:a16="http://schemas.microsoft.com/office/drawing/2014/main" id="{89CA388F-7A92-7845-4026-1D62A13FDC67}"/>
              </a:ext>
            </a:extLst>
          </p:cNvPr>
          <p:cNvSpPr txBox="1">
            <a:spLocks noGrp="1"/>
          </p:cNvSpPr>
          <p:nvPr>
            <p:ph type="title"/>
          </p:nvPr>
        </p:nvSpPr>
        <p:spPr>
          <a:xfrm>
            <a:off x="2700003" y="1484994"/>
            <a:ext cx="4679999" cy="1619996"/>
          </a:xfrm>
          <a:prstGeom prst="rect">
            <a:avLst/>
          </a:prstGeom>
          <a:noFill/>
          <a:ln>
            <a:noFill/>
          </a:ln>
        </p:spPr>
        <p:txBody>
          <a:bodyPr vert="horz" wrap="square" lIns="0" tIns="0" rIns="0" bIns="0" anchor="ctr" anchorCtr="1" compatLnSpc="1">
            <a:noAutofit/>
          </a:bodyPr>
          <a:lstStyle/>
          <a:p>
            <a:pPr lvl="0"/>
            <a:endParaRPr lang="es-ES"/>
          </a:p>
        </p:txBody>
      </p:sp>
      <p:sp>
        <p:nvSpPr>
          <p:cNvPr id="5" name="Marcador de texto 4">
            <a:extLst>
              <a:ext uri="{FF2B5EF4-FFF2-40B4-BE49-F238E27FC236}">
                <a16:creationId xmlns:a16="http://schemas.microsoft.com/office/drawing/2014/main" id="{BF2186C5-AC83-1C55-AC53-E052CE633108}"/>
              </a:ext>
            </a:extLst>
          </p:cNvPr>
          <p:cNvSpPr txBox="1">
            <a:spLocks noGrp="1"/>
          </p:cNvSpPr>
          <p:nvPr>
            <p:ph type="body" idx="1"/>
          </p:nvPr>
        </p:nvSpPr>
        <p:spPr>
          <a:xfrm>
            <a:off x="3420002" y="3240002"/>
            <a:ext cx="6299996" cy="1619996"/>
          </a:xfrm>
          <a:prstGeom prst="rect">
            <a:avLst/>
          </a:prstGeom>
          <a:noFill/>
          <a:ln>
            <a:noFill/>
          </a:ln>
        </p:spPr>
        <p:txBody>
          <a:bodyPr vert="horz" wrap="square" lIns="0" tIns="0" rIns="0" bIns="0" anchor="t" anchorCtr="0" compatLnSpc="1">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fecha 5">
            <a:extLst>
              <a:ext uri="{FF2B5EF4-FFF2-40B4-BE49-F238E27FC236}">
                <a16:creationId xmlns:a16="http://schemas.microsoft.com/office/drawing/2014/main" id="{E0C4BCD5-067C-DA80-4794-221CE10F7D39}"/>
              </a:ext>
            </a:extLst>
          </p:cNvPr>
          <p:cNvSpPr txBox="1">
            <a:spLocks noGrp="1"/>
          </p:cNvSpPr>
          <p:nvPr>
            <p:ph type="dt" sz="half" idx="2"/>
          </p:nvPr>
        </p:nvSpPr>
        <p:spPr>
          <a:xfrm>
            <a:off x="359999" y="5399998"/>
            <a:ext cx="2880003" cy="2700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7" name="Marcador de pie de página 6">
            <a:extLst>
              <a:ext uri="{FF2B5EF4-FFF2-40B4-BE49-F238E27FC236}">
                <a16:creationId xmlns:a16="http://schemas.microsoft.com/office/drawing/2014/main" id="{605D9622-E22D-DC9C-D6A1-77899FC4C9E9}"/>
              </a:ext>
            </a:extLst>
          </p:cNvPr>
          <p:cNvSpPr txBox="1">
            <a:spLocks noGrp="1"/>
          </p:cNvSpPr>
          <p:nvPr>
            <p:ph type="ftr" sz="quarter" idx="3"/>
          </p:nvPr>
        </p:nvSpPr>
        <p:spPr>
          <a:xfrm>
            <a:off x="3420002" y="5399998"/>
            <a:ext cx="3240002" cy="270004"/>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endParaRPr lang="es-ES"/>
          </a:p>
        </p:txBody>
      </p:sp>
      <p:sp>
        <p:nvSpPr>
          <p:cNvPr id="8" name="Marcador de número de diapositiva 7">
            <a:extLst>
              <a:ext uri="{FF2B5EF4-FFF2-40B4-BE49-F238E27FC236}">
                <a16:creationId xmlns:a16="http://schemas.microsoft.com/office/drawing/2014/main" id="{F361E1B6-179B-5C76-0334-A1C1957DDFAF}"/>
              </a:ext>
            </a:extLst>
          </p:cNvPr>
          <p:cNvSpPr txBox="1">
            <a:spLocks noGrp="1"/>
          </p:cNvSpPr>
          <p:nvPr>
            <p:ph type="sldNum" sz="quarter" idx="4"/>
          </p:nvPr>
        </p:nvSpPr>
        <p:spPr>
          <a:xfrm>
            <a:off x="9179999" y="5130003"/>
            <a:ext cx="719998" cy="539998"/>
          </a:xfrm>
          <a:prstGeom prst="rect">
            <a:avLst/>
          </a:prstGeom>
          <a:noFill/>
          <a:ln>
            <a:noFill/>
          </a:ln>
        </p:spPr>
        <p:txBody>
          <a:bodyPr vert="horz" wrap="square" lIns="0" tIns="0" rIns="0" bIns="0" anchor="ctr" anchorCtr="1" compatLnSpc="1">
            <a:noAutofit/>
          </a:bodyPr>
          <a:lstStyle>
            <a:lvl1pPr marL="0" marR="0" lvl="0" indent="0" algn="ctr" defTabSz="914400" rtl="0" fontAlgn="auto" hangingPunct="0">
              <a:lnSpc>
                <a:spcPct val="100000"/>
              </a:lnSpc>
              <a:spcBef>
                <a:spcPts val="0"/>
              </a:spcBef>
              <a:spcAft>
                <a:spcPts val="0"/>
              </a:spcAft>
              <a:buNone/>
              <a:tabLst/>
              <a:defRPr lang="es-ES" sz="1800" b="1" i="0" u="none" strike="noStrike" kern="1200" cap="none" spc="0" baseline="0">
                <a:solidFill>
                  <a:srgbClr val="FFFFFF"/>
                </a:solidFill>
                <a:uFillTx/>
                <a:latin typeface="Noto Sans" pitchFamily="34"/>
                <a:ea typeface="DejaVu Sans" pitchFamily="2"/>
                <a:cs typeface="Noto Sans" pitchFamily="2"/>
              </a:defRPr>
            </a:lvl1pPr>
          </a:lstStyle>
          <a:p>
            <a:pPr lvl="0"/>
            <a:fld id="{36EE2C68-96B8-4B39-A324-27D9CE226430}" type="slidenum">
              <a:t>‹Nº›</a:t>
            </a:fld>
            <a:endParaRPr lang="es-E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0" marR="0" lvl="0" indent="0" algn="ctr" defTabSz="914400" rtl="0" fontAlgn="auto" hangingPunct="1">
        <a:lnSpc>
          <a:spcPct val="100000"/>
        </a:lnSpc>
        <a:spcBef>
          <a:spcPts val="0"/>
        </a:spcBef>
        <a:spcAft>
          <a:spcPts val="0"/>
        </a:spcAft>
        <a:buNone/>
        <a:tabLst/>
        <a:defRPr lang="es-ES" sz="2700" b="1" i="0" u="none" strike="noStrike" kern="1200" cap="none" spc="0" baseline="0">
          <a:solidFill>
            <a:srgbClr val="2C3E50"/>
          </a:solidFill>
          <a:uFillTx/>
          <a:latin typeface="Noto Sans" pitchFamily="34"/>
        </a:defRPr>
      </a:lvl1pPr>
    </p:titleStyle>
    <p:bodyStyle>
      <a:lvl1pPr marL="0" marR="0" lvl="0" indent="0" algn="l" defTabSz="914400" rtl="0" fontAlgn="auto" hangingPunct="1">
        <a:lnSpc>
          <a:spcPct val="100000"/>
        </a:lnSpc>
        <a:spcBef>
          <a:spcPts val="0"/>
        </a:spcBef>
        <a:spcAft>
          <a:spcPts val="655"/>
        </a:spcAft>
        <a:buNone/>
        <a:tabLst/>
        <a:defRPr lang="es-ES" sz="1500" b="0" i="0" u="none" strike="noStrike" kern="1200" cap="none" spc="0" baseline="0">
          <a:solidFill>
            <a:srgbClr val="FFFFFF"/>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es.khanacademy.org/computing/computer-programming/html-css/intro-to-css/pc/challenge-seasonal-ids"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hyperlink" Target="https://es.khanacademy.org/computing/computer-programming/html-css/more-css-selectors/pc/challenge-classes-of-elements" TargetMode="External"/><Relationship Id="rId4" Type="http://schemas.openxmlformats.org/officeDocument/2006/relationships/hyperlink" Target="https://es.khanacademy.org/computing/computer-programming/html-css/intro-to-css/e/quiz--simple-css-selector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mozilla.org/es/docs/Web/CSS/Pseudo-elements"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w3schools.com/cssref/css_selectors.php"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flukeout.github.io/" TargetMode="External"/><Relationship Id="rId5" Type="http://schemas.openxmlformats.org/officeDocument/2006/relationships/hyperlink" Target="https://www.w3.org/wiki/CSS_/_Selectores_CSS#Selectores_CSS" TargetMode="External"/><Relationship Id="rId4" Type="http://schemas.openxmlformats.org/officeDocument/2006/relationships/hyperlink" Target="https://developer.mozilla.org/es/docs/Learn/CSS/Building_blocks/Selector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eveloper.mozilla.org/es/docs/Web/CSS/Specificity"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hyperlink" Target="https://www.w3.org/TR/css-2010/#cs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EDEA5-DC14-5B09-B6E5-F0BE9C9C87AB}"/>
              </a:ext>
            </a:extLst>
          </p:cNvPr>
          <p:cNvSpPr txBox="1">
            <a:spLocks noGrp="1"/>
          </p:cNvSpPr>
          <p:nvPr>
            <p:ph type="title" idx="4294967295"/>
          </p:nvPr>
        </p:nvSpPr>
        <p:spPr>
          <a:xfrm>
            <a:off x="359999" y="2916046"/>
            <a:ext cx="9359999" cy="556819"/>
          </a:xfrm>
        </p:spPr>
        <p:txBody>
          <a:bodyPr>
            <a:spAutoFit/>
          </a:bodyPr>
          <a:lstStyle/>
          <a:p>
            <a:pPr lvl="0"/>
            <a:r>
              <a:rPr lang="es-ES" dirty="0">
                <a:cs typeface="Noto Sans" pitchFamily="2"/>
              </a:rPr>
              <a:t>Unidad 1</a:t>
            </a:r>
          </a:p>
        </p:txBody>
      </p:sp>
      <p:sp>
        <p:nvSpPr>
          <p:cNvPr id="3" name="Subtítulo 2">
            <a:extLst>
              <a:ext uri="{FF2B5EF4-FFF2-40B4-BE49-F238E27FC236}">
                <a16:creationId xmlns:a16="http://schemas.microsoft.com/office/drawing/2014/main" id="{F88B7F38-11E3-E321-7F13-EE0F7C065D05}"/>
              </a:ext>
            </a:extLst>
          </p:cNvPr>
          <p:cNvSpPr txBox="1">
            <a:spLocks noGrp="1"/>
          </p:cNvSpPr>
          <p:nvPr>
            <p:ph type="subTitle" idx="4294967295"/>
          </p:nvPr>
        </p:nvSpPr>
        <p:spPr>
          <a:xfrm>
            <a:off x="359999" y="4542084"/>
            <a:ext cx="9359999" cy="230832"/>
          </a:xfrm>
        </p:spPr>
        <p:txBody>
          <a:bodyPr anchor="ctr" anchorCtr="1">
            <a:spAutoFit/>
          </a:bodyPr>
          <a:lstStyle/>
          <a:p>
            <a:r>
              <a:rPr lang="es-ES"/>
              <a:t>CSS – Parte 1</a:t>
            </a:r>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Unidad 2</a:t>
            </a:r>
          </a:p>
        </p:txBody>
      </p:sp>
      <p:sp>
        <p:nvSpPr>
          <p:cNvPr id="3" name="CuadroTexto 2">
            <a:extLst>
              <a:ext uri="{FF2B5EF4-FFF2-40B4-BE49-F238E27FC236}">
                <a16:creationId xmlns:a16="http://schemas.microsoft.com/office/drawing/2014/main" id="{34597851-F053-B0FF-011B-1CE3557EC1E0}"/>
              </a:ext>
            </a:extLst>
          </p:cNvPr>
          <p:cNvSpPr txBox="1"/>
          <p:nvPr/>
        </p:nvSpPr>
        <p:spPr>
          <a:xfrm>
            <a:off x="569843" y="1590261"/>
            <a:ext cx="9200788" cy="2585323"/>
          </a:xfrm>
          <a:prstGeom prst="rect">
            <a:avLst/>
          </a:prstGeom>
          <a:noFill/>
        </p:spPr>
        <p:txBody>
          <a:bodyPr wrap="none" rtlCol="0">
            <a:spAutoFit/>
          </a:bodyPr>
          <a:lstStyle/>
          <a:p>
            <a:r>
              <a:rPr lang="es-ES" dirty="0"/>
              <a:t>Ya hemos creado contenido y le hemos dado una estructura mediante HTML. Sin embargo, </a:t>
            </a:r>
          </a:p>
          <a:p>
            <a:r>
              <a:rPr lang="es-ES" dirty="0"/>
              <a:t>aparte del contenido, el </a:t>
            </a:r>
            <a:r>
              <a:rPr lang="es-ES" b="1" dirty="0"/>
              <a:t>diseño</a:t>
            </a:r>
            <a:r>
              <a:rPr lang="es-ES" dirty="0"/>
              <a:t> y la </a:t>
            </a:r>
            <a:r>
              <a:rPr lang="es-ES" b="1" dirty="0"/>
              <a:t>presentación</a:t>
            </a:r>
            <a:r>
              <a:rPr lang="es-ES" dirty="0"/>
              <a:t> de la información también es importante.</a:t>
            </a:r>
          </a:p>
          <a:p>
            <a:endParaRPr lang="es-ES" dirty="0"/>
          </a:p>
          <a:p>
            <a:r>
              <a:rPr lang="es-ES" dirty="0"/>
              <a:t>En este punto entra en juego las hojas de estilos, donde se escriben con </a:t>
            </a:r>
            <a:r>
              <a:rPr lang="es-ES" b="1" dirty="0"/>
              <a:t>CSS</a:t>
            </a:r>
            <a:r>
              <a:rPr lang="es-ES" dirty="0"/>
              <a:t> (</a:t>
            </a:r>
            <a:r>
              <a:rPr lang="es-ES" i="1" dirty="0" err="1"/>
              <a:t>Cascading</a:t>
            </a:r>
            <a:r>
              <a:rPr lang="es-ES" i="1" dirty="0"/>
              <a:t> </a:t>
            </a:r>
          </a:p>
          <a:p>
            <a:r>
              <a:rPr lang="es-ES" i="1" dirty="0"/>
              <a:t>Style </a:t>
            </a:r>
            <a:r>
              <a:rPr lang="es-ES" i="1" dirty="0" err="1"/>
              <a:t>Sheets,Hojas</a:t>
            </a:r>
            <a:r>
              <a:rPr lang="es-ES" i="1" dirty="0"/>
              <a:t> de estilo en cascada</a:t>
            </a:r>
            <a:r>
              <a:rPr lang="es-ES" dirty="0"/>
              <a:t>)</a:t>
            </a:r>
          </a:p>
          <a:p>
            <a:endParaRPr lang="es-ES" dirty="0"/>
          </a:p>
          <a:p>
            <a:r>
              <a:rPr lang="es-ES" sz="1800" b="0" i="0" u="none" strike="noStrike" baseline="0" dirty="0">
                <a:latin typeface="Cambria" panose="02040503050406030204" pitchFamily="18" charset="0"/>
              </a:rPr>
              <a:t>Permite separar la definición de los contenidos y la definición del aspecto, mejorando así su </a:t>
            </a:r>
          </a:p>
          <a:p>
            <a:r>
              <a:rPr lang="es-ES" dirty="0">
                <a:latin typeface="Cambria" panose="02040503050406030204" pitchFamily="18" charset="0"/>
              </a:rPr>
              <a:t>diseño. Esto también </a:t>
            </a:r>
            <a:r>
              <a:rPr lang="es-ES" sz="1800" b="0" i="0" u="none" strike="noStrike" baseline="0" dirty="0">
                <a:latin typeface="Cambria" panose="02040503050406030204" pitchFamily="18" charset="0"/>
              </a:rPr>
              <a:t>implica </a:t>
            </a:r>
            <a:r>
              <a:rPr lang="es-ES" dirty="0">
                <a:latin typeface="Cambria" panose="02040503050406030204" pitchFamily="18" charset="0"/>
              </a:rPr>
              <a:t> </a:t>
            </a:r>
            <a:r>
              <a:rPr lang="es-ES" sz="1800" b="0" i="0" u="none" strike="noStrike" baseline="0" dirty="0">
                <a:latin typeface="Cambria" panose="02040503050406030204" pitchFamily="18" charset="0"/>
              </a:rPr>
              <a:t>una mejor legibilidad, </a:t>
            </a:r>
            <a:r>
              <a:rPr lang="es-ES" dirty="0">
                <a:latin typeface="Cambria" panose="02040503050406030204" pitchFamily="18" charset="0"/>
              </a:rPr>
              <a:t> mantenimiento y</a:t>
            </a:r>
            <a:r>
              <a:rPr lang="es-ES" sz="1800" b="0" i="0" u="none" strike="noStrike" baseline="0" dirty="0">
                <a:latin typeface="Cambria" panose="02040503050406030204" pitchFamily="18" charset="0"/>
              </a:rPr>
              <a:t> reutilización.</a:t>
            </a:r>
          </a:p>
          <a:p>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Unidad 2</a:t>
            </a:r>
          </a:p>
        </p:txBody>
      </p:sp>
      <p:pic>
        <p:nvPicPr>
          <p:cNvPr id="5" name="Imagen 4">
            <a:extLst>
              <a:ext uri="{FF2B5EF4-FFF2-40B4-BE49-F238E27FC236}">
                <a16:creationId xmlns:a16="http://schemas.microsoft.com/office/drawing/2014/main" id="{27631452-204F-9E75-9740-D69C86693A54}"/>
              </a:ext>
            </a:extLst>
          </p:cNvPr>
          <p:cNvPicPr>
            <a:picLocks noChangeAspect="1"/>
          </p:cNvPicPr>
          <p:nvPr/>
        </p:nvPicPr>
        <p:blipFill>
          <a:blip r:embed="rId3"/>
          <a:stretch>
            <a:fillRect/>
          </a:stretch>
        </p:blipFill>
        <p:spPr>
          <a:xfrm>
            <a:off x="397567" y="2544455"/>
            <a:ext cx="3930131" cy="795093"/>
          </a:xfrm>
          <a:prstGeom prst="rect">
            <a:avLst/>
          </a:prstGeom>
        </p:spPr>
      </p:pic>
      <p:pic>
        <p:nvPicPr>
          <p:cNvPr id="7" name="Imagen 6">
            <a:extLst>
              <a:ext uri="{FF2B5EF4-FFF2-40B4-BE49-F238E27FC236}">
                <a16:creationId xmlns:a16="http://schemas.microsoft.com/office/drawing/2014/main" id="{211D7824-4C04-CDAD-D8C7-638B9EDDC1DA}"/>
              </a:ext>
            </a:extLst>
          </p:cNvPr>
          <p:cNvPicPr>
            <a:picLocks noChangeAspect="1"/>
          </p:cNvPicPr>
          <p:nvPr/>
        </p:nvPicPr>
        <p:blipFill>
          <a:blip r:embed="rId4"/>
          <a:stretch>
            <a:fillRect/>
          </a:stretch>
        </p:blipFill>
        <p:spPr>
          <a:xfrm>
            <a:off x="6505523" y="1550504"/>
            <a:ext cx="3144683" cy="3551583"/>
          </a:xfrm>
          <a:prstGeom prst="rect">
            <a:avLst/>
          </a:prstGeom>
        </p:spPr>
      </p:pic>
      <p:sp>
        <p:nvSpPr>
          <p:cNvPr id="8" name="Flecha: a la derecha 7">
            <a:extLst>
              <a:ext uri="{FF2B5EF4-FFF2-40B4-BE49-F238E27FC236}">
                <a16:creationId xmlns:a16="http://schemas.microsoft.com/office/drawing/2014/main" id="{BCED16DD-768A-67AA-5F38-F0405BC01B12}"/>
              </a:ext>
            </a:extLst>
          </p:cNvPr>
          <p:cNvSpPr/>
          <p:nvPr/>
        </p:nvSpPr>
        <p:spPr>
          <a:xfrm>
            <a:off x="4744278" y="2663687"/>
            <a:ext cx="1219200" cy="1046922"/>
          </a:xfrm>
          <a:prstGeom prst="rightArrow">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5549582A-1DE4-88BF-8716-17B62C0E0213}"/>
              </a:ext>
            </a:extLst>
          </p:cNvPr>
          <p:cNvSpPr txBox="1"/>
          <p:nvPr/>
        </p:nvSpPr>
        <p:spPr>
          <a:xfrm>
            <a:off x="487680" y="1478280"/>
            <a:ext cx="5690789" cy="646331"/>
          </a:xfrm>
          <a:prstGeom prst="rect">
            <a:avLst/>
          </a:prstGeom>
          <a:noFill/>
        </p:spPr>
        <p:txBody>
          <a:bodyPr wrap="none" rtlCol="0">
            <a:spAutoFit/>
          </a:bodyPr>
          <a:lstStyle/>
          <a:p>
            <a:r>
              <a:rPr lang="es-ES" dirty="0"/>
              <a:t>Se puede apreciar como el formulario con estilos aplicados</a:t>
            </a:r>
          </a:p>
          <a:p>
            <a:r>
              <a:rPr lang="es-ES" dirty="0"/>
              <a:t>es más atractivo para el usuario.</a:t>
            </a:r>
          </a:p>
        </p:txBody>
      </p:sp>
    </p:spTree>
    <p:extLst>
      <p:ext uri="{BB962C8B-B14F-4D97-AF65-F5344CB8AC3E}">
        <p14:creationId xmlns:p14="http://schemas.microsoft.com/office/powerpoint/2010/main" val="3878064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Unidad 2</a:t>
            </a:r>
          </a:p>
        </p:txBody>
      </p:sp>
      <p:sp>
        <p:nvSpPr>
          <p:cNvPr id="4" name="CuadroTexto 3">
            <a:extLst>
              <a:ext uri="{FF2B5EF4-FFF2-40B4-BE49-F238E27FC236}">
                <a16:creationId xmlns:a16="http://schemas.microsoft.com/office/drawing/2014/main" id="{9F438B0E-4EF1-E062-3D69-2C0C14D8A753}"/>
              </a:ext>
            </a:extLst>
          </p:cNvPr>
          <p:cNvSpPr txBox="1"/>
          <p:nvPr/>
        </p:nvSpPr>
        <p:spPr>
          <a:xfrm>
            <a:off x="139872" y="1331950"/>
            <a:ext cx="9880428" cy="3139321"/>
          </a:xfrm>
          <a:prstGeom prst="rect">
            <a:avLst/>
          </a:prstGeom>
          <a:noFill/>
        </p:spPr>
        <p:txBody>
          <a:bodyPr wrap="square" rtlCol="0">
            <a:spAutoFit/>
          </a:bodyPr>
          <a:lstStyle/>
          <a:p>
            <a:r>
              <a:rPr lang="es-ES" dirty="0"/>
              <a:t>La utilización de CSS en el diseño de páginas web conlleva múltiples beneficios, entre los cuales destacan:</a:t>
            </a:r>
          </a:p>
          <a:p>
            <a:pPr marL="285750" indent="-285750">
              <a:buFont typeface="Arial" panose="020B0604020202020204" pitchFamily="34" charset="0"/>
              <a:buChar char="•"/>
            </a:pPr>
            <a:r>
              <a:rPr lang="es-ES" b="1" dirty="0"/>
              <a:t>Control ampliado en el diseño</a:t>
            </a:r>
            <a:r>
              <a:rPr lang="es-ES" dirty="0"/>
              <a:t>: CSS permite crear estéticas que van más allá de las capacidades de</a:t>
            </a:r>
          </a:p>
          <a:p>
            <a:r>
              <a:rPr lang="es-ES" dirty="0"/>
              <a:t>      HTML, ofreciendo una amplia gama de posibilidades creativas.</a:t>
            </a:r>
          </a:p>
          <a:p>
            <a:pPr marL="285750" indent="-285750">
              <a:buFont typeface="Arial" panose="020B0604020202020204" pitchFamily="34" charset="0"/>
              <a:buChar char="•"/>
            </a:pPr>
            <a:r>
              <a:rPr lang="es-ES" b="1" dirty="0"/>
              <a:t>Eficiencia en el mantenimiento</a:t>
            </a:r>
            <a:r>
              <a:rPr lang="es-ES" dirty="0"/>
              <a:t>: Actualizar el estilo de un sitio web completo puede ser tan simple</a:t>
            </a:r>
          </a:p>
          <a:p>
            <a:r>
              <a:rPr lang="es-ES" dirty="0"/>
              <a:t>     como modificar un solo archivo CSS.</a:t>
            </a:r>
          </a:p>
          <a:p>
            <a:pPr marL="285750" indent="-285750">
              <a:buFont typeface="Arial" panose="020B0604020202020204" pitchFamily="34" charset="0"/>
              <a:buChar char="•"/>
            </a:pPr>
            <a:r>
              <a:rPr lang="es-ES" b="1" dirty="0"/>
              <a:t>Optimización de documentos</a:t>
            </a:r>
            <a:r>
              <a:rPr lang="es-ES" dirty="0"/>
              <a:t>: El uso de CSS reduce la necesidad de etiquetas obsoletas como &lt;</a:t>
            </a:r>
            <a:r>
              <a:rPr lang="es-ES" dirty="0" err="1"/>
              <a:t>font</a:t>
            </a:r>
            <a:r>
              <a:rPr lang="es-ES" dirty="0"/>
              <a:t>&gt; </a:t>
            </a:r>
          </a:p>
          <a:p>
            <a:r>
              <a:rPr lang="es-ES" dirty="0"/>
              <a:t>      y el excesivo uso de tablas para el diseño, resultando en documentos más ligeros y rápidos.</a:t>
            </a:r>
          </a:p>
          <a:p>
            <a:pPr marL="285750" indent="-285750">
              <a:buFont typeface="Arial" panose="020B0604020202020204" pitchFamily="34" charset="0"/>
              <a:buChar char="•"/>
            </a:pPr>
            <a:r>
              <a:rPr lang="es-ES" b="1" dirty="0"/>
              <a:t>Mejora en la estructura de documentos</a:t>
            </a:r>
            <a:r>
              <a:rPr lang="es-ES" dirty="0"/>
              <a:t>: Una estructura bien definida hace que los contenidos sean </a:t>
            </a:r>
          </a:p>
          <a:p>
            <a:r>
              <a:rPr lang="es-ES" dirty="0"/>
              <a:t>      accesibles a una mayor variedad de dispositivos y usuarios, mejorando la accesibilidad general.</a:t>
            </a:r>
          </a:p>
          <a:p>
            <a:pPr marL="285750" indent="-285750">
              <a:buFont typeface="Arial" panose="020B0604020202020204" pitchFamily="34" charset="0"/>
              <a:buChar char="•"/>
            </a:pPr>
            <a:r>
              <a:rPr lang="es-ES" b="1" dirty="0"/>
              <a:t>Amplio soporte en navegadores</a:t>
            </a:r>
            <a:endParaRPr lang="es-ES" dirty="0"/>
          </a:p>
        </p:txBody>
      </p:sp>
    </p:spTree>
    <p:extLst>
      <p:ext uri="{BB962C8B-B14F-4D97-AF65-F5344CB8AC3E}">
        <p14:creationId xmlns:p14="http://schemas.microsoft.com/office/powerpoint/2010/main" val="2904045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Sintaxis de CSS</a:t>
            </a:r>
          </a:p>
        </p:txBody>
      </p:sp>
      <p:sp>
        <p:nvSpPr>
          <p:cNvPr id="5" name="CuadroTexto 4">
            <a:extLst>
              <a:ext uri="{FF2B5EF4-FFF2-40B4-BE49-F238E27FC236}">
                <a16:creationId xmlns:a16="http://schemas.microsoft.com/office/drawing/2014/main" id="{D7549E22-2E55-5078-14CA-5E7EB8131BF0}"/>
              </a:ext>
            </a:extLst>
          </p:cNvPr>
          <p:cNvSpPr txBox="1"/>
          <p:nvPr/>
        </p:nvSpPr>
        <p:spPr>
          <a:xfrm>
            <a:off x="539114" y="1295847"/>
            <a:ext cx="8681085" cy="3539430"/>
          </a:xfrm>
          <a:prstGeom prst="rect">
            <a:avLst/>
          </a:prstGeom>
          <a:noFill/>
        </p:spPr>
        <p:txBody>
          <a:bodyPr wrap="square">
            <a:spAutoFit/>
          </a:bodyPr>
          <a:lstStyle/>
          <a:p>
            <a:r>
              <a:rPr lang="es-ES" sz="2000" dirty="0"/>
              <a:t>Una </a:t>
            </a:r>
            <a:r>
              <a:rPr lang="es-ES" sz="2000" b="1" dirty="0"/>
              <a:t>regla CSS</a:t>
            </a:r>
            <a:r>
              <a:rPr lang="es-ES" sz="2000" dirty="0"/>
              <a:t> consiste en un selector y un bloque de declaración.</a:t>
            </a:r>
          </a:p>
          <a:p>
            <a:endParaRPr lang="es-ES" sz="2000" dirty="0"/>
          </a:p>
          <a:p>
            <a:endParaRPr lang="es-ES" sz="2000" dirty="0"/>
          </a:p>
          <a:p>
            <a:pPr marL="0" indent="0">
              <a:buNone/>
            </a:pPr>
            <a:endParaRPr lang="es-ES" sz="2000" dirty="0"/>
          </a:p>
          <a:p>
            <a:endParaRPr lang="es-ES" sz="1800" dirty="0"/>
          </a:p>
          <a:p>
            <a:endParaRPr lang="es-ES" dirty="0"/>
          </a:p>
          <a:p>
            <a:endParaRPr lang="es-ES" sz="1800" dirty="0"/>
          </a:p>
          <a:p>
            <a:r>
              <a:rPr lang="es-ES" sz="1800" dirty="0"/>
              <a:t>El </a:t>
            </a:r>
            <a:r>
              <a:rPr lang="es-ES" sz="1800" b="1" dirty="0"/>
              <a:t>selector</a:t>
            </a:r>
            <a:r>
              <a:rPr lang="es-ES" sz="1800" dirty="0"/>
              <a:t> apunta al elemento HTML que desea personalizar.</a:t>
            </a:r>
          </a:p>
          <a:p>
            <a:r>
              <a:rPr lang="es-ES" sz="1800" dirty="0"/>
              <a:t>El </a:t>
            </a:r>
            <a:r>
              <a:rPr lang="es-ES" sz="1800" b="1" dirty="0"/>
              <a:t>bloque de declaración </a:t>
            </a:r>
            <a:r>
              <a:rPr lang="es-ES" sz="1800" dirty="0"/>
              <a:t>contiene una o más declaraciones separadas por punto y coma. Se escriben entre llaves { }.</a:t>
            </a:r>
          </a:p>
          <a:p>
            <a:r>
              <a:rPr lang="es-ES" sz="1800" dirty="0"/>
              <a:t>Cada </a:t>
            </a:r>
            <a:r>
              <a:rPr lang="es-ES" sz="1800" b="1" dirty="0"/>
              <a:t>declaración</a:t>
            </a:r>
            <a:r>
              <a:rPr lang="es-ES" sz="1800" dirty="0"/>
              <a:t> incluye una propiedad CSS y un valor, separados por dos puntos.</a:t>
            </a:r>
          </a:p>
          <a:p>
            <a:r>
              <a:rPr lang="es-ES" sz="1800" dirty="0"/>
              <a:t>Siempre termina con un punto y coma.</a:t>
            </a:r>
            <a:endParaRPr lang="es-ES" dirty="0"/>
          </a:p>
        </p:txBody>
      </p:sp>
      <p:pic>
        <p:nvPicPr>
          <p:cNvPr id="7" name="Imagen 6">
            <a:extLst>
              <a:ext uri="{FF2B5EF4-FFF2-40B4-BE49-F238E27FC236}">
                <a16:creationId xmlns:a16="http://schemas.microsoft.com/office/drawing/2014/main" id="{8A88921A-EEBD-FA90-E9D0-79BF951618E4}"/>
              </a:ext>
            </a:extLst>
          </p:cNvPr>
          <p:cNvPicPr>
            <a:picLocks noChangeAspect="1"/>
          </p:cNvPicPr>
          <p:nvPr/>
        </p:nvPicPr>
        <p:blipFill>
          <a:blip r:embed="rId3"/>
          <a:stretch>
            <a:fillRect/>
          </a:stretch>
        </p:blipFill>
        <p:spPr>
          <a:xfrm>
            <a:off x="1637517" y="1643586"/>
            <a:ext cx="6365868" cy="1518714"/>
          </a:xfrm>
          <a:prstGeom prst="rect">
            <a:avLst/>
          </a:prstGeom>
        </p:spPr>
      </p:pic>
    </p:spTree>
    <p:extLst>
      <p:ext uri="{BB962C8B-B14F-4D97-AF65-F5344CB8AC3E}">
        <p14:creationId xmlns:p14="http://schemas.microsoft.com/office/powerpoint/2010/main" val="166458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Sintaxis de CSS</a:t>
            </a:r>
          </a:p>
        </p:txBody>
      </p:sp>
      <p:sp>
        <p:nvSpPr>
          <p:cNvPr id="3" name="CuadroTexto 2">
            <a:extLst>
              <a:ext uri="{FF2B5EF4-FFF2-40B4-BE49-F238E27FC236}">
                <a16:creationId xmlns:a16="http://schemas.microsoft.com/office/drawing/2014/main" id="{CED01081-24A4-8007-5261-9500E5F29909}"/>
              </a:ext>
            </a:extLst>
          </p:cNvPr>
          <p:cNvSpPr txBox="1"/>
          <p:nvPr/>
        </p:nvSpPr>
        <p:spPr>
          <a:xfrm>
            <a:off x="495300" y="1447800"/>
            <a:ext cx="8909683" cy="2031325"/>
          </a:xfrm>
          <a:prstGeom prst="rect">
            <a:avLst/>
          </a:prstGeom>
          <a:noFill/>
        </p:spPr>
        <p:txBody>
          <a:bodyPr wrap="none" rtlCol="0">
            <a:spAutoFit/>
          </a:bodyPr>
          <a:lstStyle/>
          <a:p>
            <a:pPr marL="285750" indent="-285750">
              <a:buFont typeface="Arial" panose="020B0604020202020204" pitchFamily="34" charset="0"/>
              <a:buChar char="•"/>
            </a:pPr>
            <a:r>
              <a:rPr lang="es-ES" dirty="0"/>
              <a:t>Hay que intentar codificar de manera </a:t>
            </a:r>
            <a:r>
              <a:rPr lang="es-ES" b="1" dirty="0"/>
              <a:t>legible</a:t>
            </a:r>
          </a:p>
          <a:p>
            <a:pPr marL="285750" indent="-285750">
              <a:buFont typeface="Arial" panose="020B0604020202020204" pitchFamily="34" charset="0"/>
              <a:buChar char="•"/>
            </a:pPr>
            <a:r>
              <a:rPr lang="es-ES" dirty="0"/>
              <a:t>Prioridad las </a:t>
            </a:r>
            <a:r>
              <a:rPr lang="es-ES" b="1" dirty="0"/>
              <a:t>minúsculas</a:t>
            </a:r>
            <a:r>
              <a:rPr lang="es-ES" dirty="0"/>
              <a:t> cuando escriba reglas CSS.</a:t>
            </a:r>
          </a:p>
          <a:p>
            <a:pPr marL="285750" indent="-285750">
              <a:buFont typeface="Arial" panose="020B0604020202020204" pitchFamily="34" charset="0"/>
              <a:buChar char="•"/>
            </a:pPr>
            <a:r>
              <a:rPr lang="es-ES" dirty="0"/>
              <a:t>El nombre de los selectores no debe comenzar</a:t>
            </a:r>
          </a:p>
          <a:p>
            <a:r>
              <a:rPr lang="es-ES" dirty="0"/>
              <a:t>     por un guion ni por un número.</a:t>
            </a:r>
          </a:p>
          <a:p>
            <a:pPr marL="285750" indent="-285750">
              <a:buFont typeface="Arial" panose="020B0604020202020204" pitchFamily="34" charset="0"/>
              <a:buChar char="•"/>
            </a:pPr>
            <a:r>
              <a:rPr lang="es-ES" dirty="0"/>
              <a:t>El nombre de los selectores no debe incluir espacios, caracteres de puntuación, especiales</a:t>
            </a:r>
          </a:p>
          <a:p>
            <a:r>
              <a:rPr lang="es-ES" dirty="0"/>
              <a:t>      ni acentuados.</a:t>
            </a:r>
          </a:p>
          <a:p>
            <a:pPr marL="285750" indent="-285750">
              <a:buFont typeface="Arial" panose="020B0604020202020204" pitchFamily="34" charset="0"/>
              <a:buChar char="•"/>
            </a:pPr>
            <a:endParaRPr lang="es-ES" dirty="0"/>
          </a:p>
        </p:txBody>
      </p:sp>
      <p:sp>
        <p:nvSpPr>
          <p:cNvPr id="6" name="CuadroTexto 5">
            <a:extLst>
              <a:ext uri="{FF2B5EF4-FFF2-40B4-BE49-F238E27FC236}">
                <a16:creationId xmlns:a16="http://schemas.microsoft.com/office/drawing/2014/main" id="{9A975D24-A47E-9EE1-9DAC-94C0EA25C57D}"/>
              </a:ext>
            </a:extLst>
          </p:cNvPr>
          <p:cNvSpPr txBox="1"/>
          <p:nvPr/>
        </p:nvSpPr>
        <p:spPr>
          <a:xfrm>
            <a:off x="6661206" y="1346580"/>
            <a:ext cx="2898913" cy="1203138"/>
          </a:xfrm>
          <a:prstGeom prst="rect">
            <a:avLst/>
          </a:prstGeom>
          <a:noFill/>
          <a:ln>
            <a:solidFill>
              <a:schemeClr val="accent1"/>
            </a:solidFill>
          </a:ln>
        </p:spPr>
        <p:txBody>
          <a:bodyPr wrap="square">
            <a:spAutoFit/>
          </a:bodyPr>
          <a:lstStyle/>
          <a:p>
            <a:r>
              <a:rPr lang="en-US" b="0" dirty="0">
                <a:solidFill>
                  <a:srgbClr val="D7BA7D"/>
                </a:solidFill>
                <a:effectLst/>
                <a:latin typeface="Consolas" panose="020B0609020204030204" pitchFamily="49" charset="0"/>
              </a:rPr>
              <a:t>h1</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color</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blue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font-size</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12px</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507951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¿Cómo incluir CSS en nuestros documentos?</a:t>
            </a:r>
          </a:p>
        </p:txBody>
      </p:sp>
      <p:sp>
        <p:nvSpPr>
          <p:cNvPr id="6" name="CuadroTexto 5">
            <a:extLst>
              <a:ext uri="{FF2B5EF4-FFF2-40B4-BE49-F238E27FC236}">
                <a16:creationId xmlns:a16="http://schemas.microsoft.com/office/drawing/2014/main" id="{A37B45DC-E4F8-6ADD-D385-8A15705F94A3}"/>
              </a:ext>
            </a:extLst>
          </p:cNvPr>
          <p:cNvSpPr txBox="1"/>
          <p:nvPr/>
        </p:nvSpPr>
        <p:spPr>
          <a:xfrm>
            <a:off x="5455050" y="1909342"/>
            <a:ext cx="4103704" cy="1874359"/>
          </a:xfrm>
          <a:prstGeom prst="rect">
            <a:avLst/>
          </a:prstGeom>
          <a:noFill/>
        </p:spPr>
        <p:txBody>
          <a:bodyPr wrap="square" rtlCol="0">
            <a:spAutoFit/>
          </a:bodyPr>
          <a:lstStyle/>
          <a:p>
            <a:pPr indent="-306000" defTabSz="457200">
              <a:spcBef>
                <a:spcPct val="20000"/>
              </a:spcBef>
              <a:spcAft>
                <a:spcPts val="600"/>
              </a:spcAft>
              <a:buClr>
                <a:schemeClr val="accent2"/>
              </a:buClr>
              <a:buSzPct val="92000"/>
              <a:buFont typeface="Wingdings 2" panose="05020102010507070707" pitchFamily="18" charset="2"/>
              <a:buChar char=""/>
            </a:pPr>
            <a:r>
              <a:rPr lang="es-ES" dirty="0">
                <a:solidFill>
                  <a:schemeClr val="tx2"/>
                </a:solidFill>
              </a:rPr>
              <a:t>Caótico</a:t>
            </a:r>
          </a:p>
          <a:p>
            <a:pPr indent="-306000" defTabSz="457200">
              <a:spcBef>
                <a:spcPct val="20000"/>
              </a:spcBef>
              <a:spcAft>
                <a:spcPts val="600"/>
              </a:spcAft>
              <a:buClr>
                <a:schemeClr val="accent2"/>
              </a:buClr>
              <a:buSzPct val="92000"/>
              <a:buFont typeface="Wingdings 2" panose="05020102010507070707" pitchFamily="18" charset="2"/>
              <a:buChar char=""/>
            </a:pPr>
            <a:r>
              <a:rPr lang="es-ES" dirty="0">
                <a:solidFill>
                  <a:schemeClr val="tx2"/>
                </a:solidFill>
              </a:rPr>
              <a:t>A medida que crece el documento se vuelve más ilegible</a:t>
            </a:r>
          </a:p>
          <a:p>
            <a:pPr indent="-306000" defTabSz="457200">
              <a:spcBef>
                <a:spcPct val="20000"/>
              </a:spcBef>
              <a:spcAft>
                <a:spcPts val="600"/>
              </a:spcAft>
              <a:buClr>
                <a:schemeClr val="accent2"/>
              </a:buClr>
              <a:buSzPct val="92000"/>
              <a:buFont typeface="Wingdings 2" panose="05020102010507070707" pitchFamily="18" charset="2"/>
              <a:buChar char=""/>
            </a:pPr>
            <a:r>
              <a:rPr lang="es-ES" dirty="0">
                <a:solidFill>
                  <a:schemeClr val="tx2"/>
                </a:solidFill>
              </a:rPr>
              <a:t>Dificulta el mantenimiento</a:t>
            </a:r>
          </a:p>
          <a:p>
            <a:pPr indent="-306000" defTabSz="457200">
              <a:spcBef>
                <a:spcPct val="20000"/>
              </a:spcBef>
              <a:spcAft>
                <a:spcPts val="600"/>
              </a:spcAft>
              <a:buClr>
                <a:schemeClr val="accent2"/>
              </a:buClr>
              <a:buSzPct val="92000"/>
              <a:buFont typeface="Wingdings 2" panose="05020102010507070707" pitchFamily="18" charset="2"/>
              <a:buChar char=""/>
            </a:pPr>
            <a:r>
              <a:rPr lang="es-ES" dirty="0">
                <a:solidFill>
                  <a:schemeClr val="tx2"/>
                </a:solidFill>
              </a:rPr>
              <a:t>Nula reutilización</a:t>
            </a:r>
          </a:p>
        </p:txBody>
      </p:sp>
      <p:sp>
        <p:nvSpPr>
          <p:cNvPr id="8" name="Marcador de contenido 2">
            <a:extLst>
              <a:ext uri="{FF2B5EF4-FFF2-40B4-BE49-F238E27FC236}">
                <a16:creationId xmlns:a16="http://schemas.microsoft.com/office/drawing/2014/main" id="{70742B45-37B6-57BC-1E50-4DFD59C662D4}"/>
              </a:ext>
            </a:extLst>
          </p:cNvPr>
          <p:cNvSpPr txBox="1">
            <a:spLocks/>
          </p:cNvSpPr>
          <p:nvPr/>
        </p:nvSpPr>
        <p:spPr>
          <a:xfrm>
            <a:off x="278977" y="1177871"/>
            <a:ext cx="5129796" cy="4748463"/>
          </a:xfrm>
          <a:prstGeom prst="rect">
            <a:avLst/>
          </a:prstGeom>
        </p:spPr>
        <p:txBody>
          <a:bodyPr>
            <a:normAutofit/>
          </a:bodyPr>
          <a:lst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400" b="0" dirty="0">
                <a:solidFill>
                  <a:srgbClr val="808080"/>
                </a:solidFill>
                <a:latin typeface="+mn-lt"/>
              </a:rPr>
              <a:t>&lt;!</a:t>
            </a:r>
            <a:r>
              <a:rPr lang="es-ES" sz="1400" b="0" dirty="0">
                <a:solidFill>
                  <a:srgbClr val="569CD6"/>
                </a:solidFill>
                <a:latin typeface="+mn-lt"/>
              </a:rPr>
              <a:t>DOCTYPE</a:t>
            </a:r>
            <a:r>
              <a:rPr lang="es-ES" sz="1400" b="0" dirty="0">
                <a:solidFill>
                  <a:srgbClr val="D4D4D4"/>
                </a:solidFill>
                <a:latin typeface="+mn-lt"/>
              </a:rPr>
              <a:t> </a:t>
            </a:r>
            <a:r>
              <a:rPr lang="es-ES" sz="1400" b="0" dirty="0" err="1">
                <a:solidFill>
                  <a:srgbClr val="9CDCFE"/>
                </a:solidFill>
                <a:latin typeface="+mn-lt"/>
              </a:rPr>
              <a:t>html</a:t>
            </a:r>
            <a:r>
              <a:rPr lang="es-ES" sz="1400" b="0" dirty="0">
                <a:solidFill>
                  <a:srgbClr val="808080"/>
                </a:solidFill>
                <a:latin typeface="+mn-lt"/>
              </a:rPr>
              <a:t>&gt;</a:t>
            </a:r>
            <a:endParaRPr lang="es-ES" sz="1400" b="0" dirty="0">
              <a:solidFill>
                <a:srgbClr val="D4D4D4"/>
              </a:solidFill>
              <a:latin typeface="+mn-lt"/>
            </a:endParaRPr>
          </a:p>
          <a:p>
            <a:pPr defTabSz="449263">
              <a:tabLst>
                <a:tab pos="449263" algn="l"/>
              </a:tabLst>
            </a:pPr>
            <a:r>
              <a:rPr lang="es-ES" sz="1400" b="0" dirty="0">
                <a:solidFill>
                  <a:srgbClr val="808080"/>
                </a:solidFill>
                <a:latin typeface="+mn-lt"/>
              </a:rPr>
              <a:t>&lt;</a:t>
            </a:r>
            <a:r>
              <a:rPr lang="es-ES" sz="1400" b="0" dirty="0" err="1">
                <a:solidFill>
                  <a:srgbClr val="569CD6"/>
                </a:solidFill>
                <a:latin typeface="+mn-lt"/>
              </a:rPr>
              <a:t>html</a:t>
            </a:r>
            <a:r>
              <a:rPr lang="es-ES" sz="1400" b="0" dirty="0">
                <a:solidFill>
                  <a:srgbClr val="808080"/>
                </a:solidFill>
                <a:latin typeface="+mn-lt"/>
              </a:rPr>
              <a:t>&gt;</a:t>
            </a:r>
          </a:p>
          <a:p>
            <a:pPr defTabSz="449263">
              <a:tabLst>
                <a:tab pos="449263" algn="l"/>
              </a:tabLst>
            </a:pPr>
            <a:r>
              <a:rPr lang="es-ES" sz="1400" b="0" dirty="0">
                <a:solidFill>
                  <a:srgbClr val="808080"/>
                </a:solidFill>
                <a:latin typeface="+mn-lt"/>
              </a:rPr>
              <a:t>	&lt;</a:t>
            </a:r>
            <a:r>
              <a:rPr lang="es-ES" sz="1400" b="0" dirty="0">
                <a:solidFill>
                  <a:srgbClr val="569CD6"/>
                </a:solidFill>
                <a:latin typeface="+mn-lt"/>
              </a:rPr>
              <a:t>head</a:t>
            </a:r>
            <a:r>
              <a:rPr lang="es-ES" sz="1400" b="0" dirty="0">
                <a:solidFill>
                  <a:srgbClr val="808080"/>
                </a:solidFill>
                <a:latin typeface="+mn-lt"/>
              </a:rPr>
              <a:t>&gt;</a:t>
            </a:r>
            <a:endParaRPr lang="es-ES" sz="1400" b="0" dirty="0">
              <a:solidFill>
                <a:srgbClr val="D4D4D4"/>
              </a:solidFill>
              <a:latin typeface="+mn-lt"/>
            </a:endParaRPr>
          </a:p>
          <a:p>
            <a:r>
              <a:rPr lang="es-ES" sz="1400" b="0" dirty="0">
                <a:solidFill>
                  <a:srgbClr val="808080"/>
                </a:solidFill>
                <a:latin typeface="+mn-lt"/>
              </a:rPr>
              <a:t>	&lt;</a:t>
            </a:r>
            <a:r>
              <a:rPr lang="es-ES" sz="1400" b="0" dirty="0" err="1">
                <a:solidFill>
                  <a:srgbClr val="569CD6"/>
                </a:solidFill>
                <a:latin typeface="+mn-lt"/>
              </a:rPr>
              <a:t>title</a:t>
            </a:r>
            <a:r>
              <a:rPr lang="es-ES" sz="1400" b="0" dirty="0">
                <a:solidFill>
                  <a:srgbClr val="808080"/>
                </a:solidFill>
                <a:latin typeface="+mn-lt"/>
              </a:rPr>
              <a:t>&gt;</a:t>
            </a:r>
            <a:r>
              <a:rPr lang="es-ES" sz="1400" b="0" dirty="0">
                <a:solidFill>
                  <a:srgbClr val="D4D4D4"/>
                </a:solidFill>
                <a:latin typeface="+mn-lt"/>
              </a:rPr>
              <a:t>Mi documento</a:t>
            </a:r>
            <a:r>
              <a:rPr lang="es-ES" sz="1400" b="0" dirty="0">
                <a:solidFill>
                  <a:srgbClr val="808080"/>
                </a:solidFill>
                <a:latin typeface="+mn-lt"/>
              </a:rPr>
              <a:t>&lt;/</a:t>
            </a:r>
            <a:r>
              <a:rPr lang="es-ES" sz="1400" b="0" dirty="0" err="1">
                <a:solidFill>
                  <a:srgbClr val="569CD6"/>
                </a:solidFill>
                <a:latin typeface="+mn-lt"/>
              </a:rPr>
              <a:t>title</a:t>
            </a:r>
            <a:r>
              <a:rPr lang="es-ES" sz="1400" b="0" dirty="0">
                <a:solidFill>
                  <a:srgbClr val="808080"/>
                </a:solidFill>
                <a:latin typeface="+mn-lt"/>
              </a:rPr>
              <a:t>&gt;</a:t>
            </a:r>
            <a:endParaRPr lang="es-ES" sz="1400" b="0" dirty="0">
              <a:solidFill>
                <a:srgbClr val="D4D4D4"/>
              </a:solidFill>
              <a:latin typeface="+mn-lt"/>
            </a:endParaRPr>
          </a:p>
          <a:p>
            <a:pPr>
              <a:tabLst>
                <a:tab pos="449263" algn="l"/>
              </a:tabLst>
            </a:pPr>
            <a:r>
              <a:rPr lang="es-ES" sz="1400" b="0" dirty="0">
                <a:solidFill>
                  <a:srgbClr val="808080"/>
                </a:solidFill>
                <a:latin typeface="+mn-lt"/>
              </a:rPr>
              <a:t>	&lt;/</a:t>
            </a:r>
            <a:r>
              <a:rPr lang="es-ES" sz="1400" b="0" dirty="0">
                <a:solidFill>
                  <a:srgbClr val="569CD6"/>
                </a:solidFill>
                <a:latin typeface="+mn-lt"/>
              </a:rPr>
              <a:t>head</a:t>
            </a:r>
            <a:r>
              <a:rPr lang="es-ES" sz="1400" b="0" dirty="0">
                <a:solidFill>
                  <a:srgbClr val="808080"/>
                </a:solidFill>
                <a:latin typeface="+mn-lt"/>
              </a:rPr>
              <a:t>&gt;</a:t>
            </a:r>
            <a:endParaRPr lang="es-ES" sz="1400" b="0" dirty="0">
              <a:solidFill>
                <a:srgbClr val="D4D4D4"/>
              </a:solidFill>
              <a:latin typeface="+mn-lt"/>
            </a:endParaRPr>
          </a:p>
          <a:p>
            <a:pPr>
              <a:tabLst>
                <a:tab pos="449263" algn="l"/>
              </a:tabLst>
            </a:pPr>
            <a:r>
              <a:rPr lang="es-ES" sz="1400" b="0" dirty="0">
                <a:solidFill>
                  <a:srgbClr val="808080"/>
                </a:solidFill>
                <a:latin typeface="+mn-lt"/>
              </a:rPr>
              <a:t>	&lt;</a:t>
            </a:r>
            <a:r>
              <a:rPr lang="es-ES" sz="1400" b="0" dirty="0" err="1">
                <a:solidFill>
                  <a:srgbClr val="569CD6"/>
                </a:solidFill>
                <a:latin typeface="+mn-lt"/>
              </a:rPr>
              <a:t>body</a:t>
            </a:r>
            <a:r>
              <a:rPr lang="es-ES" sz="1400" b="0" dirty="0">
                <a:solidFill>
                  <a:srgbClr val="D4D4D4"/>
                </a:solidFill>
                <a:latin typeface="+mn-lt"/>
              </a:rPr>
              <a:t> </a:t>
            </a:r>
            <a:r>
              <a:rPr lang="es-ES" sz="1400" b="0" dirty="0" err="1">
                <a:solidFill>
                  <a:srgbClr val="9CDCFE"/>
                </a:solidFill>
                <a:latin typeface="+mn-lt"/>
              </a:rPr>
              <a:t>style</a:t>
            </a:r>
            <a:r>
              <a:rPr lang="es-ES" sz="1400" b="0" dirty="0">
                <a:solidFill>
                  <a:srgbClr val="D4D4D4"/>
                </a:solidFill>
                <a:latin typeface="+mn-lt"/>
              </a:rPr>
              <a:t>=</a:t>
            </a:r>
            <a:r>
              <a:rPr lang="es-ES" sz="1400" b="0" dirty="0">
                <a:solidFill>
                  <a:srgbClr val="CE9178"/>
                </a:solidFill>
                <a:latin typeface="+mn-lt"/>
              </a:rPr>
              <a:t>"</a:t>
            </a:r>
            <a:r>
              <a:rPr lang="es-ES" sz="1400" b="0" dirty="0" err="1">
                <a:solidFill>
                  <a:srgbClr val="CE9178"/>
                </a:solidFill>
                <a:latin typeface="+mn-lt"/>
              </a:rPr>
              <a:t>color:red</a:t>
            </a:r>
            <a:r>
              <a:rPr lang="es-ES" sz="1400" b="0" dirty="0">
                <a:solidFill>
                  <a:srgbClr val="CE9178"/>
                </a:solidFill>
                <a:latin typeface="+mn-lt"/>
              </a:rPr>
              <a:t>"</a:t>
            </a:r>
            <a:r>
              <a:rPr lang="es-ES" sz="1400" b="0" dirty="0">
                <a:solidFill>
                  <a:srgbClr val="808080"/>
                </a:solidFill>
                <a:latin typeface="+mn-lt"/>
              </a:rPr>
              <a:t>&gt;</a:t>
            </a:r>
            <a:endParaRPr lang="es-ES" sz="1400" b="0" dirty="0">
              <a:solidFill>
                <a:srgbClr val="D4D4D4"/>
              </a:solidFill>
              <a:latin typeface="+mn-lt"/>
            </a:endParaRPr>
          </a:p>
          <a:p>
            <a:r>
              <a:rPr lang="es-ES" sz="1400" b="0" dirty="0">
                <a:solidFill>
                  <a:srgbClr val="808080"/>
                </a:solidFill>
                <a:latin typeface="+mn-lt"/>
              </a:rPr>
              <a:t>	&lt;</a:t>
            </a:r>
            <a:r>
              <a:rPr lang="es-ES" sz="1400" b="0" dirty="0">
                <a:solidFill>
                  <a:srgbClr val="569CD6"/>
                </a:solidFill>
                <a:latin typeface="+mn-lt"/>
              </a:rPr>
              <a:t>p</a:t>
            </a:r>
            <a:r>
              <a:rPr lang="es-ES" sz="1400" b="0" dirty="0">
                <a:solidFill>
                  <a:srgbClr val="808080"/>
                </a:solidFill>
                <a:latin typeface="+mn-lt"/>
              </a:rPr>
              <a:t>&gt;</a:t>
            </a:r>
            <a:r>
              <a:rPr lang="es-ES" sz="1400" b="0" dirty="0">
                <a:solidFill>
                  <a:srgbClr val="D4D4D4"/>
                </a:solidFill>
                <a:latin typeface="+mn-lt"/>
              </a:rPr>
              <a:t>Mi primer párrafo</a:t>
            </a:r>
            <a:r>
              <a:rPr lang="es-ES" sz="1400" b="0" dirty="0">
                <a:solidFill>
                  <a:srgbClr val="808080"/>
                </a:solidFill>
                <a:latin typeface="+mn-lt"/>
              </a:rPr>
              <a:t>&lt;/</a:t>
            </a:r>
            <a:r>
              <a:rPr lang="es-ES" sz="1400" b="0" dirty="0">
                <a:solidFill>
                  <a:srgbClr val="569CD6"/>
                </a:solidFill>
                <a:latin typeface="+mn-lt"/>
              </a:rPr>
              <a:t>p</a:t>
            </a:r>
            <a:r>
              <a:rPr lang="es-ES" sz="1400" b="0" dirty="0">
                <a:solidFill>
                  <a:srgbClr val="808080"/>
                </a:solidFill>
                <a:latin typeface="+mn-lt"/>
              </a:rPr>
              <a:t>&gt;</a:t>
            </a:r>
            <a:endParaRPr lang="es-ES" sz="1400" b="0" dirty="0">
              <a:solidFill>
                <a:srgbClr val="D4D4D4"/>
              </a:solidFill>
              <a:latin typeface="+mn-lt"/>
            </a:endParaRPr>
          </a:p>
          <a:p>
            <a:r>
              <a:rPr lang="es-ES" sz="1400" b="0" dirty="0">
                <a:solidFill>
                  <a:srgbClr val="808080"/>
                </a:solidFill>
                <a:latin typeface="+mn-lt"/>
              </a:rPr>
              <a:t>	&lt;</a:t>
            </a:r>
            <a:r>
              <a:rPr lang="es-ES" sz="1400" b="0" dirty="0">
                <a:solidFill>
                  <a:srgbClr val="569CD6"/>
                </a:solidFill>
                <a:latin typeface="+mn-lt"/>
              </a:rPr>
              <a:t>p</a:t>
            </a:r>
            <a:r>
              <a:rPr lang="es-ES" sz="1400" b="0" dirty="0">
                <a:solidFill>
                  <a:srgbClr val="D4D4D4"/>
                </a:solidFill>
                <a:latin typeface="+mn-lt"/>
              </a:rPr>
              <a:t> </a:t>
            </a:r>
            <a:r>
              <a:rPr lang="es-ES" sz="1400" b="0" dirty="0" err="1">
                <a:solidFill>
                  <a:srgbClr val="9CDCFE"/>
                </a:solidFill>
                <a:latin typeface="+mn-lt"/>
              </a:rPr>
              <a:t>style</a:t>
            </a:r>
            <a:r>
              <a:rPr lang="es-ES" sz="1400" b="0" dirty="0">
                <a:solidFill>
                  <a:srgbClr val="D4D4D4"/>
                </a:solidFill>
                <a:latin typeface="+mn-lt"/>
              </a:rPr>
              <a:t>=</a:t>
            </a:r>
            <a:r>
              <a:rPr lang="es-ES" sz="1400" b="0" dirty="0">
                <a:solidFill>
                  <a:srgbClr val="CE9178"/>
                </a:solidFill>
                <a:latin typeface="+mn-lt"/>
              </a:rPr>
              <a:t>"</a:t>
            </a:r>
            <a:r>
              <a:rPr lang="es-ES" sz="1400" b="0" dirty="0" err="1">
                <a:solidFill>
                  <a:srgbClr val="CE9178"/>
                </a:solidFill>
                <a:latin typeface="+mn-lt"/>
              </a:rPr>
              <a:t>color:blue</a:t>
            </a:r>
            <a:r>
              <a:rPr lang="es-ES" sz="1400" b="0" dirty="0">
                <a:solidFill>
                  <a:srgbClr val="CE9178"/>
                </a:solidFill>
                <a:latin typeface="+mn-lt"/>
              </a:rPr>
              <a:t>"</a:t>
            </a:r>
            <a:r>
              <a:rPr lang="es-ES" sz="1400" b="0" dirty="0">
                <a:solidFill>
                  <a:srgbClr val="808080"/>
                </a:solidFill>
                <a:latin typeface="+mn-lt"/>
              </a:rPr>
              <a:t>&gt;</a:t>
            </a:r>
            <a:r>
              <a:rPr lang="es-ES" sz="1400" b="0" dirty="0">
                <a:solidFill>
                  <a:srgbClr val="D4D4D4"/>
                </a:solidFill>
                <a:latin typeface="+mn-lt"/>
              </a:rPr>
              <a:t>Mi segundo párrafo</a:t>
            </a:r>
            <a:r>
              <a:rPr lang="es-ES" sz="1400" b="0" dirty="0">
                <a:solidFill>
                  <a:srgbClr val="808080"/>
                </a:solidFill>
                <a:latin typeface="+mn-lt"/>
              </a:rPr>
              <a:t>&lt;/</a:t>
            </a:r>
            <a:r>
              <a:rPr lang="es-ES" sz="1400" b="0" dirty="0">
                <a:solidFill>
                  <a:srgbClr val="569CD6"/>
                </a:solidFill>
                <a:latin typeface="+mn-lt"/>
              </a:rPr>
              <a:t>p</a:t>
            </a:r>
            <a:r>
              <a:rPr lang="es-ES" sz="1400" b="0" dirty="0">
                <a:solidFill>
                  <a:srgbClr val="808080"/>
                </a:solidFill>
                <a:latin typeface="+mn-lt"/>
              </a:rPr>
              <a:t>&gt;</a:t>
            </a:r>
            <a:endParaRPr lang="es-ES" sz="1400" b="0" dirty="0">
              <a:solidFill>
                <a:srgbClr val="D4D4D4"/>
              </a:solidFill>
              <a:latin typeface="+mn-lt"/>
            </a:endParaRPr>
          </a:p>
          <a:p>
            <a:pPr>
              <a:tabLst>
                <a:tab pos="536575" algn="l"/>
              </a:tabLst>
            </a:pPr>
            <a:r>
              <a:rPr lang="es-ES" sz="1400" b="0" dirty="0">
                <a:solidFill>
                  <a:srgbClr val="808080"/>
                </a:solidFill>
                <a:latin typeface="+mn-lt"/>
              </a:rPr>
              <a:t>	&lt;/</a:t>
            </a:r>
            <a:r>
              <a:rPr lang="es-ES" sz="1400" b="0" dirty="0" err="1">
                <a:solidFill>
                  <a:srgbClr val="569CD6"/>
                </a:solidFill>
                <a:latin typeface="+mn-lt"/>
              </a:rPr>
              <a:t>body</a:t>
            </a:r>
            <a:r>
              <a:rPr lang="es-ES" sz="1400" b="0" dirty="0">
                <a:solidFill>
                  <a:srgbClr val="808080"/>
                </a:solidFill>
                <a:latin typeface="+mn-lt"/>
              </a:rPr>
              <a:t>&gt;</a:t>
            </a:r>
            <a:endParaRPr lang="es-ES" sz="1400" b="0" dirty="0">
              <a:solidFill>
                <a:srgbClr val="D4D4D4"/>
              </a:solidFill>
              <a:latin typeface="+mn-lt"/>
            </a:endParaRPr>
          </a:p>
          <a:p>
            <a:r>
              <a:rPr lang="es-ES" sz="1400" b="0" dirty="0">
                <a:solidFill>
                  <a:srgbClr val="808080"/>
                </a:solidFill>
                <a:latin typeface="+mn-lt"/>
              </a:rPr>
              <a:t>&lt;/</a:t>
            </a:r>
            <a:r>
              <a:rPr lang="es-ES" sz="1400" b="0" dirty="0" err="1">
                <a:solidFill>
                  <a:srgbClr val="569CD6"/>
                </a:solidFill>
                <a:latin typeface="+mn-lt"/>
              </a:rPr>
              <a:t>html</a:t>
            </a:r>
            <a:r>
              <a:rPr lang="es-ES" sz="1400" b="0" dirty="0">
                <a:solidFill>
                  <a:srgbClr val="808080"/>
                </a:solidFill>
                <a:latin typeface="+mn-lt"/>
              </a:rPr>
              <a:t>&gt;</a:t>
            </a:r>
            <a:endParaRPr lang="es-ES" sz="1400" b="0" dirty="0">
              <a:solidFill>
                <a:srgbClr val="D4D4D4"/>
              </a:solidFill>
              <a:latin typeface="+mn-lt"/>
            </a:endParaRPr>
          </a:p>
          <a:p>
            <a:pPr algn="l"/>
            <a:endParaRPr lang="es-ES" dirty="0">
              <a:solidFill>
                <a:srgbClr val="7030A1"/>
              </a:solidFill>
              <a:latin typeface="Calibri" panose="020F0502020204030204" pitchFamily="34" charset="0"/>
            </a:endParaRPr>
          </a:p>
        </p:txBody>
      </p:sp>
      <p:sp>
        <p:nvSpPr>
          <p:cNvPr id="9" name="CuadroTexto 8">
            <a:extLst>
              <a:ext uri="{FF2B5EF4-FFF2-40B4-BE49-F238E27FC236}">
                <a16:creationId xmlns:a16="http://schemas.microsoft.com/office/drawing/2014/main" id="{E86D6CEF-2CE4-927B-223C-D46052D7A32B}"/>
              </a:ext>
            </a:extLst>
          </p:cNvPr>
          <p:cNvSpPr txBox="1"/>
          <p:nvPr/>
        </p:nvSpPr>
        <p:spPr>
          <a:xfrm>
            <a:off x="5423338" y="1363717"/>
            <a:ext cx="3415807" cy="369332"/>
          </a:xfrm>
          <a:prstGeom prst="rect">
            <a:avLst/>
          </a:prstGeom>
          <a:noFill/>
        </p:spPr>
        <p:txBody>
          <a:bodyPr wrap="none" rtlCol="0">
            <a:spAutoFit/>
          </a:bodyPr>
          <a:lstStyle/>
          <a:p>
            <a:r>
              <a:rPr lang="es-ES" dirty="0"/>
              <a:t>1. En línea usando el atributo </a:t>
            </a:r>
            <a:r>
              <a:rPr lang="es-ES" b="1" dirty="0" err="1"/>
              <a:t>style</a:t>
            </a:r>
            <a:endParaRPr lang="es-ES" b="1" dirty="0"/>
          </a:p>
        </p:txBody>
      </p:sp>
    </p:spTree>
    <p:extLst>
      <p:ext uri="{BB962C8B-B14F-4D97-AF65-F5344CB8AC3E}">
        <p14:creationId xmlns:p14="http://schemas.microsoft.com/office/powerpoint/2010/main" val="356697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¿Cómo incluir CSS en nuestros documentos?</a:t>
            </a:r>
          </a:p>
        </p:txBody>
      </p:sp>
      <p:sp>
        <p:nvSpPr>
          <p:cNvPr id="3" name="Marcador de contenido 2">
            <a:extLst>
              <a:ext uri="{FF2B5EF4-FFF2-40B4-BE49-F238E27FC236}">
                <a16:creationId xmlns:a16="http://schemas.microsoft.com/office/drawing/2014/main" id="{51D79A55-2133-44F9-4661-9CB29384D076}"/>
              </a:ext>
            </a:extLst>
          </p:cNvPr>
          <p:cNvSpPr txBox="1">
            <a:spLocks/>
          </p:cNvSpPr>
          <p:nvPr/>
        </p:nvSpPr>
        <p:spPr>
          <a:xfrm>
            <a:off x="220246" y="1227222"/>
            <a:ext cx="4512175" cy="4010526"/>
          </a:xfrm>
          <a:prstGeom prst="rect">
            <a:avLst/>
          </a:prstGeom>
        </p:spPr>
        <p:txBody>
          <a:bodyPr>
            <a:normAutofit fontScale="47500" lnSpcReduction="20000"/>
          </a:bodyPr>
          <a:lst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DOCTYPE</a:t>
            </a:r>
            <a:r>
              <a:rPr lang="es-ES" sz="2300" b="0" dirty="0">
                <a:solidFill>
                  <a:srgbClr val="D4D4D4"/>
                </a:solidFill>
                <a:latin typeface="Consolas" panose="020B0609020204030204" pitchFamily="49" charset="0"/>
              </a:rPr>
              <a:t> </a:t>
            </a:r>
            <a:r>
              <a:rPr lang="es-ES" sz="2300" b="0" dirty="0" err="1">
                <a:solidFill>
                  <a:srgbClr val="9CDCFE"/>
                </a:solidFill>
                <a:latin typeface="Consolas" panose="020B0609020204030204" pitchFamily="49" charset="0"/>
              </a:rPr>
              <a:t>html</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html</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head</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D4D4D4"/>
                </a:solidFill>
                <a:latin typeface="Consolas" panose="020B0609020204030204" pitchFamily="49" charset="0"/>
              </a:rPr>
              <a:t>    </a:t>
            </a:r>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style</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D4D4D4"/>
                </a:solidFill>
                <a:latin typeface="Consolas" panose="020B0609020204030204" pitchFamily="49" charset="0"/>
              </a:rPr>
              <a:t>       </a:t>
            </a:r>
            <a:r>
              <a:rPr lang="es-ES" sz="2300" b="0" dirty="0">
                <a:solidFill>
                  <a:srgbClr val="D7BA7D"/>
                </a:solidFill>
                <a:latin typeface="Consolas" panose="020B0609020204030204" pitchFamily="49" charset="0"/>
              </a:rPr>
              <a:t>p</a:t>
            </a:r>
            <a:r>
              <a:rPr lang="es-ES" sz="2300" b="0" dirty="0">
                <a:solidFill>
                  <a:srgbClr val="D4D4D4"/>
                </a:solidFill>
                <a:latin typeface="Consolas" panose="020B0609020204030204" pitchFamily="49" charset="0"/>
              </a:rPr>
              <a:t>{</a:t>
            </a:r>
            <a:r>
              <a:rPr lang="es-ES" sz="2300" b="0" dirty="0" err="1">
                <a:solidFill>
                  <a:srgbClr val="9CDCFE"/>
                </a:solidFill>
                <a:latin typeface="Consolas" panose="020B0609020204030204" pitchFamily="49" charset="0"/>
              </a:rPr>
              <a:t>color</a:t>
            </a:r>
            <a:r>
              <a:rPr lang="es-ES" sz="2300" b="0" dirty="0" err="1">
                <a:solidFill>
                  <a:srgbClr val="D4D4D4"/>
                </a:solidFill>
                <a:latin typeface="Consolas" panose="020B0609020204030204" pitchFamily="49" charset="0"/>
              </a:rPr>
              <a:t>:</a:t>
            </a:r>
            <a:r>
              <a:rPr lang="es-ES" sz="2300" b="0" dirty="0" err="1">
                <a:solidFill>
                  <a:srgbClr val="CE9178"/>
                </a:solidFill>
                <a:latin typeface="Consolas" panose="020B0609020204030204" pitchFamily="49" charset="0"/>
              </a:rPr>
              <a:t>red</a:t>
            </a:r>
            <a:r>
              <a:rPr lang="es-ES" sz="2300" b="0" dirty="0">
                <a:solidFill>
                  <a:srgbClr val="D4D4D4"/>
                </a:solidFill>
                <a:latin typeface="Consolas" panose="020B0609020204030204" pitchFamily="49" charset="0"/>
              </a:rPr>
              <a:t>;}</a:t>
            </a:r>
          </a:p>
          <a:p>
            <a:r>
              <a:rPr lang="es-ES" sz="2300" b="0" dirty="0">
                <a:solidFill>
                  <a:srgbClr val="D4D4D4"/>
                </a:solidFill>
                <a:latin typeface="Consolas" panose="020B0609020204030204" pitchFamily="49" charset="0"/>
              </a:rPr>
              <a:t>        </a:t>
            </a:r>
            <a:r>
              <a:rPr lang="es-ES" sz="2300" b="0" dirty="0">
                <a:solidFill>
                  <a:srgbClr val="D7BA7D"/>
                </a:solidFill>
                <a:latin typeface="Consolas" panose="020B0609020204030204" pitchFamily="49" charset="0"/>
              </a:rPr>
              <a:t>h1</a:t>
            </a:r>
            <a:r>
              <a:rPr lang="es-ES" sz="2300" b="0" dirty="0">
                <a:solidFill>
                  <a:srgbClr val="D4D4D4"/>
                </a:solidFill>
                <a:latin typeface="Consolas" panose="020B0609020204030204" pitchFamily="49" charset="0"/>
              </a:rPr>
              <a:t>{</a:t>
            </a:r>
            <a:r>
              <a:rPr lang="es-ES" sz="2300" b="0" dirty="0" err="1">
                <a:solidFill>
                  <a:srgbClr val="9CDCFE"/>
                </a:solidFill>
                <a:latin typeface="Consolas" panose="020B0609020204030204" pitchFamily="49" charset="0"/>
              </a:rPr>
              <a:t>background</a:t>
            </a:r>
            <a:r>
              <a:rPr lang="es-ES" sz="2300" b="0" dirty="0">
                <a:solidFill>
                  <a:srgbClr val="9CDCFE"/>
                </a:solidFill>
                <a:latin typeface="Consolas" panose="020B0609020204030204" pitchFamily="49" charset="0"/>
              </a:rPr>
              <a:t>-color</a:t>
            </a:r>
            <a:r>
              <a:rPr lang="es-ES" sz="2300" b="0" dirty="0">
                <a:solidFill>
                  <a:srgbClr val="D4D4D4"/>
                </a:solidFill>
                <a:latin typeface="Consolas" panose="020B0609020204030204" pitchFamily="49" charset="0"/>
              </a:rPr>
              <a:t>: </a:t>
            </a:r>
            <a:r>
              <a:rPr lang="es-ES" sz="2300" b="0" dirty="0">
                <a:solidFill>
                  <a:srgbClr val="CE9178"/>
                </a:solidFill>
                <a:latin typeface="Consolas" panose="020B0609020204030204" pitchFamily="49" charset="0"/>
              </a:rPr>
              <a:t>blue</a:t>
            </a:r>
            <a:r>
              <a:rPr lang="es-ES" sz="2300" b="0" dirty="0">
                <a:solidFill>
                  <a:srgbClr val="D4D4D4"/>
                </a:solidFill>
                <a:latin typeface="Consolas" panose="020B0609020204030204" pitchFamily="49" charset="0"/>
              </a:rPr>
              <a:t>; </a:t>
            </a:r>
            <a:r>
              <a:rPr lang="es-ES" sz="2300" b="0" dirty="0" err="1">
                <a:solidFill>
                  <a:srgbClr val="9CDCFE"/>
                </a:solidFill>
                <a:latin typeface="Consolas" panose="020B0609020204030204" pitchFamily="49" charset="0"/>
              </a:rPr>
              <a:t>color</a:t>
            </a:r>
            <a:r>
              <a:rPr lang="es-ES" sz="2300" b="0" dirty="0" err="1">
                <a:solidFill>
                  <a:srgbClr val="D4D4D4"/>
                </a:solidFill>
                <a:latin typeface="Consolas" panose="020B0609020204030204" pitchFamily="49" charset="0"/>
              </a:rPr>
              <a:t>:</a:t>
            </a:r>
            <a:r>
              <a:rPr lang="es-ES" sz="2300" b="0" dirty="0" err="1">
                <a:solidFill>
                  <a:srgbClr val="CE9178"/>
                </a:solidFill>
                <a:latin typeface="Consolas" panose="020B0609020204030204" pitchFamily="49" charset="0"/>
              </a:rPr>
              <a:t>yellow</a:t>
            </a:r>
            <a:r>
              <a:rPr lang="es-ES" sz="2300" b="0" dirty="0">
                <a:solidFill>
                  <a:srgbClr val="D4D4D4"/>
                </a:solidFill>
                <a:latin typeface="Consolas" panose="020B0609020204030204" pitchFamily="49" charset="0"/>
              </a:rPr>
              <a:t>}</a:t>
            </a:r>
          </a:p>
          <a:p>
            <a:r>
              <a:rPr lang="es-ES" sz="2300" b="0" dirty="0">
                <a:solidFill>
                  <a:srgbClr val="D4D4D4"/>
                </a:solidFill>
                <a:latin typeface="Consolas" panose="020B0609020204030204" pitchFamily="49" charset="0"/>
              </a:rPr>
              <a:t>    </a:t>
            </a:r>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style</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head</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body</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D4D4D4"/>
                </a:solidFill>
                <a:latin typeface="Consolas" panose="020B0609020204030204" pitchFamily="49" charset="0"/>
              </a:rPr>
              <a:t>    </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p</a:t>
            </a:r>
            <a:r>
              <a:rPr lang="es-ES" sz="2300" b="0" dirty="0">
                <a:solidFill>
                  <a:srgbClr val="808080"/>
                </a:solidFill>
                <a:latin typeface="Consolas" panose="020B0609020204030204" pitchFamily="49" charset="0"/>
              </a:rPr>
              <a:t>&gt;</a:t>
            </a:r>
            <a:r>
              <a:rPr lang="es-ES" sz="2300" b="0" dirty="0">
                <a:solidFill>
                  <a:srgbClr val="D4D4D4"/>
                </a:solidFill>
                <a:latin typeface="Consolas" panose="020B0609020204030204" pitchFamily="49" charset="0"/>
              </a:rPr>
              <a:t>Mi primer párrafo</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p</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D4D4D4"/>
                </a:solidFill>
                <a:latin typeface="Consolas" panose="020B0609020204030204" pitchFamily="49" charset="0"/>
              </a:rPr>
              <a:t>    </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p</a:t>
            </a:r>
            <a:r>
              <a:rPr lang="es-ES" sz="2300" b="0" dirty="0">
                <a:solidFill>
                  <a:srgbClr val="808080"/>
                </a:solidFill>
                <a:latin typeface="Consolas" panose="020B0609020204030204" pitchFamily="49" charset="0"/>
              </a:rPr>
              <a:t>&gt;</a:t>
            </a:r>
            <a:r>
              <a:rPr lang="es-ES" sz="2300" b="0" dirty="0">
                <a:solidFill>
                  <a:srgbClr val="D4D4D4"/>
                </a:solidFill>
                <a:latin typeface="Consolas" panose="020B0609020204030204" pitchFamily="49" charset="0"/>
              </a:rPr>
              <a:t>Mi segundo párrafo</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p</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D4D4D4"/>
                </a:solidFill>
                <a:latin typeface="Consolas" panose="020B0609020204030204" pitchFamily="49" charset="0"/>
              </a:rPr>
              <a:t>    </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h1</a:t>
            </a:r>
            <a:r>
              <a:rPr lang="es-ES" sz="2300" b="0" dirty="0">
                <a:solidFill>
                  <a:srgbClr val="808080"/>
                </a:solidFill>
                <a:latin typeface="Consolas" panose="020B0609020204030204" pitchFamily="49" charset="0"/>
              </a:rPr>
              <a:t>&gt;</a:t>
            </a:r>
            <a:r>
              <a:rPr lang="es-ES" sz="2300" b="0" dirty="0">
                <a:solidFill>
                  <a:srgbClr val="D4D4D4"/>
                </a:solidFill>
                <a:latin typeface="Consolas" panose="020B0609020204030204" pitchFamily="49" charset="0"/>
              </a:rPr>
              <a:t>Una cabecera</a:t>
            </a:r>
            <a:r>
              <a:rPr lang="es-ES" sz="2300" b="0" dirty="0">
                <a:solidFill>
                  <a:srgbClr val="808080"/>
                </a:solidFill>
                <a:latin typeface="Consolas" panose="020B0609020204030204" pitchFamily="49" charset="0"/>
              </a:rPr>
              <a:t>&lt;/</a:t>
            </a:r>
            <a:r>
              <a:rPr lang="es-ES" sz="2300" b="0" dirty="0">
                <a:solidFill>
                  <a:srgbClr val="569CD6"/>
                </a:solidFill>
                <a:latin typeface="Consolas" panose="020B0609020204030204" pitchFamily="49" charset="0"/>
              </a:rPr>
              <a:t>h1</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body</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r>
              <a:rPr lang="es-ES" sz="2300" b="0" dirty="0">
                <a:solidFill>
                  <a:srgbClr val="808080"/>
                </a:solidFill>
                <a:latin typeface="Consolas" panose="020B0609020204030204" pitchFamily="49" charset="0"/>
              </a:rPr>
              <a:t>&lt;/</a:t>
            </a:r>
            <a:r>
              <a:rPr lang="es-ES" sz="2300" b="0" dirty="0" err="1">
                <a:solidFill>
                  <a:srgbClr val="569CD6"/>
                </a:solidFill>
                <a:latin typeface="Consolas" panose="020B0609020204030204" pitchFamily="49" charset="0"/>
              </a:rPr>
              <a:t>html</a:t>
            </a:r>
            <a:r>
              <a:rPr lang="es-ES" sz="2300" b="0" dirty="0">
                <a:solidFill>
                  <a:srgbClr val="808080"/>
                </a:solidFill>
                <a:latin typeface="Consolas" panose="020B0609020204030204" pitchFamily="49" charset="0"/>
              </a:rPr>
              <a:t>&gt;</a:t>
            </a:r>
            <a:endParaRPr lang="es-ES" sz="2300" b="0" dirty="0">
              <a:solidFill>
                <a:srgbClr val="D4D4D4"/>
              </a:solidFill>
              <a:latin typeface="Consolas" panose="020B0609020204030204" pitchFamily="49" charset="0"/>
            </a:endParaRPr>
          </a:p>
          <a:p>
            <a:pPr algn="l"/>
            <a:endParaRPr lang="es-ES" dirty="0">
              <a:solidFill>
                <a:srgbClr val="7030A1"/>
              </a:solidFill>
              <a:latin typeface="Calibri" panose="020F0502020204030204" pitchFamily="34" charset="0"/>
            </a:endParaRPr>
          </a:p>
        </p:txBody>
      </p:sp>
      <p:sp>
        <p:nvSpPr>
          <p:cNvPr id="4" name="CuadroTexto 3">
            <a:extLst>
              <a:ext uri="{FF2B5EF4-FFF2-40B4-BE49-F238E27FC236}">
                <a16:creationId xmlns:a16="http://schemas.microsoft.com/office/drawing/2014/main" id="{AB19C472-95A7-A2CE-A7C9-89894860B381}"/>
              </a:ext>
            </a:extLst>
          </p:cNvPr>
          <p:cNvSpPr txBox="1"/>
          <p:nvPr/>
        </p:nvSpPr>
        <p:spPr>
          <a:xfrm>
            <a:off x="4347411" y="2257024"/>
            <a:ext cx="5121851" cy="1188018"/>
          </a:xfrm>
          <a:prstGeom prst="rect">
            <a:avLst/>
          </a:prstGeom>
          <a:noFill/>
        </p:spPr>
        <p:txBody>
          <a:bodyPr wrap="square" rtlCol="0">
            <a:spAutoFit/>
          </a:bodyPr>
          <a:lstStyle/>
          <a:p>
            <a:pPr marL="285750" indent="-285750" defTabSz="457200">
              <a:spcBef>
                <a:spcPct val="20000"/>
              </a:spcBef>
              <a:spcAft>
                <a:spcPts val="600"/>
              </a:spcAft>
              <a:buClr>
                <a:schemeClr val="accent2"/>
              </a:buClr>
              <a:buSzPct val="92000"/>
              <a:buFont typeface="Arial" panose="020B0604020202020204" pitchFamily="34" charset="0"/>
              <a:buChar char="•"/>
            </a:pPr>
            <a:r>
              <a:rPr lang="es-ES" dirty="0">
                <a:solidFill>
                  <a:schemeClr val="tx2"/>
                </a:solidFill>
                <a:latin typeface="Cambria" panose="02040503050406030204" pitchFamily="18" charset="0"/>
              </a:rPr>
              <a:t>Queda más ordenado que el ejemplo anterior</a:t>
            </a:r>
          </a:p>
          <a:p>
            <a:pPr marL="285750" indent="-285750" defTabSz="457200">
              <a:spcBef>
                <a:spcPct val="20000"/>
              </a:spcBef>
              <a:spcAft>
                <a:spcPts val="600"/>
              </a:spcAft>
              <a:buClr>
                <a:schemeClr val="accent2"/>
              </a:buClr>
              <a:buSzPct val="92000"/>
              <a:buFont typeface="Arial" panose="020B0604020202020204" pitchFamily="34" charset="0"/>
              <a:buChar char="•"/>
            </a:pPr>
            <a:r>
              <a:rPr lang="es-ES" dirty="0">
                <a:solidFill>
                  <a:schemeClr val="tx2"/>
                </a:solidFill>
                <a:latin typeface="Cambria" panose="02040503050406030204" pitchFamily="18" charset="0"/>
              </a:rPr>
              <a:t>No estamos separando el contenido del aspecto</a:t>
            </a:r>
          </a:p>
          <a:p>
            <a:pPr marL="285750" indent="-285750" defTabSz="457200">
              <a:spcBef>
                <a:spcPct val="20000"/>
              </a:spcBef>
              <a:spcAft>
                <a:spcPts val="600"/>
              </a:spcAft>
              <a:buClr>
                <a:schemeClr val="accent2"/>
              </a:buClr>
              <a:buSzPct val="92000"/>
              <a:buFont typeface="Arial" panose="020B0604020202020204" pitchFamily="34" charset="0"/>
              <a:buChar char="•"/>
            </a:pPr>
            <a:r>
              <a:rPr lang="es-ES" dirty="0">
                <a:solidFill>
                  <a:schemeClr val="tx2"/>
                </a:solidFill>
                <a:latin typeface="Cambria" panose="02040503050406030204" pitchFamily="18" charset="0"/>
              </a:rPr>
              <a:t>No permite reutilización</a:t>
            </a:r>
          </a:p>
        </p:txBody>
      </p:sp>
      <p:sp>
        <p:nvSpPr>
          <p:cNvPr id="5" name="CuadroTexto 4">
            <a:extLst>
              <a:ext uri="{FF2B5EF4-FFF2-40B4-BE49-F238E27FC236}">
                <a16:creationId xmlns:a16="http://schemas.microsoft.com/office/drawing/2014/main" id="{85F57B96-6FC2-67B1-1D5D-F9A2613906CD}"/>
              </a:ext>
            </a:extLst>
          </p:cNvPr>
          <p:cNvSpPr txBox="1"/>
          <p:nvPr/>
        </p:nvSpPr>
        <p:spPr>
          <a:xfrm>
            <a:off x="4564117" y="1631731"/>
            <a:ext cx="3797899" cy="369332"/>
          </a:xfrm>
          <a:prstGeom prst="rect">
            <a:avLst/>
          </a:prstGeom>
          <a:noFill/>
        </p:spPr>
        <p:txBody>
          <a:bodyPr wrap="none" rtlCol="0">
            <a:spAutoFit/>
          </a:bodyPr>
          <a:lstStyle/>
          <a:p>
            <a:r>
              <a:rPr lang="es-ES" dirty="0"/>
              <a:t>2. Como contenido de la etiqueta </a:t>
            </a:r>
            <a:r>
              <a:rPr lang="es-ES" b="1" dirty="0" err="1"/>
              <a:t>style</a:t>
            </a:r>
            <a:endParaRPr lang="es-ES" b="1" dirty="0"/>
          </a:p>
        </p:txBody>
      </p:sp>
    </p:spTree>
    <p:extLst>
      <p:ext uri="{BB962C8B-B14F-4D97-AF65-F5344CB8AC3E}">
        <p14:creationId xmlns:p14="http://schemas.microsoft.com/office/powerpoint/2010/main" val="2066271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¿Cómo incluir CSS en nuestros documentos?</a:t>
            </a:r>
          </a:p>
        </p:txBody>
      </p:sp>
      <p:sp>
        <p:nvSpPr>
          <p:cNvPr id="6" name="CuadroTexto 5">
            <a:extLst>
              <a:ext uri="{FF2B5EF4-FFF2-40B4-BE49-F238E27FC236}">
                <a16:creationId xmlns:a16="http://schemas.microsoft.com/office/drawing/2014/main" id="{2661301D-44FC-DB2F-D705-941FF17A33D3}"/>
              </a:ext>
            </a:extLst>
          </p:cNvPr>
          <p:cNvSpPr txBox="1"/>
          <p:nvPr/>
        </p:nvSpPr>
        <p:spPr>
          <a:xfrm>
            <a:off x="438887" y="1841335"/>
            <a:ext cx="6096000" cy="3139321"/>
          </a:xfrm>
          <a:prstGeom prst="rect">
            <a:avLst/>
          </a:prstGeom>
          <a:noFill/>
        </p:spPr>
        <p:txBody>
          <a:bodyPr wrap="square">
            <a:spAutoFit/>
          </a:bodyPr>
          <a:lstStyle/>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DOCTYPE</a:t>
            </a:r>
            <a:r>
              <a:rPr lang="es-ES" b="0" dirty="0">
                <a:solidFill>
                  <a:srgbClr val="D4D4D4"/>
                </a:solidFill>
                <a:effectLst/>
                <a:latin typeface="Consolas" panose="020B0609020204030204" pitchFamily="49" charset="0"/>
              </a:rPr>
              <a:t> </a:t>
            </a:r>
            <a:r>
              <a:rPr lang="es-ES" b="0" dirty="0" err="1">
                <a:solidFill>
                  <a:srgbClr val="9CDCFE"/>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1" dirty="0">
                <a:solidFill>
                  <a:srgbClr val="D4D4D4"/>
                </a:solidFill>
                <a:effectLst/>
                <a:latin typeface="Consolas" panose="020B0609020204030204" pitchFamily="49" charset="0"/>
              </a:rPr>
              <a:t>    </a:t>
            </a:r>
            <a:r>
              <a:rPr lang="es-ES" b="1" dirty="0">
                <a:solidFill>
                  <a:srgbClr val="808080"/>
                </a:solidFill>
                <a:effectLst/>
                <a:latin typeface="Consolas" panose="020B0609020204030204" pitchFamily="49" charset="0"/>
              </a:rPr>
              <a:t>&lt;</a:t>
            </a:r>
            <a:r>
              <a:rPr lang="es-ES" b="1" dirty="0">
                <a:solidFill>
                  <a:srgbClr val="569CD6"/>
                </a:solidFill>
                <a:effectLst/>
                <a:latin typeface="Consolas" panose="020B0609020204030204" pitchFamily="49" charset="0"/>
              </a:rPr>
              <a:t>link</a:t>
            </a:r>
            <a:r>
              <a:rPr lang="es-ES" b="1" dirty="0">
                <a:solidFill>
                  <a:srgbClr val="D4D4D4"/>
                </a:solidFill>
                <a:effectLst/>
                <a:latin typeface="Consolas" panose="020B0609020204030204" pitchFamily="49" charset="0"/>
              </a:rPr>
              <a:t> </a:t>
            </a:r>
            <a:r>
              <a:rPr lang="es-ES" b="1" dirty="0" err="1">
                <a:solidFill>
                  <a:srgbClr val="9CDCFE"/>
                </a:solidFill>
                <a:effectLst/>
                <a:latin typeface="Consolas" panose="020B0609020204030204" pitchFamily="49" charset="0"/>
              </a:rPr>
              <a:t>rel</a:t>
            </a:r>
            <a:r>
              <a:rPr lang="es-ES" b="1" dirty="0">
                <a:solidFill>
                  <a:srgbClr val="D4D4D4"/>
                </a:solidFill>
                <a:effectLst/>
                <a:latin typeface="Consolas" panose="020B0609020204030204" pitchFamily="49" charset="0"/>
              </a:rPr>
              <a:t>=</a:t>
            </a:r>
            <a:r>
              <a:rPr lang="es-ES" b="1" dirty="0">
                <a:solidFill>
                  <a:srgbClr val="CE9178"/>
                </a:solidFill>
                <a:effectLst/>
                <a:latin typeface="Consolas" panose="020B0609020204030204" pitchFamily="49" charset="0"/>
              </a:rPr>
              <a:t>"</a:t>
            </a:r>
            <a:r>
              <a:rPr lang="es-ES" b="1" dirty="0" err="1">
                <a:solidFill>
                  <a:srgbClr val="CE9178"/>
                </a:solidFill>
                <a:effectLst/>
                <a:latin typeface="Consolas" panose="020B0609020204030204" pitchFamily="49" charset="0"/>
              </a:rPr>
              <a:t>stylesheet</a:t>
            </a:r>
            <a:r>
              <a:rPr lang="es-ES" b="1" dirty="0">
                <a:solidFill>
                  <a:srgbClr val="CE9178"/>
                </a:solidFill>
                <a:effectLst/>
                <a:latin typeface="Consolas" panose="020B0609020204030204" pitchFamily="49" charset="0"/>
              </a:rPr>
              <a:t>"</a:t>
            </a:r>
            <a:r>
              <a:rPr lang="es-ES" b="1" dirty="0">
                <a:solidFill>
                  <a:srgbClr val="D4D4D4"/>
                </a:solidFill>
                <a:effectLst/>
                <a:latin typeface="Consolas" panose="020B0609020204030204" pitchFamily="49" charset="0"/>
              </a:rPr>
              <a:t> </a:t>
            </a:r>
            <a:r>
              <a:rPr lang="es-ES" b="1" dirty="0" err="1">
                <a:solidFill>
                  <a:srgbClr val="9CDCFE"/>
                </a:solidFill>
                <a:effectLst/>
                <a:latin typeface="Consolas" panose="020B0609020204030204" pitchFamily="49" charset="0"/>
              </a:rPr>
              <a:t>href</a:t>
            </a:r>
            <a:r>
              <a:rPr lang="es-ES" b="1" dirty="0">
                <a:solidFill>
                  <a:srgbClr val="D4D4D4"/>
                </a:solidFill>
                <a:effectLst/>
                <a:latin typeface="Consolas" panose="020B0609020204030204" pitchFamily="49" charset="0"/>
              </a:rPr>
              <a:t>=</a:t>
            </a:r>
            <a:r>
              <a:rPr lang="es-ES" b="1" dirty="0">
                <a:solidFill>
                  <a:srgbClr val="CE9178"/>
                </a:solidFill>
                <a:effectLst/>
                <a:latin typeface="Consolas" panose="020B0609020204030204" pitchFamily="49" charset="0"/>
              </a:rPr>
              <a:t>"formato.css"</a:t>
            </a:r>
            <a:r>
              <a:rPr lang="es-ES" b="1" dirty="0">
                <a:solidFill>
                  <a:srgbClr val="808080"/>
                </a:solidFill>
                <a:effectLst/>
                <a:latin typeface="Consolas" panose="020B0609020204030204" pitchFamily="49" charset="0"/>
              </a:rPr>
              <a:t>/&gt;</a:t>
            </a:r>
            <a:endParaRPr lang="es-ES" b="1"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head</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D4D4D4"/>
                </a:solidFill>
                <a:effectLst/>
                <a:latin typeface="Consolas" panose="020B0609020204030204" pitchFamily="49" charset="0"/>
              </a:rPr>
              <a:t>Mi primer párrafo</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r>
              <a:rPr lang="es-ES" b="0" dirty="0">
                <a:solidFill>
                  <a:srgbClr val="D4D4D4"/>
                </a:solidFill>
                <a:effectLst/>
                <a:latin typeface="Consolas" panose="020B0609020204030204" pitchFamily="49" charset="0"/>
              </a:rPr>
              <a:t>Mi segundo párrafo</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p</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h1</a:t>
            </a:r>
            <a:r>
              <a:rPr lang="es-ES" b="0" dirty="0">
                <a:solidFill>
                  <a:srgbClr val="808080"/>
                </a:solidFill>
                <a:effectLst/>
                <a:latin typeface="Consolas" panose="020B0609020204030204" pitchFamily="49" charset="0"/>
              </a:rPr>
              <a:t>&gt;</a:t>
            </a:r>
            <a:r>
              <a:rPr lang="es-ES" b="0" dirty="0">
                <a:solidFill>
                  <a:srgbClr val="D4D4D4"/>
                </a:solidFill>
                <a:effectLst/>
                <a:latin typeface="Consolas" panose="020B0609020204030204" pitchFamily="49" charset="0"/>
              </a:rPr>
              <a:t>Una cabecera</a:t>
            </a:r>
            <a:r>
              <a:rPr lang="es-ES" b="0" dirty="0">
                <a:solidFill>
                  <a:srgbClr val="808080"/>
                </a:solidFill>
                <a:effectLst/>
                <a:latin typeface="Consolas" panose="020B0609020204030204" pitchFamily="49" charset="0"/>
              </a:rPr>
              <a:t>&lt;/</a:t>
            </a:r>
            <a:r>
              <a:rPr lang="es-ES" b="0" dirty="0">
                <a:solidFill>
                  <a:srgbClr val="569CD6"/>
                </a:solidFill>
                <a:effectLst/>
                <a:latin typeface="Consolas" panose="020B0609020204030204" pitchFamily="49" charset="0"/>
              </a:rPr>
              <a:t>h1</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body</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a:p>
            <a:r>
              <a:rPr lang="es-ES" b="0" dirty="0">
                <a:solidFill>
                  <a:srgbClr val="808080"/>
                </a:solidFill>
                <a:effectLst/>
                <a:latin typeface="Consolas" panose="020B0609020204030204" pitchFamily="49" charset="0"/>
              </a:rPr>
              <a:t>&lt;/</a:t>
            </a:r>
            <a:r>
              <a:rPr lang="es-ES" b="0" dirty="0" err="1">
                <a:solidFill>
                  <a:srgbClr val="569CD6"/>
                </a:solidFill>
                <a:effectLst/>
                <a:latin typeface="Consolas" panose="020B0609020204030204" pitchFamily="49" charset="0"/>
              </a:rPr>
              <a:t>html</a:t>
            </a:r>
            <a:r>
              <a:rPr lang="es-ES" b="0" dirty="0">
                <a:solidFill>
                  <a:srgbClr val="808080"/>
                </a:solidFill>
                <a:effectLst/>
                <a:latin typeface="Consolas" panose="020B0609020204030204" pitchFamily="49" charset="0"/>
              </a:rPr>
              <a:t>&gt;</a:t>
            </a:r>
            <a:endParaRPr lang="es-ES" b="0" dirty="0">
              <a:solidFill>
                <a:srgbClr val="D4D4D4"/>
              </a:solidFill>
              <a:effectLst/>
              <a:latin typeface="Consolas" panose="020B0609020204030204" pitchFamily="49" charset="0"/>
            </a:endParaRPr>
          </a:p>
        </p:txBody>
      </p:sp>
      <p:sp>
        <p:nvSpPr>
          <p:cNvPr id="7" name="CuadroTexto 6">
            <a:extLst>
              <a:ext uri="{FF2B5EF4-FFF2-40B4-BE49-F238E27FC236}">
                <a16:creationId xmlns:a16="http://schemas.microsoft.com/office/drawing/2014/main" id="{FEA8D053-6D24-F5C0-E1EF-9670F347C4B3}"/>
              </a:ext>
            </a:extLst>
          </p:cNvPr>
          <p:cNvSpPr txBox="1"/>
          <p:nvPr/>
        </p:nvSpPr>
        <p:spPr>
          <a:xfrm>
            <a:off x="5752103" y="3052604"/>
            <a:ext cx="3461419" cy="2031325"/>
          </a:xfrm>
          <a:prstGeom prst="rect">
            <a:avLst/>
          </a:prstGeom>
          <a:noFill/>
          <a:ln>
            <a:solidFill>
              <a:schemeClr val="tx1"/>
            </a:solidFill>
          </a:ln>
        </p:spPr>
        <p:txBody>
          <a:bodyPr wrap="square">
            <a:spAutoFit/>
          </a:bodyPr>
          <a:lstStyle/>
          <a:p>
            <a:r>
              <a:rPr lang="en-US" b="1" dirty="0">
                <a:effectLst/>
                <a:latin typeface="Consolas" panose="020B0609020204030204" pitchFamily="49" charset="0"/>
              </a:rPr>
              <a:t>formato.css:</a:t>
            </a:r>
          </a:p>
          <a:p>
            <a:endParaRPr lang="en-US" b="1" dirty="0">
              <a:effectLst/>
              <a:latin typeface="Consolas" panose="020B0609020204030204" pitchFamily="49" charset="0"/>
            </a:endParaRPr>
          </a:p>
          <a:p>
            <a:r>
              <a:rPr lang="es-ES" b="0" dirty="0">
                <a:solidFill>
                  <a:srgbClr val="6A9955"/>
                </a:solidFill>
                <a:effectLst/>
                <a:latin typeface="Consolas" panose="020B0609020204030204" pitchFamily="49" charset="0"/>
              </a:rPr>
              <a:t>/* esto es un comentario en </a:t>
            </a:r>
            <a:r>
              <a:rPr lang="es-ES" b="0" dirty="0" err="1">
                <a:solidFill>
                  <a:srgbClr val="6A9955"/>
                </a:solidFill>
                <a:effectLst/>
                <a:latin typeface="Consolas" panose="020B0609020204030204" pitchFamily="49" charset="0"/>
              </a:rPr>
              <a:t>css</a:t>
            </a:r>
            <a:r>
              <a:rPr lang="es-ES" b="0" dirty="0">
                <a:solidFill>
                  <a:srgbClr val="6A9955"/>
                </a:solidFill>
                <a:effectLst/>
                <a:latin typeface="Consolas" panose="020B0609020204030204" pitchFamily="49" charset="0"/>
              </a:rPr>
              <a:t>*/</a:t>
            </a:r>
            <a:endParaRPr lang="en-US" b="1" dirty="0">
              <a:effectLst/>
              <a:latin typeface="Consolas" panose="020B0609020204030204" pitchFamily="49" charset="0"/>
            </a:endParaRPr>
          </a:p>
          <a:p>
            <a:r>
              <a:rPr lang="en-US" b="0" dirty="0">
                <a:solidFill>
                  <a:srgbClr val="D7BA7D"/>
                </a:solidFill>
                <a:effectLst/>
                <a:latin typeface="Consolas" panose="020B0609020204030204" pitchFamily="49" charset="0"/>
              </a:rPr>
              <a:t>p</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color</a:t>
            </a:r>
            <a:r>
              <a:rPr lang="en-US" b="0" dirty="0" err="1">
                <a:solidFill>
                  <a:srgbClr val="D4D4D4"/>
                </a:solidFill>
                <a:effectLst/>
                <a:latin typeface="Consolas" panose="020B0609020204030204" pitchFamily="49" charset="0"/>
              </a:rPr>
              <a:t>:</a:t>
            </a:r>
            <a:r>
              <a:rPr lang="en-US" b="0" dirty="0" err="1">
                <a:solidFill>
                  <a:srgbClr val="CE9178"/>
                </a:solidFill>
                <a:effectLst/>
                <a:latin typeface="Consolas" panose="020B0609020204030204" pitchFamily="49" charset="0"/>
              </a:rPr>
              <a:t>red</a:t>
            </a:r>
            <a:r>
              <a:rPr lang="en-US" b="0" dirty="0">
                <a:solidFill>
                  <a:srgbClr val="D4D4D4"/>
                </a:solidFill>
                <a:effectLst/>
                <a:latin typeface="Consolas" panose="020B0609020204030204" pitchFamily="49" charset="0"/>
              </a:rPr>
              <a:t>;}</a:t>
            </a:r>
          </a:p>
          <a:p>
            <a:r>
              <a:rPr lang="en-US" b="0" dirty="0">
                <a:solidFill>
                  <a:srgbClr val="D7BA7D"/>
                </a:solidFill>
                <a:effectLst/>
                <a:latin typeface="Consolas" panose="020B0609020204030204" pitchFamily="49" charset="0"/>
              </a:rPr>
              <a:t>h1</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blue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color</a:t>
            </a:r>
            <a:r>
              <a:rPr lang="en-US" b="0" dirty="0" err="1">
                <a:solidFill>
                  <a:srgbClr val="D4D4D4"/>
                </a:solidFill>
                <a:effectLst/>
                <a:latin typeface="Consolas" panose="020B0609020204030204" pitchFamily="49" charset="0"/>
              </a:rPr>
              <a:t>:</a:t>
            </a:r>
            <a:r>
              <a:rPr lang="en-US" b="0" dirty="0" err="1">
                <a:solidFill>
                  <a:srgbClr val="CE9178"/>
                </a:solidFill>
                <a:effectLst/>
                <a:latin typeface="Consolas" panose="020B0609020204030204" pitchFamily="49" charset="0"/>
              </a:rPr>
              <a:t>yellow</a:t>
            </a:r>
            <a:r>
              <a:rPr lang="en-US" b="0" dirty="0">
                <a:solidFill>
                  <a:srgbClr val="D4D4D4"/>
                </a:solidFill>
                <a:effectLst/>
                <a:latin typeface="Consolas" panose="020B0609020204030204" pitchFamily="49" charset="0"/>
              </a:rPr>
              <a:t>}</a:t>
            </a:r>
          </a:p>
        </p:txBody>
      </p:sp>
      <p:sp>
        <p:nvSpPr>
          <p:cNvPr id="8" name="CuadroTexto 7">
            <a:extLst>
              <a:ext uri="{FF2B5EF4-FFF2-40B4-BE49-F238E27FC236}">
                <a16:creationId xmlns:a16="http://schemas.microsoft.com/office/drawing/2014/main" id="{082758D8-472F-9542-1B67-22254DDA17BD}"/>
              </a:ext>
            </a:extLst>
          </p:cNvPr>
          <p:cNvSpPr txBox="1"/>
          <p:nvPr/>
        </p:nvSpPr>
        <p:spPr>
          <a:xfrm>
            <a:off x="354725" y="1206061"/>
            <a:ext cx="2911374" cy="369332"/>
          </a:xfrm>
          <a:prstGeom prst="rect">
            <a:avLst/>
          </a:prstGeom>
          <a:noFill/>
        </p:spPr>
        <p:txBody>
          <a:bodyPr wrap="none" rtlCol="0">
            <a:spAutoFit/>
          </a:bodyPr>
          <a:lstStyle/>
          <a:p>
            <a:r>
              <a:rPr lang="es-ES" dirty="0"/>
              <a:t>3. En un documento externo.</a:t>
            </a:r>
          </a:p>
        </p:txBody>
      </p:sp>
    </p:spTree>
    <p:extLst>
      <p:ext uri="{BB962C8B-B14F-4D97-AF65-F5344CB8AC3E}">
        <p14:creationId xmlns:p14="http://schemas.microsoft.com/office/powerpoint/2010/main" val="38299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Selectores básicos</a:t>
            </a:r>
          </a:p>
        </p:txBody>
      </p:sp>
      <p:graphicFrame>
        <p:nvGraphicFramePr>
          <p:cNvPr id="4" name="Tabla 3">
            <a:extLst>
              <a:ext uri="{FF2B5EF4-FFF2-40B4-BE49-F238E27FC236}">
                <a16:creationId xmlns:a16="http://schemas.microsoft.com/office/drawing/2014/main" id="{0EDC0692-2ECE-67C6-D2EB-456BCDC3EE4C}"/>
              </a:ext>
            </a:extLst>
          </p:cNvPr>
          <p:cNvGraphicFramePr>
            <a:graphicFrameLocks noGrp="1"/>
          </p:cNvGraphicFramePr>
          <p:nvPr>
            <p:extLst>
              <p:ext uri="{D42A27DB-BD31-4B8C-83A1-F6EECF244321}">
                <p14:modId xmlns:p14="http://schemas.microsoft.com/office/powerpoint/2010/main" val="1424967214"/>
              </p:ext>
            </p:extLst>
          </p:nvPr>
        </p:nvGraphicFramePr>
        <p:xfrm>
          <a:off x="600166" y="1343998"/>
          <a:ext cx="8669958" cy="2570480"/>
        </p:xfrm>
        <a:graphic>
          <a:graphicData uri="http://schemas.openxmlformats.org/drawingml/2006/table">
            <a:tbl>
              <a:tblPr firstRow="1" bandRow="1">
                <a:tableStyleId>{5C22544A-7EE6-4342-B048-85BDC9FD1C3A}</a:tableStyleId>
              </a:tblPr>
              <a:tblGrid>
                <a:gridCol w="1078862">
                  <a:extLst>
                    <a:ext uri="{9D8B030D-6E8A-4147-A177-3AD203B41FA5}">
                      <a16:colId xmlns:a16="http://schemas.microsoft.com/office/drawing/2014/main" val="519198353"/>
                    </a:ext>
                  </a:extLst>
                </a:gridCol>
                <a:gridCol w="1229710">
                  <a:extLst>
                    <a:ext uri="{9D8B030D-6E8A-4147-A177-3AD203B41FA5}">
                      <a16:colId xmlns:a16="http://schemas.microsoft.com/office/drawing/2014/main" val="2455443415"/>
                    </a:ext>
                  </a:extLst>
                </a:gridCol>
                <a:gridCol w="6361386">
                  <a:extLst>
                    <a:ext uri="{9D8B030D-6E8A-4147-A177-3AD203B41FA5}">
                      <a16:colId xmlns:a16="http://schemas.microsoft.com/office/drawing/2014/main" val="295019461"/>
                    </a:ext>
                  </a:extLst>
                </a:gridCol>
              </a:tblGrid>
              <a:tr h="370840">
                <a:tc>
                  <a:txBody>
                    <a:bodyPr/>
                    <a:lstStyle/>
                    <a:p>
                      <a:r>
                        <a:rPr lang="es-ES" dirty="0"/>
                        <a:t>Sintaxis</a:t>
                      </a:r>
                    </a:p>
                  </a:txBody>
                  <a:tcPr/>
                </a:tc>
                <a:tc>
                  <a:txBody>
                    <a:bodyPr/>
                    <a:lstStyle/>
                    <a:p>
                      <a:r>
                        <a:rPr lang="es-ES" dirty="0"/>
                        <a:t>Ejemplo </a:t>
                      </a:r>
                    </a:p>
                  </a:txBody>
                  <a:tcPr/>
                </a:tc>
                <a:tc>
                  <a:txBody>
                    <a:bodyPr/>
                    <a:lstStyle/>
                    <a:p>
                      <a:r>
                        <a:rPr lang="es-ES" dirty="0"/>
                        <a:t>descripción</a:t>
                      </a:r>
                    </a:p>
                  </a:txBody>
                  <a:tcPr/>
                </a:tc>
                <a:extLst>
                  <a:ext uri="{0D108BD9-81ED-4DB2-BD59-A6C34878D82A}">
                    <a16:rowId xmlns:a16="http://schemas.microsoft.com/office/drawing/2014/main" val="3911160075"/>
                  </a:ext>
                </a:extLst>
              </a:tr>
              <a:tr h="370840">
                <a:tc>
                  <a:txBody>
                    <a:bodyPr/>
                    <a:lstStyle/>
                    <a:p>
                      <a:r>
                        <a:rPr lang="es-ES" sz="1200" dirty="0"/>
                        <a:t>*</a:t>
                      </a:r>
                    </a:p>
                  </a:txBody>
                  <a:tcPr/>
                </a:tc>
                <a:tc>
                  <a:txBody>
                    <a:bodyPr/>
                    <a:lstStyle/>
                    <a:p>
                      <a:r>
                        <a:rPr lang="es-ES" sz="1200" dirty="0"/>
                        <a:t>*</a:t>
                      </a:r>
                    </a:p>
                  </a:txBody>
                  <a:tcPr/>
                </a:tc>
                <a:tc>
                  <a:txBody>
                    <a:bodyPr/>
                    <a:lstStyle/>
                    <a:p>
                      <a:r>
                        <a:rPr lang="es-ES" sz="1200" b="1" dirty="0"/>
                        <a:t>Selector universal</a:t>
                      </a:r>
                      <a:r>
                        <a:rPr lang="es-ES" sz="1200" dirty="0"/>
                        <a:t>. Aplica un estilo a cualquier tipo, seleccionando todos los elementos</a:t>
                      </a:r>
                    </a:p>
                  </a:txBody>
                  <a:tcPr/>
                </a:tc>
                <a:extLst>
                  <a:ext uri="{0D108BD9-81ED-4DB2-BD59-A6C34878D82A}">
                    <a16:rowId xmlns:a16="http://schemas.microsoft.com/office/drawing/2014/main" val="1973009860"/>
                  </a:ext>
                </a:extLst>
              </a:tr>
              <a:tr h="370840">
                <a:tc>
                  <a:txBody>
                    <a:bodyPr/>
                    <a:lstStyle/>
                    <a:p>
                      <a:r>
                        <a:rPr lang="es-ES" sz="1200" dirty="0"/>
                        <a:t>elemento</a:t>
                      </a:r>
                    </a:p>
                  </a:txBody>
                  <a:tcPr/>
                </a:tc>
                <a:tc>
                  <a:txBody>
                    <a:bodyPr/>
                    <a:lstStyle/>
                    <a:p>
                      <a:r>
                        <a:rPr lang="es-ES" sz="1200" dirty="0"/>
                        <a:t>p</a:t>
                      </a:r>
                    </a:p>
                  </a:txBody>
                  <a:tcPr/>
                </a:tc>
                <a:tc>
                  <a:txBody>
                    <a:bodyPr/>
                    <a:lstStyle/>
                    <a:p>
                      <a:r>
                        <a:rPr lang="es-ES" sz="1200" b="1" dirty="0"/>
                        <a:t>Selector de tipo o etiqueta</a:t>
                      </a:r>
                      <a:r>
                        <a:rPr lang="es-ES" sz="1200" dirty="0"/>
                        <a:t>. Aplica un estilo a un tipo de elemento HTML concreto. Ejemplo: “Selecciona todos los elementos p”</a:t>
                      </a:r>
                    </a:p>
                  </a:txBody>
                  <a:tcPr/>
                </a:tc>
                <a:extLst>
                  <a:ext uri="{0D108BD9-81ED-4DB2-BD59-A6C34878D82A}">
                    <a16:rowId xmlns:a16="http://schemas.microsoft.com/office/drawing/2014/main" val="1058501965"/>
                  </a:ext>
                </a:extLst>
              </a:tr>
              <a:tr h="370840">
                <a:tc>
                  <a:txBody>
                    <a:bodyPr/>
                    <a:lstStyle/>
                    <a:p>
                      <a:r>
                        <a:rPr lang="es-ES" sz="1200" dirty="0"/>
                        <a:t>.</a:t>
                      </a:r>
                      <a:r>
                        <a:rPr lang="es-ES" sz="1200" dirty="0" err="1"/>
                        <a:t>class</a:t>
                      </a:r>
                      <a:endParaRPr lang="es-ES" sz="1200" dirty="0"/>
                    </a:p>
                  </a:txBody>
                  <a:tcPr/>
                </a:tc>
                <a:tc>
                  <a:txBody>
                    <a:bodyPr/>
                    <a:lstStyle/>
                    <a:p>
                      <a:r>
                        <a:rPr lang="es-ES" sz="1200" dirty="0"/>
                        <a:t>.destacado</a:t>
                      </a:r>
                    </a:p>
                  </a:txBody>
                  <a:tcPr/>
                </a:tc>
                <a:tc>
                  <a:txBody>
                    <a:bodyPr/>
                    <a:lstStyle/>
                    <a:p>
                      <a:r>
                        <a:rPr lang="es-ES" sz="1200" b="1" dirty="0"/>
                        <a:t>Selector de clase. </a:t>
                      </a:r>
                      <a:r>
                        <a:rPr lang="es-ES" sz="1200" dirty="0"/>
                        <a:t>Aplica el estilo a los elementos que utilicen esta clase. Ejemplo: “Selecciona los elementos de la página cuyo atributo </a:t>
                      </a:r>
                      <a:r>
                        <a:rPr lang="es-ES" sz="1200" dirty="0" err="1"/>
                        <a:t>class</a:t>
                      </a:r>
                      <a:r>
                        <a:rPr lang="es-ES" sz="1200" dirty="0"/>
                        <a:t> tenga el valor de destacado.</a:t>
                      </a:r>
                    </a:p>
                  </a:txBody>
                  <a:tcPr/>
                </a:tc>
                <a:extLst>
                  <a:ext uri="{0D108BD9-81ED-4DB2-BD59-A6C34878D82A}">
                    <a16:rowId xmlns:a16="http://schemas.microsoft.com/office/drawing/2014/main" val="2299354987"/>
                  </a:ext>
                </a:extLst>
              </a:tr>
              <a:tr h="370840">
                <a:tc>
                  <a:txBody>
                    <a:bodyPr/>
                    <a:lstStyle/>
                    <a:p>
                      <a:r>
                        <a:rPr lang="es-ES" sz="1200" dirty="0"/>
                        <a:t>#id</a:t>
                      </a:r>
                    </a:p>
                  </a:txBody>
                  <a:tcPr/>
                </a:tc>
                <a:tc>
                  <a:txBody>
                    <a:bodyPr/>
                    <a:lstStyle/>
                    <a:p>
                      <a:r>
                        <a:rPr lang="es-ES" sz="1200" dirty="0"/>
                        <a:t>#inicio</a:t>
                      </a:r>
                    </a:p>
                  </a:txBody>
                  <a:tcPr/>
                </a:tc>
                <a:tc>
                  <a:txBody>
                    <a:bodyPr/>
                    <a:lstStyle/>
                    <a:p>
                      <a:r>
                        <a:rPr lang="es-ES" sz="1200" b="1" dirty="0"/>
                        <a:t>Selector ID</a:t>
                      </a:r>
                      <a:r>
                        <a:rPr lang="es-ES" sz="1200" dirty="0"/>
                        <a:t>. Aplica estilo al elemento que utilice este id. Ejemplo: “Selecciona el elemento de la página cuyo atributo id tenga el valor de inicio.</a:t>
                      </a:r>
                    </a:p>
                  </a:txBody>
                  <a:tcPr/>
                </a:tc>
                <a:extLst>
                  <a:ext uri="{0D108BD9-81ED-4DB2-BD59-A6C34878D82A}">
                    <a16:rowId xmlns:a16="http://schemas.microsoft.com/office/drawing/2014/main" val="2247095638"/>
                  </a:ext>
                </a:extLst>
              </a:tr>
              <a:tr h="370840">
                <a:tc>
                  <a:txBody>
                    <a:bodyPr/>
                    <a:lstStyle/>
                    <a:p>
                      <a:r>
                        <a:rPr lang="es-ES" sz="1200" dirty="0"/>
                        <a:t>[atributo]</a:t>
                      </a:r>
                    </a:p>
                  </a:txBody>
                  <a:tcPr/>
                </a:tc>
                <a:tc>
                  <a:txBody>
                    <a:bodyPr/>
                    <a:lstStyle/>
                    <a:p>
                      <a:r>
                        <a:rPr lang="es-ES" sz="1200" dirty="0"/>
                        <a:t>[target]</a:t>
                      </a:r>
                    </a:p>
                  </a:txBody>
                  <a:tcPr/>
                </a:tc>
                <a:tc>
                  <a:txBody>
                    <a:bodyPr/>
                    <a:lstStyle/>
                    <a:p>
                      <a:r>
                        <a:rPr lang="es-ES" sz="1200" b="1" dirty="0"/>
                        <a:t>Selector de atributo. </a:t>
                      </a:r>
                      <a:r>
                        <a:rPr lang="es-ES" sz="1200" b="0" dirty="0"/>
                        <a:t>Aplica un estilo a los elementos que utilizan un atributo específico. Ejemplo: “Selecciona los elementos que tengan el atributo target</a:t>
                      </a:r>
                      <a:endParaRPr lang="es-ES" sz="1200" b="1" dirty="0"/>
                    </a:p>
                  </a:txBody>
                  <a:tcPr/>
                </a:tc>
                <a:extLst>
                  <a:ext uri="{0D108BD9-81ED-4DB2-BD59-A6C34878D82A}">
                    <a16:rowId xmlns:a16="http://schemas.microsoft.com/office/drawing/2014/main" val="2070510720"/>
                  </a:ext>
                </a:extLst>
              </a:tr>
            </a:tbl>
          </a:graphicData>
        </a:graphic>
      </p:graphicFrame>
      <p:sp>
        <p:nvSpPr>
          <p:cNvPr id="9" name="CuadroTexto 8">
            <a:extLst>
              <a:ext uri="{FF2B5EF4-FFF2-40B4-BE49-F238E27FC236}">
                <a16:creationId xmlns:a16="http://schemas.microsoft.com/office/drawing/2014/main" id="{E3A8367F-2A0B-47A7-469F-2B3DA1C20287}"/>
              </a:ext>
            </a:extLst>
          </p:cNvPr>
          <p:cNvSpPr txBox="1"/>
          <p:nvPr/>
        </p:nvSpPr>
        <p:spPr>
          <a:xfrm>
            <a:off x="242247" y="4186156"/>
            <a:ext cx="9497183" cy="923330"/>
          </a:xfrm>
          <a:prstGeom prst="rect">
            <a:avLst/>
          </a:prstGeom>
          <a:noFill/>
        </p:spPr>
        <p:txBody>
          <a:bodyPr wrap="square">
            <a:spAutoFit/>
          </a:bodyPr>
          <a:lstStyle/>
          <a:p>
            <a:pPr algn="l"/>
            <a:r>
              <a:rPr lang="es-ES" dirty="0">
                <a:solidFill>
                  <a:schemeClr val="tx2"/>
                </a:solidFill>
                <a:latin typeface="Cambria" panose="02040503050406030204" pitchFamily="18" charset="0"/>
              </a:rPr>
              <a:t>La recomendación general es la de utilizar el selector de ID cuando se quiere aplicar un estilo</a:t>
            </a:r>
          </a:p>
          <a:p>
            <a:pPr algn="l"/>
            <a:r>
              <a:rPr lang="es-ES" dirty="0">
                <a:solidFill>
                  <a:schemeClr val="tx2"/>
                </a:solidFill>
                <a:latin typeface="Cambria" panose="02040503050406030204" pitchFamily="18" charset="0"/>
              </a:rPr>
              <a:t>a un solo elemento específico de la página y utilizar el selector de clase cuando se quiere aplicar</a:t>
            </a:r>
          </a:p>
          <a:p>
            <a:pPr algn="l"/>
            <a:r>
              <a:rPr lang="es-ES" dirty="0">
                <a:solidFill>
                  <a:schemeClr val="tx2"/>
                </a:solidFill>
                <a:latin typeface="Cambria" panose="02040503050406030204" pitchFamily="18" charset="0"/>
              </a:rPr>
              <a:t>un estilo a varios elementos diferentes de la página HTML.</a:t>
            </a:r>
          </a:p>
        </p:txBody>
      </p:sp>
    </p:spTree>
    <p:extLst>
      <p:ext uri="{BB962C8B-B14F-4D97-AF65-F5344CB8AC3E}">
        <p14:creationId xmlns:p14="http://schemas.microsoft.com/office/powerpoint/2010/main" val="72310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Selectores básicos</a:t>
            </a:r>
          </a:p>
        </p:txBody>
      </p:sp>
      <p:sp>
        <p:nvSpPr>
          <p:cNvPr id="3" name="CuadroTexto 2">
            <a:extLst>
              <a:ext uri="{FF2B5EF4-FFF2-40B4-BE49-F238E27FC236}">
                <a16:creationId xmlns:a16="http://schemas.microsoft.com/office/drawing/2014/main" id="{631B4286-0135-B358-1FDA-97001AD71DE4}"/>
              </a:ext>
            </a:extLst>
          </p:cNvPr>
          <p:cNvSpPr txBox="1"/>
          <p:nvPr/>
        </p:nvSpPr>
        <p:spPr>
          <a:xfrm>
            <a:off x="213362" y="2003613"/>
            <a:ext cx="9662773" cy="1384995"/>
          </a:xfrm>
          <a:prstGeom prst="rect">
            <a:avLst/>
          </a:prstGeom>
          <a:noFill/>
        </p:spPr>
        <p:txBody>
          <a:bodyPr wrap="none" rtlCol="0">
            <a:spAutoFit/>
          </a:bodyPr>
          <a:lstStyle/>
          <a:p>
            <a:r>
              <a:rPr lang="es-ES" sz="2800" b="1" dirty="0"/>
              <a:t>Actividad</a:t>
            </a:r>
            <a:r>
              <a:rPr lang="es-ES" sz="2800" dirty="0"/>
              <a:t>. Vamos a crear un pequeño código </a:t>
            </a:r>
            <a:r>
              <a:rPr lang="es-ES" sz="2800" dirty="0" err="1"/>
              <a:t>html</a:t>
            </a:r>
            <a:r>
              <a:rPr lang="es-ES" sz="2800" dirty="0"/>
              <a:t> con reglas para</a:t>
            </a:r>
          </a:p>
          <a:p>
            <a:r>
              <a:rPr lang="es-ES" sz="2800" dirty="0"/>
              <a:t> los 5 selectores que acabamos de ver. Podemos utilizar </a:t>
            </a:r>
          </a:p>
          <a:p>
            <a:r>
              <a:rPr lang="es-ES" sz="2800" dirty="0"/>
              <a:t>declaraciones </a:t>
            </a:r>
            <a:r>
              <a:rPr lang="es-ES" sz="2800" dirty="0" err="1"/>
              <a:t>css</a:t>
            </a:r>
            <a:r>
              <a:rPr lang="es-ES" sz="2800" dirty="0"/>
              <a:t> como  color, </a:t>
            </a:r>
            <a:r>
              <a:rPr lang="es-ES" sz="2800" dirty="0" err="1"/>
              <a:t>font-size</a:t>
            </a:r>
            <a:r>
              <a:rPr lang="es-ES" sz="2800" dirty="0"/>
              <a:t> y </a:t>
            </a:r>
            <a:r>
              <a:rPr lang="es-ES" sz="2800" dirty="0" err="1"/>
              <a:t>background</a:t>
            </a:r>
            <a:r>
              <a:rPr lang="es-ES" sz="2800" dirty="0"/>
              <a:t>-color </a:t>
            </a:r>
          </a:p>
        </p:txBody>
      </p:sp>
    </p:spTree>
    <p:extLst>
      <p:ext uri="{BB962C8B-B14F-4D97-AF65-F5344CB8AC3E}">
        <p14:creationId xmlns:p14="http://schemas.microsoft.com/office/powerpoint/2010/main" val="2620303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Selectores con alcance</a:t>
            </a:r>
          </a:p>
        </p:txBody>
      </p:sp>
      <p:sp>
        <p:nvSpPr>
          <p:cNvPr id="4" name="CuadroTexto 3">
            <a:extLst>
              <a:ext uri="{FF2B5EF4-FFF2-40B4-BE49-F238E27FC236}">
                <a16:creationId xmlns:a16="http://schemas.microsoft.com/office/drawing/2014/main" id="{1654EAC4-33DA-E23A-32C1-2A79A78003C6}"/>
              </a:ext>
            </a:extLst>
          </p:cNvPr>
          <p:cNvSpPr txBox="1"/>
          <p:nvPr/>
        </p:nvSpPr>
        <p:spPr>
          <a:xfrm>
            <a:off x="354842" y="1583140"/>
            <a:ext cx="9646039" cy="2031325"/>
          </a:xfrm>
          <a:prstGeom prst="rect">
            <a:avLst/>
          </a:prstGeom>
          <a:noFill/>
        </p:spPr>
        <p:txBody>
          <a:bodyPr wrap="none" rtlCol="0">
            <a:spAutoFit/>
          </a:bodyPr>
          <a:lstStyle/>
          <a:p>
            <a:r>
              <a:rPr lang="es-ES" dirty="0"/>
              <a:t>A los selectores básicos se les puede añadir un alcance para restringir el ámbito donde se aplica el</a:t>
            </a:r>
          </a:p>
          <a:p>
            <a:r>
              <a:rPr lang="es-ES" dirty="0"/>
              <a:t>selector. Ejemplos:</a:t>
            </a:r>
          </a:p>
          <a:p>
            <a:r>
              <a:rPr lang="es-ES" sz="1800" b="1" dirty="0" err="1">
                <a:sym typeface="Wingdings" panose="05000000000000000000" pitchFamily="2" charset="2"/>
              </a:rPr>
              <a:t>div.intro</a:t>
            </a:r>
            <a:r>
              <a:rPr lang="es-ES" sz="1800" dirty="0">
                <a:sym typeface="Wingdings" panose="05000000000000000000" pitchFamily="2" charset="2"/>
              </a:rPr>
              <a:t>  selecciona </a:t>
            </a:r>
            <a:r>
              <a:rPr lang="es-ES" dirty="0">
                <a:sym typeface="Wingdings" panose="05000000000000000000" pitchFamily="2" charset="2"/>
              </a:rPr>
              <a:t>ú</a:t>
            </a:r>
            <a:r>
              <a:rPr lang="es-ES" sz="1800" dirty="0">
                <a:sym typeface="Wingdings" panose="05000000000000000000" pitchFamily="2" charset="2"/>
              </a:rPr>
              <a:t>nicamente los elementos </a:t>
            </a:r>
            <a:r>
              <a:rPr lang="es-ES" sz="1800" dirty="0" err="1">
                <a:sym typeface="Wingdings" panose="05000000000000000000" pitchFamily="2" charset="2"/>
              </a:rPr>
              <a:t>div</a:t>
            </a:r>
            <a:r>
              <a:rPr lang="es-ES" sz="1800" dirty="0">
                <a:sym typeface="Wingdings" panose="05000000000000000000" pitchFamily="2" charset="2"/>
              </a:rPr>
              <a:t> de la clase </a:t>
            </a:r>
            <a:r>
              <a:rPr lang="es-ES" sz="1800" dirty="0" err="1">
                <a:sym typeface="Wingdings" panose="05000000000000000000" pitchFamily="2" charset="2"/>
              </a:rPr>
              <a:t>intro</a:t>
            </a:r>
            <a:r>
              <a:rPr lang="es-ES" sz="1800" dirty="0">
                <a:sym typeface="Wingdings" panose="05000000000000000000" pitchFamily="2" charset="2"/>
              </a:rPr>
              <a:t> (&lt;</a:t>
            </a:r>
            <a:r>
              <a:rPr lang="es-ES" sz="1800" dirty="0" err="1">
                <a:sym typeface="Wingdings" panose="05000000000000000000" pitchFamily="2" charset="2"/>
              </a:rPr>
              <a:t>div</a:t>
            </a:r>
            <a:r>
              <a:rPr lang="es-ES" sz="1800" dirty="0">
                <a:sym typeface="Wingdings" panose="05000000000000000000" pitchFamily="2" charset="2"/>
              </a:rPr>
              <a:t> </a:t>
            </a:r>
            <a:r>
              <a:rPr lang="es-ES" sz="1800" dirty="0" err="1">
                <a:sym typeface="Wingdings" panose="05000000000000000000" pitchFamily="2" charset="2"/>
              </a:rPr>
              <a:t>class</a:t>
            </a:r>
            <a:r>
              <a:rPr lang="es-ES" sz="1800" dirty="0">
                <a:sym typeface="Wingdings" panose="05000000000000000000" pitchFamily="2" charset="2"/>
              </a:rPr>
              <a:t>=“</a:t>
            </a:r>
            <a:r>
              <a:rPr lang="es-ES" sz="1800" dirty="0" err="1">
                <a:sym typeface="Wingdings" panose="05000000000000000000" pitchFamily="2" charset="2"/>
              </a:rPr>
              <a:t>intro</a:t>
            </a:r>
            <a:r>
              <a:rPr lang="es-ES" dirty="0">
                <a:sym typeface="Wingdings" panose="05000000000000000000" pitchFamily="2" charset="2"/>
              </a:rPr>
              <a:t>”</a:t>
            </a:r>
            <a:r>
              <a:rPr lang="es-ES" sz="1800" dirty="0">
                <a:sym typeface="Wingdings" panose="05000000000000000000" pitchFamily="2" charset="2"/>
              </a:rPr>
              <a:t>&gt;). (No se</a:t>
            </a:r>
          </a:p>
          <a:p>
            <a:r>
              <a:rPr lang="es-ES" sz="1800" dirty="0">
                <a:sym typeface="Wingdings" panose="05000000000000000000" pitchFamily="2" charset="2"/>
              </a:rPr>
              <a:t> dejan </a:t>
            </a:r>
            <a:r>
              <a:rPr lang="es-ES" dirty="0">
                <a:sym typeface="Wingdings" panose="05000000000000000000" pitchFamily="2" charset="2"/>
              </a:rPr>
              <a:t>espacios)</a:t>
            </a:r>
            <a:endParaRPr lang="es-ES" sz="1800" dirty="0">
              <a:sym typeface="Wingdings" panose="05000000000000000000" pitchFamily="2" charset="2"/>
            </a:endParaRPr>
          </a:p>
          <a:p>
            <a:r>
              <a:rPr lang="es-ES" sz="1800" b="1" dirty="0" err="1">
                <a:sym typeface="Wingdings" panose="05000000000000000000" pitchFamily="2" charset="2"/>
              </a:rPr>
              <a:t>div</a:t>
            </a:r>
            <a:r>
              <a:rPr lang="es-ES" sz="1800" b="1" dirty="0">
                <a:sym typeface="Wingdings" panose="05000000000000000000" pitchFamily="2" charset="2"/>
              </a:rPr>
              <a:t> .</a:t>
            </a:r>
            <a:r>
              <a:rPr lang="es-ES" sz="1800" b="1" dirty="0" err="1">
                <a:sym typeface="Wingdings" panose="05000000000000000000" pitchFamily="2" charset="2"/>
              </a:rPr>
              <a:t>intro</a:t>
            </a:r>
            <a:r>
              <a:rPr lang="es-ES" sz="1800" b="1" dirty="0">
                <a:sym typeface="Wingdings" panose="05000000000000000000" pitchFamily="2" charset="2"/>
              </a:rPr>
              <a:t> </a:t>
            </a:r>
            <a:r>
              <a:rPr lang="es-ES" sz="1800" dirty="0">
                <a:sym typeface="Wingdings" panose="05000000000000000000" pitchFamily="2" charset="2"/>
              </a:rPr>
              <a:t> selecciona los elementos de dentro de cualquier </a:t>
            </a:r>
            <a:r>
              <a:rPr lang="es-ES" sz="1800" dirty="0" err="1">
                <a:sym typeface="Wingdings" panose="05000000000000000000" pitchFamily="2" charset="2"/>
              </a:rPr>
              <a:t>div</a:t>
            </a:r>
            <a:r>
              <a:rPr lang="es-ES" sz="1800" dirty="0">
                <a:sym typeface="Wingdings" panose="05000000000000000000" pitchFamily="2" charset="2"/>
              </a:rPr>
              <a:t> que sean de la clase </a:t>
            </a:r>
            <a:r>
              <a:rPr lang="es-ES" sz="1800" dirty="0" err="1">
                <a:sym typeface="Wingdings" panose="05000000000000000000" pitchFamily="2" charset="2"/>
              </a:rPr>
              <a:t>intro</a:t>
            </a:r>
            <a:r>
              <a:rPr lang="es-ES" sz="1800" dirty="0">
                <a:sym typeface="Wingdings" panose="05000000000000000000" pitchFamily="2" charset="2"/>
              </a:rPr>
              <a:t>. </a:t>
            </a:r>
          </a:p>
          <a:p>
            <a:r>
              <a:rPr lang="es-ES" sz="1800" b="1" dirty="0" err="1">
                <a:sym typeface="Wingdings" panose="05000000000000000000" pitchFamily="2" charset="2"/>
              </a:rPr>
              <a:t>div</a:t>
            </a:r>
            <a:r>
              <a:rPr lang="es-ES" sz="1800" b="1" dirty="0">
                <a:sym typeface="Wingdings" panose="05000000000000000000" pitchFamily="2" charset="2"/>
              </a:rPr>
              <a:t>, .</a:t>
            </a:r>
            <a:r>
              <a:rPr lang="es-ES" sz="1800" b="1" dirty="0" err="1">
                <a:sym typeface="Wingdings" panose="05000000000000000000" pitchFamily="2" charset="2"/>
              </a:rPr>
              <a:t>intro</a:t>
            </a:r>
            <a:r>
              <a:rPr lang="es-ES" sz="1800" b="1" dirty="0">
                <a:sym typeface="Wingdings" panose="05000000000000000000" pitchFamily="2" charset="2"/>
              </a:rPr>
              <a:t> </a:t>
            </a:r>
            <a:r>
              <a:rPr lang="es-ES" sz="1800" dirty="0">
                <a:sym typeface="Wingdings" panose="05000000000000000000" pitchFamily="2" charset="2"/>
              </a:rPr>
              <a:t> selecciona todos los </a:t>
            </a:r>
            <a:r>
              <a:rPr lang="es-ES" sz="1800" dirty="0" err="1">
                <a:sym typeface="Wingdings" panose="05000000000000000000" pitchFamily="2" charset="2"/>
              </a:rPr>
              <a:t>div</a:t>
            </a:r>
            <a:r>
              <a:rPr lang="es-ES" sz="1800" dirty="0">
                <a:sym typeface="Wingdings" panose="05000000000000000000" pitchFamily="2" charset="2"/>
              </a:rPr>
              <a:t> de la página y todos los elementos de la clase </a:t>
            </a:r>
            <a:r>
              <a:rPr lang="es-ES" sz="1800" dirty="0" err="1">
                <a:sym typeface="Wingdings" panose="05000000000000000000" pitchFamily="2" charset="2"/>
              </a:rPr>
              <a:t>intro</a:t>
            </a:r>
            <a:r>
              <a:rPr lang="es-ES" sz="1800" dirty="0">
                <a:sym typeface="Wingdings" panose="05000000000000000000" pitchFamily="2" charset="2"/>
              </a:rPr>
              <a:t>. (Se separan</a:t>
            </a:r>
          </a:p>
          <a:p>
            <a:r>
              <a:rPr lang="es-ES" dirty="0">
                <a:sym typeface="Wingdings" panose="05000000000000000000" pitchFamily="2" charset="2"/>
              </a:rPr>
              <a:t>utilizando una coma)</a:t>
            </a:r>
            <a:endParaRPr lang="es-ES" sz="1800" dirty="0">
              <a:sym typeface="Wingdings" panose="05000000000000000000" pitchFamily="2" charset="2"/>
            </a:endParaRPr>
          </a:p>
        </p:txBody>
      </p:sp>
    </p:spTree>
    <p:extLst>
      <p:ext uri="{BB962C8B-B14F-4D97-AF65-F5344CB8AC3E}">
        <p14:creationId xmlns:p14="http://schemas.microsoft.com/office/powerpoint/2010/main" val="4114350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8F002E2-28EF-2002-356A-0995103B37CB}"/>
              </a:ext>
            </a:extLst>
          </p:cNvPr>
          <p:cNvSpPr txBox="1"/>
          <p:nvPr/>
        </p:nvSpPr>
        <p:spPr>
          <a:xfrm>
            <a:off x="860323" y="346275"/>
            <a:ext cx="7152968" cy="523220"/>
          </a:xfrm>
          <a:prstGeom prst="rect">
            <a:avLst/>
          </a:prstGeom>
          <a:noFill/>
        </p:spPr>
        <p:txBody>
          <a:bodyPr wrap="square">
            <a:spAutoFit/>
          </a:bodyPr>
          <a:lstStyle/>
          <a:p>
            <a:r>
              <a:rPr lang="es-ES" sz="2800" b="1" dirty="0">
                <a:solidFill>
                  <a:schemeClr val="bg1"/>
                </a:solidFill>
                <a:latin typeface=""/>
                <a:cs typeface="Noto Nastaliq Urdu" panose="020B0502040504020204" pitchFamily="34" charset="-78"/>
              </a:rPr>
              <a:t>Selectores con enlace</a:t>
            </a:r>
          </a:p>
        </p:txBody>
      </p:sp>
      <p:sp>
        <p:nvSpPr>
          <p:cNvPr id="7" name="CuadroTexto 6">
            <a:extLst>
              <a:ext uri="{FF2B5EF4-FFF2-40B4-BE49-F238E27FC236}">
                <a16:creationId xmlns:a16="http://schemas.microsoft.com/office/drawing/2014/main" id="{A07C9F2E-C58B-46F6-500A-A4FD28E0AFEB}"/>
              </a:ext>
            </a:extLst>
          </p:cNvPr>
          <p:cNvSpPr txBox="1"/>
          <p:nvPr/>
        </p:nvSpPr>
        <p:spPr>
          <a:xfrm>
            <a:off x="1056967" y="1624469"/>
            <a:ext cx="5043948" cy="369332"/>
          </a:xfrm>
          <a:prstGeom prst="rect">
            <a:avLst/>
          </a:prstGeom>
          <a:noFill/>
        </p:spPr>
        <p:txBody>
          <a:bodyPr wrap="square">
            <a:spAutoFit/>
          </a:bodyPr>
          <a:lstStyle/>
          <a:p>
            <a:r>
              <a:rPr lang="es-ES" dirty="0"/>
              <a:t>🟩 </a:t>
            </a:r>
            <a:r>
              <a:rPr lang="es-ES" b="1" dirty="0"/>
              <a:t>1. </a:t>
            </a:r>
            <a:r>
              <a:rPr lang="es-ES" b="1" dirty="0" err="1">
                <a:latin typeface="Courier New" panose="02070309020205020404" pitchFamily="49" charset="0"/>
              </a:rPr>
              <a:t>div.intro</a:t>
            </a:r>
            <a:endParaRPr lang="es-ES" dirty="0"/>
          </a:p>
        </p:txBody>
      </p:sp>
      <p:sp>
        <p:nvSpPr>
          <p:cNvPr id="9" name="CuadroTexto 8">
            <a:extLst>
              <a:ext uri="{FF2B5EF4-FFF2-40B4-BE49-F238E27FC236}">
                <a16:creationId xmlns:a16="http://schemas.microsoft.com/office/drawing/2014/main" id="{EE257D30-FD5B-A4D1-70A2-DE3406642219}"/>
              </a:ext>
            </a:extLst>
          </p:cNvPr>
          <p:cNvSpPr txBox="1"/>
          <p:nvPr/>
        </p:nvSpPr>
        <p:spPr>
          <a:xfrm>
            <a:off x="1283109" y="1993801"/>
            <a:ext cx="5043948" cy="646331"/>
          </a:xfrm>
          <a:prstGeom prst="rect">
            <a:avLst/>
          </a:prstGeom>
          <a:noFill/>
        </p:spPr>
        <p:txBody>
          <a:bodyPr wrap="square">
            <a:spAutoFit/>
          </a:bodyPr>
          <a:lstStyle/>
          <a:p>
            <a:r>
              <a:rPr lang="es-ES" dirty="0"/>
              <a:t>Selecciona </a:t>
            </a:r>
            <a:r>
              <a:rPr lang="es-ES" b="1" dirty="0"/>
              <a:t>solo los elementos </a:t>
            </a:r>
            <a:r>
              <a:rPr lang="es-ES" b="1" dirty="0">
                <a:latin typeface="Courier New" panose="02070309020205020404" pitchFamily="49" charset="0"/>
              </a:rPr>
              <a:t>&lt;</a:t>
            </a:r>
            <a:r>
              <a:rPr lang="es-ES" b="1" dirty="0" err="1">
                <a:latin typeface="Courier New" panose="02070309020205020404" pitchFamily="49" charset="0"/>
              </a:rPr>
              <a:t>div</a:t>
            </a:r>
            <a:r>
              <a:rPr lang="es-ES" b="1" dirty="0">
                <a:latin typeface="Courier New" panose="02070309020205020404" pitchFamily="49" charset="0"/>
              </a:rPr>
              <a:t>&gt;</a:t>
            </a:r>
            <a:r>
              <a:rPr lang="es-ES" b="1" dirty="0"/>
              <a:t> que tengan la clase </a:t>
            </a:r>
            <a:r>
              <a:rPr lang="es-ES" b="1" dirty="0" err="1">
                <a:latin typeface="Courier New" panose="02070309020205020404" pitchFamily="49" charset="0"/>
              </a:rPr>
              <a:t>intro</a:t>
            </a:r>
            <a:endParaRPr lang="es-ES" dirty="0"/>
          </a:p>
        </p:txBody>
      </p:sp>
      <p:sp>
        <p:nvSpPr>
          <p:cNvPr id="11" name="CuadroTexto 10">
            <a:extLst>
              <a:ext uri="{FF2B5EF4-FFF2-40B4-BE49-F238E27FC236}">
                <a16:creationId xmlns:a16="http://schemas.microsoft.com/office/drawing/2014/main" id="{95D40E6B-B1E3-2328-5A16-8B5A1D16BBA6}"/>
              </a:ext>
            </a:extLst>
          </p:cNvPr>
          <p:cNvSpPr txBox="1"/>
          <p:nvPr/>
        </p:nvSpPr>
        <p:spPr>
          <a:xfrm>
            <a:off x="1283109" y="2640132"/>
            <a:ext cx="5043948" cy="646331"/>
          </a:xfrm>
          <a:prstGeom prst="rect">
            <a:avLst/>
          </a:prstGeom>
          <a:noFill/>
        </p:spPr>
        <p:txBody>
          <a:bodyPr wrap="square">
            <a:spAutoFit/>
          </a:bodyPr>
          <a:lstStyle/>
          <a:p>
            <a:r>
              <a:rPr lang="es-ES"/>
              <a:t>&lt;div class="intro"&gt;Texto visible&lt;/div&gt;</a:t>
            </a:r>
          </a:p>
          <a:p>
            <a:r>
              <a:rPr lang="es-ES"/>
              <a:t>&lt;p class="intro"&gt;No se aplicará este estilo&lt;/p&gt;</a:t>
            </a:r>
            <a:endParaRPr lang="es-ES" dirty="0"/>
          </a:p>
        </p:txBody>
      </p:sp>
      <p:sp>
        <p:nvSpPr>
          <p:cNvPr id="13" name="CuadroTexto 12">
            <a:extLst>
              <a:ext uri="{FF2B5EF4-FFF2-40B4-BE49-F238E27FC236}">
                <a16:creationId xmlns:a16="http://schemas.microsoft.com/office/drawing/2014/main" id="{B41B2C10-EBBD-85CE-F305-90779CD69702}"/>
              </a:ext>
            </a:extLst>
          </p:cNvPr>
          <p:cNvSpPr txBox="1"/>
          <p:nvPr/>
        </p:nvSpPr>
        <p:spPr>
          <a:xfrm>
            <a:off x="1283109" y="3350543"/>
            <a:ext cx="5043948" cy="923330"/>
          </a:xfrm>
          <a:prstGeom prst="rect">
            <a:avLst/>
          </a:prstGeom>
          <a:noFill/>
        </p:spPr>
        <p:txBody>
          <a:bodyPr wrap="square">
            <a:spAutoFit/>
          </a:bodyPr>
          <a:lstStyle/>
          <a:p>
            <a:r>
              <a:rPr lang="es-ES" dirty="0" err="1"/>
              <a:t>div.intro</a:t>
            </a:r>
            <a:r>
              <a:rPr lang="es-ES" dirty="0"/>
              <a:t> {</a:t>
            </a:r>
          </a:p>
          <a:p>
            <a:r>
              <a:rPr lang="es-ES" dirty="0"/>
              <a:t>  </a:t>
            </a:r>
            <a:r>
              <a:rPr lang="es-ES" dirty="0" err="1"/>
              <a:t>background</a:t>
            </a:r>
            <a:r>
              <a:rPr lang="es-ES" dirty="0"/>
              <a:t>-color: </a:t>
            </a:r>
            <a:r>
              <a:rPr lang="es-ES" dirty="0" err="1"/>
              <a:t>yellow</a:t>
            </a:r>
            <a:r>
              <a:rPr lang="es-ES" dirty="0"/>
              <a:t>;</a:t>
            </a:r>
          </a:p>
          <a:p>
            <a:r>
              <a:rPr lang="es-ES" dirty="0"/>
              <a:t>}</a:t>
            </a:r>
          </a:p>
        </p:txBody>
      </p:sp>
    </p:spTree>
    <p:extLst>
      <p:ext uri="{BB962C8B-B14F-4D97-AF65-F5344CB8AC3E}">
        <p14:creationId xmlns:p14="http://schemas.microsoft.com/office/powerpoint/2010/main" val="918589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EA9551E-19A5-99E8-5AAD-9C7BBBC61C9D}"/>
              </a:ext>
            </a:extLst>
          </p:cNvPr>
          <p:cNvSpPr txBox="1"/>
          <p:nvPr/>
        </p:nvSpPr>
        <p:spPr>
          <a:xfrm>
            <a:off x="860323" y="346275"/>
            <a:ext cx="7152968" cy="523220"/>
          </a:xfrm>
          <a:prstGeom prst="rect">
            <a:avLst/>
          </a:prstGeom>
          <a:noFill/>
        </p:spPr>
        <p:txBody>
          <a:bodyPr wrap="square">
            <a:spAutoFit/>
          </a:bodyPr>
          <a:lstStyle/>
          <a:p>
            <a:r>
              <a:rPr lang="es-ES" sz="2800" b="1" dirty="0">
                <a:solidFill>
                  <a:schemeClr val="bg1"/>
                </a:solidFill>
                <a:latin typeface=""/>
                <a:cs typeface="Noto Nastaliq Urdu" panose="020B0502040504020204" pitchFamily="34" charset="-78"/>
              </a:rPr>
              <a:t>Selectores con enlace</a:t>
            </a:r>
          </a:p>
        </p:txBody>
      </p:sp>
      <p:sp>
        <p:nvSpPr>
          <p:cNvPr id="4" name="CuadroTexto 3">
            <a:extLst>
              <a:ext uri="{FF2B5EF4-FFF2-40B4-BE49-F238E27FC236}">
                <a16:creationId xmlns:a16="http://schemas.microsoft.com/office/drawing/2014/main" id="{F18F2FBB-4EFD-816E-7947-3995430E4AC4}"/>
              </a:ext>
            </a:extLst>
          </p:cNvPr>
          <p:cNvSpPr txBox="1"/>
          <p:nvPr/>
        </p:nvSpPr>
        <p:spPr>
          <a:xfrm>
            <a:off x="860323" y="1516820"/>
            <a:ext cx="5043948" cy="3416320"/>
          </a:xfrm>
          <a:prstGeom prst="rect">
            <a:avLst/>
          </a:prstGeom>
          <a:noFill/>
        </p:spPr>
        <p:txBody>
          <a:bodyPr wrap="square">
            <a:spAutoFit/>
          </a:bodyPr>
          <a:lstStyle/>
          <a:p>
            <a:pPr>
              <a:buNone/>
            </a:pPr>
            <a:r>
              <a:rPr lang="es-ES" b="1" dirty="0" err="1">
                <a:latin typeface="Courier New" panose="02070309020205020404" pitchFamily="49" charset="0"/>
              </a:rPr>
              <a:t>div</a:t>
            </a:r>
            <a:r>
              <a:rPr lang="es-ES" b="1" dirty="0">
                <a:latin typeface="Courier New" panose="02070309020205020404" pitchFamily="49" charset="0"/>
              </a:rPr>
              <a:t> .</a:t>
            </a:r>
            <a:r>
              <a:rPr lang="es-ES" b="1" dirty="0" err="1">
                <a:latin typeface="Courier New" panose="02070309020205020404" pitchFamily="49" charset="0"/>
              </a:rPr>
              <a:t>intro</a:t>
            </a:r>
            <a:endParaRPr lang="es-ES" b="1" dirty="0"/>
          </a:p>
          <a:p>
            <a:pPr>
              <a:buNone/>
            </a:pPr>
            <a:r>
              <a:rPr lang="es-ES" dirty="0"/>
              <a:t>👉 Selecciona </a:t>
            </a:r>
            <a:r>
              <a:rPr lang="es-ES" b="1" dirty="0"/>
              <a:t>los elementos que están dentro de un </a:t>
            </a:r>
            <a:r>
              <a:rPr lang="es-ES" b="1" dirty="0">
                <a:latin typeface="Courier New" panose="02070309020205020404" pitchFamily="49" charset="0"/>
              </a:rPr>
              <a:t>&lt;</a:t>
            </a:r>
            <a:r>
              <a:rPr lang="es-ES" b="1" dirty="0" err="1">
                <a:latin typeface="Courier New" panose="02070309020205020404" pitchFamily="49" charset="0"/>
              </a:rPr>
              <a:t>div</a:t>
            </a:r>
            <a:r>
              <a:rPr lang="es-ES" b="1" dirty="0">
                <a:latin typeface="Courier New" panose="02070309020205020404" pitchFamily="49" charset="0"/>
              </a:rPr>
              <a:t>&gt;</a:t>
            </a:r>
            <a:r>
              <a:rPr lang="es-ES" b="1" dirty="0"/>
              <a:t> y tienen la clase </a:t>
            </a:r>
            <a:r>
              <a:rPr lang="es-ES" b="1" dirty="0" err="1">
                <a:latin typeface="Courier New" panose="02070309020205020404" pitchFamily="49" charset="0"/>
              </a:rPr>
              <a:t>intro</a:t>
            </a:r>
            <a:r>
              <a:rPr lang="es-ES" dirty="0"/>
              <a:t> (ojo al espacio).</a:t>
            </a:r>
          </a:p>
          <a:p>
            <a:pPr rtl="0">
              <a:buNone/>
            </a:pPr>
            <a:r>
              <a:rPr lang="es-ES" dirty="0">
                <a:latin typeface="Courier New" panose="02070309020205020404" pitchFamily="49" charset="0"/>
              </a:rPr>
              <a:t>&lt;</a:t>
            </a:r>
            <a:r>
              <a:rPr lang="es-ES" dirty="0" err="1">
                <a:latin typeface="Courier New" panose="02070309020205020404" pitchFamily="49" charset="0"/>
              </a:rPr>
              <a:t>div</a:t>
            </a:r>
            <a:r>
              <a:rPr lang="es-ES" dirty="0">
                <a:latin typeface="Courier New" panose="02070309020205020404" pitchFamily="49" charset="0"/>
              </a:rPr>
              <a:t>&gt;</a:t>
            </a:r>
          </a:p>
          <a:p>
            <a:pPr rtl="0">
              <a:buNone/>
            </a:pPr>
            <a:r>
              <a:rPr lang="es-ES" dirty="0">
                <a:latin typeface="Courier New" panose="02070309020205020404" pitchFamily="49" charset="0"/>
              </a:rPr>
              <a:t>  &lt;p </a:t>
            </a:r>
            <a:r>
              <a:rPr lang="es-ES" dirty="0" err="1">
                <a:latin typeface="Courier New" panose="02070309020205020404" pitchFamily="49" charset="0"/>
              </a:rPr>
              <a:t>class</a:t>
            </a:r>
            <a:r>
              <a:rPr lang="es-ES" dirty="0">
                <a:latin typeface="Courier New" panose="02070309020205020404" pitchFamily="49" charset="0"/>
              </a:rPr>
              <a:t>="</a:t>
            </a:r>
            <a:r>
              <a:rPr lang="es-ES" dirty="0" err="1">
                <a:latin typeface="Courier New" panose="02070309020205020404" pitchFamily="49" charset="0"/>
              </a:rPr>
              <a:t>intro</a:t>
            </a:r>
            <a:r>
              <a:rPr lang="es-ES" dirty="0">
                <a:latin typeface="Courier New" panose="02070309020205020404" pitchFamily="49" charset="0"/>
              </a:rPr>
              <a:t>"&gt;Este sí se aplica&lt;/p&gt;</a:t>
            </a:r>
          </a:p>
          <a:p>
            <a:pPr rtl="0">
              <a:buNone/>
            </a:pPr>
            <a:r>
              <a:rPr lang="es-ES" dirty="0">
                <a:latin typeface="Courier New" panose="02070309020205020404" pitchFamily="49" charset="0"/>
              </a:rPr>
              <a:t>&lt;/</a:t>
            </a:r>
            <a:r>
              <a:rPr lang="es-ES" dirty="0" err="1">
                <a:latin typeface="Courier New" panose="02070309020205020404" pitchFamily="49" charset="0"/>
              </a:rPr>
              <a:t>div</a:t>
            </a:r>
            <a:r>
              <a:rPr lang="es-ES" dirty="0">
                <a:latin typeface="Courier New" panose="02070309020205020404" pitchFamily="49" charset="0"/>
              </a:rPr>
              <a:t>&gt;</a:t>
            </a:r>
          </a:p>
          <a:p>
            <a:pPr rtl="0">
              <a:buNone/>
            </a:pPr>
            <a:r>
              <a:rPr lang="es-ES" dirty="0">
                <a:latin typeface="Courier New" panose="02070309020205020404" pitchFamily="49" charset="0"/>
              </a:rPr>
              <a:t>&lt;p </a:t>
            </a:r>
            <a:r>
              <a:rPr lang="es-ES" dirty="0" err="1">
                <a:latin typeface="Courier New" panose="02070309020205020404" pitchFamily="49" charset="0"/>
              </a:rPr>
              <a:t>class</a:t>
            </a:r>
            <a:r>
              <a:rPr lang="es-ES" dirty="0">
                <a:latin typeface="Courier New" panose="02070309020205020404" pitchFamily="49" charset="0"/>
              </a:rPr>
              <a:t>="</a:t>
            </a:r>
            <a:r>
              <a:rPr lang="es-ES" dirty="0" err="1">
                <a:latin typeface="Courier New" panose="02070309020205020404" pitchFamily="49" charset="0"/>
              </a:rPr>
              <a:t>intro</a:t>
            </a:r>
            <a:r>
              <a:rPr lang="es-ES" dirty="0">
                <a:latin typeface="Courier New" panose="02070309020205020404" pitchFamily="49" charset="0"/>
              </a:rPr>
              <a:t>"&gt;Este no&lt;/p&gt;</a:t>
            </a:r>
          </a:p>
          <a:p>
            <a:pPr rtl="0">
              <a:buNone/>
            </a:pPr>
            <a:r>
              <a:rPr lang="es-ES" dirty="0" err="1">
                <a:latin typeface="Courier New" panose="02070309020205020404" pitchFamily="49" charset="0"/>
              </a:rPr>
              <a:t>div</a:t>
            </a:r>
            <a:r>
              <a:rPr lang="es-ES" dirty="0">
                <a:latin typeface="Courier New" panose="02070309020205020404" pitchFamily="49" charset="0"/>
              </a:rPr>
              <a:t> .</a:t>
            </a:r>
            <a:r>
              <a:rPr lang="es-ES" dirty="0" err="1">
                <a:latin typeface="Courier New" panose="02070309020205020404" pitchFamily="49" charset="0"/>
              </a:rPr>
              <a:t>intro</a:t>
            </a:r>
            <a:r>
              <a:rPr lang="es-ES" dirty="0">
                <a:latin typeface="Courier New" panose="02070309020205020404" pitchFamily="49" charset="0"/>
              </a:rPr>
              <a:t> {</a:t>
            </a:r>
          </a:p>
          <a:p>
            <a:pPr rtl="0">
              <a:buNone/>
            </a:pPr>
            <a:r>
              <a:rPr lang="es-ES" dirty="0">
                <a:latin typeface="Courier New" panose="02070309020205020404" pitchFamily="49" charset="0"/>
              </a:rPr>
              <a:t>  color: red;</a:t>
            </a:r>
          </a:p>
          <a:p>
            <a:pPr rtl="0">
              <a:buNone/>
            </a:pPr>
            <a:r>
              <a:rPr lang="es-ES" dirty="0">
                <a:latin typeface="Courier New" panose="02070309020205020404" pitchFamily="49" charset="0"/>
              </a:rPr>
              <a:t>}</a:t>
            </a:r>
          </a:p>
          <a:p>
            <a:pPr>
              <a:buNone/>
            </a:pPr>
            <a:r>
              <a:rPr lang="es-ES" dirty="0"/>
              <a:t>Solo el </a:t>
            </a:r>
            <a:r>
              <a:rPr lang="es-ES" dirty="0">
                <a:latin typeface="Courier New" panose="02070309020205020404" pitchFamily="49" charset="0"/>
              </a:rPr>
              <a:t>&lt;p&gt;</a:t>
            </a:r>
            <a:r>
              <a:rPr lang="es-ES" dirty="0"/>
              <a:t> </a:t>
            </a:r>
            <a:r>
              <a:rPr lang="es-ES" b="1" dirty="0"/>
              <a:t>dentro del </a:t>
            </a:r>
            <a:r>
              <a:rPr lang="es-ES" b="1" dirty="0" err="1"/>
              <a:t>div</a:t>
            </a:r>
            <a:r>
              <a:rPr lang="es-ES" dirty="0"/>
              <a:t> se pondrá rojo.</a:t>
            </a:r>
          </a:p>
        </p:txBody>
      </p:sp>
    </p:spTree>
    <p:extLst>
      <p:ext uri="{BB962C8B-B14F-4D97-AF65-F5344CB8AC3E}">
        <p14:creationId xmlns:p14="http://schemas.microsoft.com/office/powerpoint/2010/main" val="2157947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A508242-367C-C0BD-1742-3C08AE042AEB}"/>
              </a:ext>
            </a:extLst>
          </p:cNvPr>
          <p:cNvSpPr txBox="1"/>
          <p:nvPr/>
        </p:nvSpPr>
        <p:spPr>
          <a:xfrm>
            <a:off x="1253612" y="1635655"/>
            <a:ext cx="5043948" cy="3139321"/>
          </a:xfrm>
          <a:prstGeom prst="rect">
            <a:avLst/>
          </a:prstGeom>
          <a:noFill/>
        </p:spPr>
        <p:txBody>
          <a:bodyPr wrap="square">
            <a:spAutoFit/>
          </a:bodyPr>
          <a:lstStyle/>
          <a:p>
            <a:pPr>
              <a:buNone/>
            </a:pPr>
            <a:r>
              <a:rPr lang="es-ES" b="1" dirty="0"/>
              <a:t>3. </a:t>
            </a:r>
            <a:r>
              <a:rPr lang="es-ES" b="1" dirty="0" err="1">
                <a:latin typeface="Courier New" panose="02070309020205020404" pitchFamily="49" charset="0"/>
              </a:rPr>
              <a:t>div</a:t>
            </a:r>
            <a:r>
              <a:rPr lang="es-ES" b="1" dirty="0">
                <a:latin typeface="Courier New" panose="02070309020205020404" pitchFamily="49" charset="0"/>
              </a:rPr>
              <a:t>, .</a:t>
            </a:r>
            <a:r>
              <a:rPr lang="es-ES" b="1" dirty="0" err="1">
                <a:latin typeface="Courier New" panose="02070309020205020404" pitchFamily="49" charset="0"/>
              </a:rPr>
              <a:t>intro</a:t>
            </a:r>
            <a:endParaRPr lang="es-ES" b="1" dirty="0"/>
          </a:p>
          <a:p>
            <a:pPr>
              <a:buNone/>
            </a:pPr>
            <a:r>
              <a:rPr lang="es-ES" dirty="0"/>
              <a:t>👉 Selecciona </a:t>
            </a:r>
            <a:r>
              <a:rPr lang="es-ES" b="1" dirty="0"/>
              <a:t>todos los </a:t>
            </a:r>
            <a:r>
              <a:rPr lang="es-ES" b="1" dirty="0">
                <a:latin typeface="Courier New" panose="02070309020205020404" pitchFamily="49" charset="0"/>
              </a:rPr>
              <a:t>&lt;</a:t>
            </a:r>
            <a:r>
              <a:rPr lang="es-ES" b="1" dirty="0" err="1">
                <a:latin typeface="Courier New" panose="02070309020205020404" pitchFamily="49" charset="0"/>
              </a:rPr>
              <a:t>div</a:t>
            </a:r>
            <a:r>
              <a:rPr lang="es-ES" b="1" dirty="0">
                <a:latin typeface="Courier New" panose="02070309020205020404" pitchFamily="49" charset="0"/>
              </a:rPr>
              <a:t>&gt;</a:t>
            </a:r>
            <a:r>
              <a:rPr lang="es-ES" b="1" dirty="0"/>
              <a:t> y todos los elementos con clase </a:t>
            </a:r>
            <a:r>
              <a:rPr lang="es-ES" b="1" dirty="0" err="1">
                <a:latin typeface="Courier New" panose="02070309020205020404" pitchFamily="49" charset="0"/>
              </a:rPr>
              <a:t>intro</a:t>
            </a:r>
            <a:r>
              <a:rPr lang="es-ES" dirty="0"/>
              <a:t>, aunque no estén relacionados.</a:t>
            </a:r>
          </a:p>
          <a:p>
            <a:pPr rtl="0">
              <a:buNone/>
            </a:pPr>
            <a:r>
              <a:rPr lang="es-ES" dirty="0">
                <a:latin typeface="Courier New" panose="02070309020205020404" pitchFamily="49" charset="0"/>
              </a:rPr>
              <a:t>&lt;</a:t>
            </a:r>
            <a:r>
              <a:rPr lang="es-ES" dirty="0" err="1">
                <a:latin typeface="Courier New" panose="02070309020205020404" pitchFamily="49" charset="0"/>
              </a:rPr>
              <a:t>div</a:t>
            </a:r>
            <a:r>
              <a:rPr lang="es-ES" dirty="0">
                <a:latin typeface="Courier New" panose="02070309020205020404" pitchFamily="49" charset="0"/>
              </a:rPr>
              <a:t>&gt;</a:t>
            </a:r>
            <a:r>
              <a:rPr lang="es-ES" dirty="0" err="1">
                <a:latin typeface="Courier New" panose="02070309020205020404" pitchFamily="49" charset="0"/>
              </a:rPr>
              <a:t>Div</a:t>
            </a:r>
            <a:r>
              <a:rPr lang="es-ES" dirty="0">
                <a:latin typeface="Courier New" panose="02070309020205020404" pitchFamily="49" charset="0"/>
              </a:rPr>
              <a:t> afectado&lt;/</a:t>
            </a:r>
            <a:r>
              <a:rPr lang="es-ES" dirty="0" err="1">
                <a:latin typeface="Courier New" panose="02070309020205020404" pitchFamily="49" charset="0"/>
              </a:rPr>
              <a:t>div</a:t>
            </a:r>
            <a:r>
              <a:rPr lang="es-ES" dirty="0">
                <a:latin typeface="Courier New" panose="02070309020205020404" pitchFamily="49" charset="0"/>
              </a:rPr>
              <a:t>&gt;</a:t>
            </a:r>
          </a:p>
          <a:p>
            <a:pPr rtl="0">
              <a:buNone/>
            </a:pPr>
            <a:r>
              <a:rPr lang="es-ES" dirty="0">
                <a:latin typeface="Courier New" panose="02070309020205020404" pitchFamily="49" charset="0"/>
              </a:rPr>
              <a:t>&lt;p </a:t>
            </a:r>
            <a:r>
              <a:rPr lang="es-ES" dirty="0" err="1">
                <a:latin typeface="Courier New" panose="02070309020205020404" pitchFamily="49" charset="0"/>
              </a:rPr>
              <a:t>class</a:t>
            </a:r>
            <a:r>
              <a:rPr lang="es-ES" dirty="0">
                <a:latin typeface="Courier New" panose="02070309020205020404" pitchFamily="49" charset="0"/>
              </a:rPr>
              <a:t>="</a:t>
            </a:r>
            <a:r>
              <a:rPr lang="es-ES" dirty="0" err="1">
                <a:latin typeface="Courier New" panose="02070309020205020404" pitchFamily="49" charset="0"/>
              </a:rPr>
              <a:t>intro</a:t>
            </a:r>
            <a:r>
              <a:rPr lang="es-ES" dirty="0">
                <a:latin typeface="Courier New" panose="02070309020205020404" pitchFamily="49" charset="0"/>
              </a:rPr>
              <a:t>"&gt;Párrafo afectado&lt;/p&gt;</a:t>
            </a:r>
          </a:p>
          <a:p>
            <a:pPr rtl="0">
              <a:buNone/>
            </a:pPr>
            <a:r>
              <a:rPr lang="es-ES" dirty="0" err="1">
                <a:latin typeface="Courier New" panose="02070309020205020404" pitchFamily="49" charset="0"/>
              </a:rPr>
              <a:t>div</a:t>
            </a:r>
            <a:r>
              <a:rPr lang="es-ES" dirty="0">
                <a:latin typeface="Courier New" panose="02070309020205020404" pitchFamily="49" charset="0"/>
              </a:rPr>
              <a:t>, .</a:t>
            </a:r>
            <a:r>
              <a:rPr lang="es-ES" dirty="0" err="1">
                <a:latin typeface="Courier New" panose="02070309020205020404" pitchFamily="49" charset="0"/>
              </a:rPr>
              <a:t>intro</a:t>
            </a:r>
            <a:r>
              <a:rPr lang="es-ES" dirty="0">
                <a:latin typeface="Courier New" panose="02070309020205020404" pitchFamily="49" charset="0"/>
              </a:rPr>
              <a:t> {</a:t>
            </a:r>
          </a:p>
          <a:p>
            <a:pPr rtl="0">
              <a:buNone/>
            </a:pPr>
            <a:r>
              <a:rPr lang="es-ES" dirty="0">
                <a:latin typeface="Courier New" panose="02070309020205020404" pitchFamily="49" charset="0"/>
              </a:rPr>
              <a:t>  </a:t>
            </a:r>
            <a:r>
              <a:rPr lang="es-ES" dirty="0" err="1">
                <a:latin typeface="Courier New" panose="02070309020205020404" pitchFamily="49" charset="0"/>
              </a:rPr>
              <a:t>border</a:t>
            </a:r>
            <a:r>
              <a:rPr lang="es-ES" dirty="0">
                <a:latin typeface="Courier New" panose="02070309020205020404" pitchFamily="49" charset="0"/>
              </a:rPr>
              <a:t>: 2px </a:t>
            </a:r>
            <a:r>
              <a:rPr lang="es-ES" dirty="0" err="1">
                <a:latin typeface="Courier New" panose="02070309020205020404" pitchFamily="49" charset="0"/>
              </a:rPr>
              <a:t>solid</a:t>
            </a:r>
            <a:r>
              <a:rPr lang="es-ES" dirty="0">
                <a:latin typeface="Courier New" panose="02070309020205020404" pitchFamily="49" charset="0"/>
              </a:rPr>
              <a:t> </a:t>
            </a:r>
            <a:r>
              <a:rPr lang="es-ES" dirty="0" err="1">
                <a:latin typeface="Courier New" panose="02070309020205020404" pitchFamily="49" charset="0"/>
              </a:rPr>
              <a:t>green</a:t>
            </a:r>
            <a:r>
              <a:rPr lang="es-ES" dirty="0">
                <a:latin typeface="Courier New" panose="02070309020205020404" pitchFamily="49" charset="0"/>
              </a:rPr>
              <a:t>;</a:t>
            </a:r>
          </a:p>
          <a:p>
            <a:pPr rtl="0">
              <a:buNone/>
            </a:pPr>
            <a:r>
              <a:rPr lang="es-ES" dirty="0">
                <a:latin typeface="Courier New" panose="02070309020205020404" pitchFamily="49" charset="0"/>
              </a:rPr>
              <a:t>}</a:t>
            </a:r>
          </a:p>
          <a:p>
            <a:pPr>
              <a:buNone/>
            </a:pPr>
            <a:r>
              <a:rPr lang="es-ES" dirty="0"/>
              <a:t>Ambos elementos tendrán borde verde.</a:t>
            </a:r>
          </a:p>
        </p:txBody>
      </p:sp>
      <p:sp>
        <p:nvSpPr>
          <p:cNvPr id="5" name="CuadroTexto 4">
            <a:extLst>
              <a:ext uri="{FF2B5EF4-FFF2-40B4-BE49-F238E27FC236}">
                <a16:creationId xmlns:a16="http://schemas.microsoft.com/office/drawing/2014/main" id="{0EBBF875-0B85-8347-5D79-7C0A11DC9E62}"/>
              </a:ext>
            </a:extLst>
          </p:cNvPr>
          <p:cNvSpPr txBox="1"/>
          <p:nvPr/>
        </p:nvSpPr>
        <p:spPr>
          <a:xfrm>
            <a:off x="358878" y="372354"/>
            <a:ext cx="5043948" cy="523220"/>
          </a:xfrm>
          <a:prstGeom prst="rect">
            <a:avLst/>
          </a:prstGeom>
          <a:noFill/>
        </p:spPr>
        <p:txBody>
          <a:bodyPr wrap="square">
            <a:spAutoFit/>
          </a:bodyPr>
          <a:lstStyle/>
          <a:p>
            <a:r>
              <a:rPr lang="es-ES" sz="2800" b="1" dirty="0">
                <a:solidFill>
                  <a:schemeClr val="bg1"/>
                </a:solidFill>
                <a:latin typeface=""/>
                <a:cs typeface="Noto Nastaliq Urdu" panose="020B0502040504020204" pitchFamily="34" charset="-78"/>
              </a:rPr>
              <a:t>Selectores con enlace</a:t>
            </a:r>
          </a:p>
        </p:txBody>
      </p:sp>
    </p:spTree>
    <p:extLst>
      <p:ext uri="{BB962C8B-B14F-4D97-AF65-F5344CB8AC3E}">
        <p14:creationId xmlns:p14="http://schemas.microsoft.com/office/powerpoint/2010/main" val="385385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237544CA-9C0A-246D-2B07-87F7A573EE57}"/>
              </a:ext>
            </a:extLst>
          </p:cNvPr>
          <p:cNvGraphicFramePr>
            <a:graphicFrameLocks noGrp="1"/>
          </p:cNvGraphicFramePr>
          <p:nvPr>
            <p:extLst>
              <p:ext uri="{D42A27DB-BD31-4B8C-83A1-F6EECF244321}">
                <p14:modId xmlns:p14="http://schemas.microsoft.com/office/powerpoint/2010/main" val="2478657361"/>
              </p:ext>
            </p:extLst>
          </p:nvPr>
        </p:nvGraphicFramePr>
        <p:xfrm>
          <a:off x="271872" y="1829435"/>
          <a:ext cx="9359901" cy="2011680"/>
        </p:xfrm>
        <a:graphic>
          <a:graphicData uri="http://schemas.openxmlformats.org/drawingml/2006/table">
            <a:tbl>
              <a:tblPr/>
              <a:tblGrid>
                <a:gridCol w="3119967">
                  <a:extLst>
                    <a:ext uri="{9D8B030D-6E8A-4147-A177-3AD203B41FA5}">
                      <a16:colId xmlns:a16="http://schemas.microsoft.com/office/drawing/2014/main" val="1839608128"/>
                    </a:ext>
                  </a:extLst>
                </a:gridCol>
                <a:gridCol w="3119967">
                  <a:extLst>
                    <a:ext uri="{9D8B030D-6E8A-4147-A177-3AD203B41FA5}">
                      <a16:colId xmlns:a16="http://schemas.microsoft.com/office/drawing/2014/main" val="1228634014"/>
                    </a:ext>
                  </a:extLst>
                </a:gridCol>
                <a:gridCol w="3119967">
                  <a:extLst>
                    <a:ext uri="{9D8B030D-6E8A-4147-A177-3AD203B41FA5}">
                      <a16:colId xmlns:a16="http://schemas.microsoft.com/office/drawing/2014/main" val="2451386146"/>
                    </a:ext>
                  </a:extLst>
                </a:gridCol>
              </a:tblGrid>
              <a:tr h="365760">
                <a:tc>
                  <a:txBody>
                    <a:bodyPr/>
                    <a:lstStyle/>
                    <a:p>
                      <a:pPr>
                        <a:buNone/>
                      </a:pPr>
                      <a:r>
                        <a:rPr lang="es-ES" sz="1800"/>
                        <a:t>Selector</a:t>
                      </a:r>
                    </a:p>
                  </a:txBody>
                  <a:tcPr anchor="ctr">
                    <a:lnL>
                      <a:noFill/>
                    </a:lnL>
                    <a:lnR>
                      <a:noFill/>
                    </a:lnR>
                    <a:lnT>
                      <a:noFill/>
                    </a:lnT>
                    <a:lnB>
                      <a:noFill/>
                    </a:lnB>
                    <a:noFill/>
                  </a:tcPr>
                </a:tc>
                <a:tc>
                  <a:txBody>
                    <a:bodyPr/>
                    <a:lstStyle/>
                    <a:p>
                      <a:pPr>
                        <a:buNone/>
                      </a:pPr>
                      <a:r>
                        <a:rPr lang="es-ES" sz="1800"/>
                        <a:t>Significado</a:t>
                      </a:r>
                    </a:p>
                  </a:txBody>
                  <a:tcPr anchor="ctr">
                    <a:lnL>
                      <a:noFill/>
                    </a:lnL>
                    <a:lnR>
                      <a:noFill/>
                    </a:lnR>
                    <a:lnT>
                      <a:noFill/>
                    </a:lnT>
                    <a:lnB>
                      <a:noFill/>
                    </a:lnB>
                    <a:noFill/>
                  </a:tcPr>
                </a:tc>
                <a:tc>
                  <a:txBody>
                    <a:bodyPr/>
                    <a:lstStyle/>
                    <a:p>
                      <a:pPr>
                        <a:buNone/>
                      </a:pPr>
                      <a:r>
                        <a:rPr lang="es-ES" sz="1800"/>
                        <a:t>Ejemplo afectado</a:t>
                      </a:r>
                    </a:p>
                  </a:txBody>
                  <a:tcPr anchor="ctr">
                    <a:lnL>
                      <a:noFill/>
                    </a:lnL>
                    <a:lnR>
                      <a:noFill/>
                    </a:lnR>
                    <a:lnT>
                      <a:noFill/>
                    </a:lnT>
                    <a:lnB>
                      <a:noFill/>
                    </a:lnB>
                    <a:noFill/>
                  </a:tcPr>
                </a:tc>
                <a:extLst>
                  <a:ext uri="{0D108BD9-81ED-4DB2-BD59-A6C34878D82A}">
                    <a16:rowId xmlns:a16="http://schemas.microsoft.com/office/drawing/2014/main" val="2209015758"/>
                  </a:ext>
                </a:extLst>
              </a:tr>
              <a:tr h="365760">
                <a:tc>
                  <a:txBody>
                    <a:bodyPr/>
                    <a:lstStyle/>
                    <a:p>
                      <a:pPr>
                        <a:buNone/>
                      </a:pPr>
                      <a:r>
                        <a:rPr lang="es-ES" sz="1800">
                          <a:latin typeface="Courier New" panose="02070309020205020404" pitchFamily="49" charset="0"/>
                        </a:rPr>
                        <a:t>div.intro</a:t>
                      </a:r>
                      <a:endParaRPr lang="es-ES" sz="1800"/>
                    </a:p>
                  </a:txBody>
                  <a:tcPr anchor="ctr">
                    <a:lnL>
                      <a:noFill/>
                    </a:lnL>
                    <a:lnR>
                      <a:noFill/>
                    </a:lnR>
                    <a:lnT>
                      <a:noFill/>
                    </a:lnT>
                    <a:lnB>
                      <a:noFill/>
                    </a:lnB>
                    <a:noFill/>
                  </a:tcPr>
                </a:tc>
                <a:tc>
                  <a:txBody>
                    <a:bodyPr/>
                    <a:lstStyle/>
                    <a:p>
                      <a:pPr>
                        <a:buNone/>
                      </a:pPr>
                      <a:r>
                        <a:rPr lang="es-ES" sz="1800">
                          <a:latin typeface="Courier New" panose="02070309020205020404" pitchFamily="49" charset="0"/>
                        </a:rPr>
                        <a:t>&lt;div&gt;</a:t>
                      </a:r>
                      <a:r>
                        <a:rPr lang="es-ES" sz="1800"/>
                        <a:t> con clase </a:t>
                      </a:r>
                      <a:r>
                        <a:rPr lang="es-ES" sz="1800">
                          <a:latin typeface="Courier New" panose="02070309020205020404" pitchFamily="49" charset="0"/>
                        </a:rPr>
                        <a:t>intro</a:t>
                      </a:r>
                      <a:endParaRPr lang="es-ES" sz="1800"/>
                    </a:p>
                  </a:txBody>
                  <a:tcPr anchor="ctr">
                    <a:lnL>
                      <a:noFill/>
                    </a:lnL>
                    <a:lnR>
                      <a:noFill/>
                    </a:lnR>
                    <a:lnT>
                      <a:noFill/>
                    </a:lnT>
                    <a:lnB>
                      <a:noFill/>
                    </a:lnB>
                    <a:noFill/>
                  </a:tcPr>
                </a:tc>
                <a:tc>
                  <a:txBody>
                    <a:bodyPr/>
                    <a:lstStyle/>
                    <a:p>
                      <a:pPr>
                        <a:buNone/>
                      </a:pPr>
                      <a:r>
                        <a:rPr lang="es-ES" sz="1800">
                          <a:latin typeface="Courier New" panose="02070309020205020404" pitchFamily="49" charset="0"/>
                        </a:rPr>
                        <a:t>&lt;div class="intro"&gt;</a:t>
                      </a:r>
                      <a:endParaRPr lang="es-ES" sz="1800"/>
                    </a:p>
                  </a:txBody>
                  <a:tcPr anchor="ctr">
                    <a:lnL>
                      <a:noFill/>
                    </a:lnL>
                    <a:lnR>
                      <a:noFill/>
                    </a:lnR>
                    <a:lnT>
                      <a:noFill/>
                    </a:lnT>
                    <a:lnB>
                      <a:noFill/>
                    </a:lnB>
                    <a:noFill/>
                  </a:tcPr>
                </a:tc>
                <a:extLst>
                  <a:ext uri="{0D108BD9-81ED-4DB2-BD59-A6C34878D82A}">
                    <a16:rowId xmlns:a16="http://schemas.microsoft.com/office/drawing/2014/main" val="59718646"/>
                  </a:ext>
                </a:extLst>
              </a:tr>
              <a:tr h="640080">
                <a:tc>
                  <a:txBody>
                    <a:bodyPr/>
                    <a:lstStyle/>
                    <a:p>
                      <a:pPr>
                        <a:buNone/>
                      </a:pPr>
                      <a:r>
                        <a:rPr lang="es-ES" sz="1800">
                          <a:latin typeface="Courier New" panose="02070309020205020404" pitchFamily="49" charset="0"/>
                        </a:rPr>
                        <a:t>div .intro</a:t>
                      </a:r>
                      <a:endParaRPr lang="es-ES" sz="1800"/>
                    </a:p>
                  </a:txBody>
                  <a:tcPr anchor="ctr">
                    <a:lnL>
                      <a:noFill/>
                    </a:lnL>
                    <a:lnR>
                      <a:noFill/>
                    </a:lnR>
                    <a:lnT>
                      <a:noFill/>
                    </a:lnT>
                    <a:lnB>
                      <a:noFill/>
                    </a:lnB>
                    <a:noFill/>
                  </a:tcPr>
                </a:tc>
                <a:tc>
                  <a:txBody>
                    <a:bodyPr/>
                    <a:lstStyle/>
                    <a:p>
                      <a:pPr>
                        <a:buNone/>
                      </a:pPr>
                      <a:r>
                        <a:rPr lang="es-ES" sz="1800"/>
                        <a:t>elemento con clase </a:t>
                      </a:r>
                      <a:r>
                        <a:rPr lang="es-ES" sz="1800">
                          <a:latin typeface="Courier New" panose="02070309020205020404" pitchFamily="49" charset="0"/>
                        </a:rPr>
                        <a:t>intro</a:t>
                      </a:r>
                      <a:r>
                        <a:rPr lang="es-ES" sz="1800"/>
                        <a:t> dentro de un </a:t>
                      </a:r>
                      <a:r>
                        <a:rPr lang="es-ES" sz="1800">
                          <a:latin typeface="Courier New" panose="02070309020205020404" pitchFamily="49" charset="0"/>
                        </a:rPr>
                        <a:t>&lt;div&gt;</a:t>
                      </a:r>
                      <a:endParaRPr lang="es-ES" sz="1800"/>
                    </a:p>
                  </a:txBody>
                  <a:tcPr anchor="ctr">
                    <a:lnL>
                      <a:noFill/>
                    </a:lnL>
                    <a:lnR>
                      <a:noFill/>
                    </a:lnR>
                    <a:lnT>
                      <a:noFill/>
                    </a:lnT>
                    <a:lnB>
                      <a:noFill/>
                    </a:lnB>
                    <a:noFill/>
                  </a:tcPr>
                </a:tc>
                <a:tc>
                  <a:txBody>
                    <a:bodyPr/>
                    <a:lstStyle/>
                    <a:p>
                      <a:pPr>
                        <a:buNone/>
                      </a:pPr>
                      <a:r>
                        <a:rPr lang="es-ES" sz="1800">
                          <a:latin typeface="Courier New" panose="02070309020205020404" pitchFamily="49" charset="0"/>
                        </a:rPr>
                        <a:t>&lt;p class="intro"&gt;</a:t>
                      </a:r>
                      <a:r>
                        <a:rPr lang="es-ES" sz="1800"/>
                        <a:t> dentro de un </a:t>
                      </a:r>
                      <a:r>
                        <a:rPr lang="es-ES" sz="1800">
                          <a:latin typeface="Courier New" panose="02070309020205020404" pitchFamily="49" charset="0"/>
                        </a:rPr>
                        <a:t>&lt;div&gt;</a:t>
                      </a:r>
                      <a:endParaRPr lang="es-ES" sz="1800"/>
                    </a:p>
                  </a:txBody>
                  <a:tcPr anchor="ctr">
                    <a:lnL>
                      <a:noFill/>
                    </a:lnL>
                    <a:lnR>
                      <a:noFill/>
                    </a:lnR>
                    <a:lnT>
                      <a:noFill/>
                    </a:lnT>
                    <a:lnB>
                      <a:noFill/>
                    </a:lnB>
                    <a:noFill/>
                  </a:tcPr>
                </a:tc>
                <a:extLst>
                  <a:ext uri="{0D108BD9-81ED-4DB2-BD59-A6C34878D82A}">
                    <a16:rowId xmlns:a16="http://schemas.microsoft.com/office/drawing/2014/main" val="365941845"/>
                  </a:ext>
                </a:extLst>
              </a:tr>
              <a:tr h="640080">
                <a:tc>
                  <a:txBody>
                    <a:bodyPr/>
                    <a:lstStyle/>
                    <a:p>
                      <a:pPr>
                        <a:buNone/>
                      </a:pPr>
                      <a:r>
                        <a:rPr lang="es-ES" sz="1800">
                          <a:latin typeface="Courier New" panose="02070309020205020404" pitchFamily="49" charset="0"/>
                        </a:rPr>
                        <a:t>div, .intro</a:t>
                      </a:r>
                      <a:endParaRPr lang="es-ES" sz="1800"/>
                    </a:p>
                  </a:txBody>
                  <a:tcPr anchor="ctr">
                    <a:lnL>
                      <a:noFill/>
                    </a:lnL>
                    <a:lnR>
                      <a:noFill/>
                    </a:lnR>
                    <a:lnT>
                      <a:noFill/>
                    </a:lnT>
                    <a:lnB>
                      <a:noFill/>
                    </a:lnB>
                    <a:noFill/>
                  </a:tcPr>
                </a:tc>
                <a:tc>
                  <a:txBody>
                    <a:bodyPr/>
                    <a:lstStyle/>
                    <a:p>
                      <a:pPr>
                        <a:buNone/>
                      </a:pPr>
                      <a:r>
                        <a:rPr lang="es-ES" sz="1800"/>
                        <a:t>todos los </a:t>
                      </a:r>
                      <a:r>
                        <a:rPr lang="es-ES" sz="1800">
                          <a:latin typeface="Courier New" panose="02070309020205020404" pitchFamily="49" charset="0"/>
                        </a:rPr>
                        <a:t>&lt;div&gt;</a:t>
                      </a:r>
                      <a:r>
                        <a:rPr lang="es-ES" sz="1800"/>
                        <a:t> y todos los </a:t>
                      </a:r>
                      <a:r>
                        <a:rPr lang="es-ES" sz="1800">
                          <a:latin typeface="Courier New" panose="02070309020205020404" pitchFamily="49" charset="0"/>
                        </a:rPr>
                        <a:t>.intro</a:t>
                      </a:r>
                      <a:endParaRPr lang="es-ES" sz="1800"/>
                    </a:p>
                  </a:txBody>
                  <a:tcPr anchor="ctr">
                    <a:lnL>
                      <a:noFill/>
                    </a:lnL>
                    <a:lnR>
                      <a:noFill/>
                    </a:lnR>
                    <a:lnT>
                      <a:noFill/>
                    </a:lnT>
                    <a:lnB>
                      <a:noFill/>
                    </a:lnB>
                    <a:noFill/>
                  </a:tcPr>
                </a:tc>
                <a:tc>
                  <a:txBody>
                    <a:bodyPr/>
                    <a:lstStyle/>
                    <a:p>
                      <a:pPr>
                        <a:buNone/>
                      </a:pPr>
                      <a:r>
                        <a:rPr lang="es-ES" sz="1800" dirty="0">
                          <a:latin typeface="Courier New" panose="02070309020205020404" pitchFamily="49" charset="0"/>
                        </a:rPr>
                        <a:t>&lt;</a:t>
                      </a:r>
                      <a:r>
                        <a:rPr lang="es-ES" sz="1800" dirty="0" err="1">
                          <a:latin typeface="Courier New" panose="02070309020205020404" pitchFamily="49" charset="0"/>
                        </a:rPr>
                        <a:t>div</a:t>
                      </a:r>
                      <a:r>
                        <a:rPr lang="es-ES" sz="1800" dirty="0">
                          <a:latin typeface="Courier New" panose="02070309020205020404" pitchFamily="49" charset="0"/>
                        </a:rPr>
                        <a:t>&gt;</a:t>
                      </a:r>
                      <a:r>
                        <a:rPr lang="es-ES" sz="1800" dirty="0"/>
                        <a:t> y </a:t>
                      </a:r>
                      <a:r>
                        <a:rPr lang="es-ES" sz="1800" dirty="0">
                          <a:latin typeface="Courier New" panose="02070309020205020404" pitchFamily="49" charset="0"/>
                        </a:rPr>
                        <a:t>&lt;p </a:t>
                      </a:r>
                      <a:r>
                        <a:rPr lang="es-ES" sz="1800" dirty="0" err="1">
                          <a:latin typeface="Courier New" panose="02070309020205020404" pitchFamily="49" charset="0"/>
                        </a:rPr>
                        <a:t>class</a:t>
                      </a:r>
                      <a:r>
                        <a:rPr lang="es-ES" sz="1800" dirty="0">
                          <a:latin typeface="Courier New" panose="02070309020205020404" pitchFamily="49" charset="0"/>
                        </a:rPr>
                        <a:t>="</a:t>
                      </a:r>
                      <a:r>
                        <a:rPr lang="es-ES" sz="1800" dirty="0" err="1">
                          <a:latin typeface="Courier New" panose="02070309020205020404" pitchFamily="49" charset="0"/>
                        </a:rPr>
                        <a:t>intro</a:t>
                      </a:r>
                      <a:r>
                        <a:rPr lang="es-ES" sz="1800" dirty="0">
                          <a:latin typeface="Courier New" panose="02070309020205020404" pitchFamily="49" charset="0"/>
                        </a:rPr>
                        <a:t>"&gt;</a:t>
                      </a:r>
                      <a:endParaRPr lang="es-ES" sz="1800" dirty="0"/>
                    </a:p>
                  </a:txBody>
                  <a:tcPr anchor="ctr">
                    <a:lnL>
                      <a:noFill/>
                    </a:lnL>
                    <a:lnR>
                      <a:noFill/>
                    </a:lnR>
                    <a:lnT>
                      <a:noFill/>
                    </a:lnT>
                    <a:lnB>
                      <a:noFill/>
                    </a:lnB>
                    <a:noFill/>
                  </a:tcPr>
                </a:tc>
                <a:extLst>
                  <a:ext uri="{0D108BD9-81ED-4DB2-BD59-A6C34878D82A}">
                    <a16:rowId xmlns:a16="http://schemas.microsoft.com/office/drawing/2014/main" val="2806722546"/>
                  </a:ext>
                </a:extLst>
              </a:tr>
            </a:tbl>
          </a:graphicData>
        </a:graphic>
      </p:graphicFrame>
      <p:sp>
        <p:nvSpPr>
          <p:cNvPr id="4" name="CuadroTexto 3">
            <a:extLst>
              <a:ext uri="{FF2B5EF4-FFF2-40B4-BE49-F238E27FC236}">
                <a16:creationId xmlns:a16="http://schemas.microsoft.com/office/drawing/2014/main" id="{070A9776-739B-4137-6FC6-2454C9B5E096}"/>
              </a:ext>
            </a:extLst>
          </p:cNvPr>
          <p:cNvSpPr txBox="1"/>
          <p:nvPr/>
        </p:nvSpPr>
        <p:spPr>
          <a:xfrm>
            <a:off x="791496" y="454430"/>
            <a:ext cx="5043948" cy="523220"/>
          </a:xfrm>
          <a:prstGeom prst="rect">
            <a:avLst/>
          </a:prstGeom>
          <a:noFill/>
        </p:spPr>
        <p:txBody>
          <a:bodyPr wrap="square">
            <a:spAutoFit/>
          </a:bodyPr>
          <a:lstStyle/>
          <a:p>
            <a:r>
              <a:rPr lang="es-ES" sz="2800" b="1" dirty="0">
                <a:solidFill>
                  <a:schemeClr val="bg1"/>
                </a:solidFill>
                <a:latin typeface=""/>
                <a:cs typeface="Noto Nastaliq Urdu" panose="020B0502040504020204" pitchFamily="34" charset="-78"/>
              </a:rPr>
              <a:t>Selectores con enlace</a:t>
            </a:r>
          </a:p>
        </p:txBody>
      </p:sp>
    </p:spTree>
    <p:extLst>
      <p:ext uri="{BB962C8B-B14F-4D97-AF65-F5344CB8AC3E}">
        <p14:creationId xmlns:p14="http://schemas.microsoft.com/office/powerpoint/2010/main" val="371375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Selectores con alcance</a:t>
            </a:r>
          </a:p>
        </p:txBody>
      </p:sp>
      <p:sp>
        <p:nvSpPr>
          <p:cNvPr id="4" name="CuadroTexto 3">
            <a:extLst>
              <a:ext uri="{FF2B5EF4-FFF2-40B4-BE49-F238E27FC236}">
                <a16:creationId xmlns:a16="http://schemas.microsoft.com/office/drawing/2014/main" id="{1654EAC4-33DA-E23A-32C1-2A79A78003C6}"/>
              </a:ext>
            </a:extLst>
          </p:cNvPr>
          <p:cNvSpPr txBox="1"/>
          <p:nvPr/>
        </p:nvSpPr>
        <p:spPr>
          <a:xfrm>
            <a:off x="286604" y="1569492"/>
            <a:ext cx="7028597" cy="3416320"/>
          </a:xfrm>
          <a:prstGeom prst="rect">
            <a:avLst/>
          </a:prstGeom>
          <a:noFill/>
        </p:spPr>
        <p:txBody>
          <a:bodyPr wrap="square" rtlCol="0">
            <a:spAutoFit/>
          </a:bodyPr>
          <a:lstStyle/>
          <a:p>
            <a:r>
              <a:rPr lang="es-ES" dirty="0"/>
              <a:t>Actividad</a:t>
            </a:r>
          </a:p>
          <a:p>
            <a:pPr marL="342900" indent="-342900">
              <a:buAutoNum type="arabicPeriod"/>
            </a:pPr>
            <a:r>
              <a:rPr lang="es-ES" dirty="0">
                <a:hlinkClick r:id="rId3"/>
              </a:rPr>
              <a:t>https://es.khanacademy.org/computing/computer-programming/html-css/intro-to-css/pc/challenge-seasonal-ids</a:t>
            </a:r>
            <a:endParaRPr lang="es-ES" dirty="0">
              <a:hlinkClick r:id="rId4"/>
            </a:endParaRPr>
          </a:p>
          <a:p>
            <a:pPr marL="342900" indent="-342900">
              <a:buAutoNum type="arabicPeriod"/>
            </a:pPr>
            <a:endParaRPr lang="es-ES" dirty="0">
              <a:hlinkClick r:id="rId4"/>
            </a:endParaRPr>
          </a:p>
          <a:p>
            <a:pPr marL="342900" indent="-342900">
              <a:buAutoNum type="arabicPeriod"/>
            </a:pPr>
            <a:r>
              <a:rPr lang="es-ES" dirty="0">
                <a:hlinkClick r:id="rId4"/>
              </a:rPr>
              <a:t>https://es.khanacademy.org/computing/computer-programming/html-css/intro-to-css/e/quiz--simple-css-selectors</a:t>
            </a:r>
            <a:endParaRPr lang="es-ES" dirty="0"/>
          </a:p>
          <a:p>
            <a:pPr marL="342900" indent="-342900">
              <a:buAutoNum type="arabicPeriod"/>
            </a:pPr>
            <a:endParaRPr lang="es-ES" dirty="0"/>
          </a:p>
          <a:p>
            <a:pPr marL="342900" indent="-342900">
              <a:buFontTx/>
              <a:buAutoNum type="arabicPeriod"/>
            </a:pPr>
            <a:r>
              <a:rPr lang="es-ES" dirty="0">
                <a:hlinkClick r:id="rId5"/>
              </a:rPr>
              <a:t>https://es.khanacademy.org/computing/computer-programming/html-css/more-css-selectors/pc/challenge-classes-of-elements</a:t>
            </a:r>
            <a:r>
              <a:rPr lang="es-ES" dirty="0"/>
              <a:t> </a:t>
            </a:r>
          </a:p>
          <a:p>
            <a:pPr marL="342900" indent="-342900">
              <a:buAutoNum type="arabicPeriod"/>
            </a:pPr>
            <a:endParaRPr lang="es-ES" dirty="0"/>
          </a:p>
          <a:p>
            <a:pPr marL="342900" indent="-342900">
              <a:buAutoNum type="arabicPeriod"/>
            </a:pPr>
            <a:endParaRPr lang="es-ES" dirty="0"/>
          </a:p>
        </p:txBody>
      </p:sp>
    </p:spTree>
    <p:extLst>
      <p:ext uri="{BB962C8B-B14F-4D97-AF65-F5344CB8AC3E}">
        <p14:creationId xmlns:p14="http://schemas.microsoft.com/office/powerpoint/2010/main" val="3769571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59999" y="225719"/>
            <a:ext cx="9359999" cy="719998"/>
          </a:xfrm>
        </p:spPr>
        <p:txBody>
          <a:bodyPr/>
          <a:lstStyle/>
          <a:p>
            <a:pPr lvl="0"/>
            <a:r>
              <a:rPr lang="es-ES" dirty="0">
                <a:cs typeface="Noto Sans" pitchFamily="2"/>
              </a:rPr>
              <a:t>Selectores de atributo</a:t>
            </a:r>
          </a:p>
        </p:txBody>
      </p:sp>
      <p:sp>
        <p:nvSpPr>
          <p:cNvPr id="5" name="Marcador de contenido 2">
            <a:extLst>
              <a:ext uri="{FF2B5EF4-FFF2-40B4-BE49-F238E27FC236}">
                <a16:creationId xmlns:a16="http://schemas.microsoft.com/office/drawing/2014/main" id="{7F6ADB15-F6FA-6180-750F-54B41D4DF7A8}"/>
              </a:ext>
            </a:extLst>
          </p:cNvPr>
          <p:cNvSpPr txBox="1">
            <a:spLocks/>
          </p:cNvSpPr>
          <p:nvPr/>
        </p:nvSpPr>
        <p:spPr>
          <a:xfrm>
            <a:off x="381663" y="1328973"/>
            <a:ext cx="10058400" cy="3760891"/>
          </a:xfrm>
          <a:prstGeom prst="rect">
            <a:avLst/>
          </a:prstGeom>
        </p:spPr>
        <p:txBody>
          <a:bodyPr/>
          <a:lst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000" dirty="0"/>
              <a:t>Seleccionan según un atributo del elemento y sus posibles valores</a:t>
            </a:r>
          </a:p>
          <a:p>
            <a:endParaRPr lang="es-ES" dirty="0"/>
          </a:p>
        </p:txBody>
      </p:sp>
      <p:graphicFrame>
        <p:nvGraphicFramePr>
          <p:cNvPr id="6" name="Marcador de contenido 6">
            <a:extLst>
              <a:ext uri="{FF2B5EF4-FFF2-40B4-BE49-F238E27FC236}">
                <a16:creationId xmlns:a16="http://schemas.microsoft.com/office/drawing/2014/main" id="{E5532565-84A8-1107-585E-2D3EB910CFD3}"/>
              </a:ext>
            </a:extLst>
          </p:cNvPr>
          <p:cNvGraphicFramePr>
            <a:graphicFrameLocks/>
          </p:cNvGraphicFramePr>
          <p:nvPr>
            <p:extLst>
              <p:ext uri="{D42A27DB-BD31-4B8C-83A1-F6EECF244321}">
                <p14:modId xmlns:p14="http://schemas.microsoft.com/office/powerpoint/2010/main" val="1849613427"/>
              </p:ext>
            </p:extLst>
          </p:nvPr>
        </p:nvGraphicFramePr>
        <p:xfrm>
          <a:off x="176388" y="1731763"/>
          <a:ext cx="9476495" cy="3779520"/>
        </p:xfrm>
        <a:graphic>
          <a:graphicData uri="http://schemas.openxmlformats.org/drawingml/2006/table">
            <a:tbl>
              <a:tblPr>
                <a:tableStyleId>{5C22544A-7EE6-4342-B048-85BDC9FD1C3A}</a:tableStyleId>
              </a:tblPr>
              <a:tblGrid>
                <a:gridCol w="2971701">
                  <a:extLst>
                    <a:ext uri="{9D8B030D-6E8A-4147-A177-3AD203B41FA5}">
                      <a16:colId xmlns:a16="http://schemas.microsoft.com/office/drawing/2014/main" val="2269002760"/>
                    </a:ext>
                  </a:extLst>
                </a:gridCol>
                <a:gridCol w="6504794">
                  <a:extLst>
                    <a:ext uri="{9D8B030D-6E8A-4147-A177-3AD203B41FA5}">
                      <a16:colId xmlns:a16="http://schemas.microsoft.com/office/drawing/2014/main" val="3127702215"/>
                    </a:ext>
                  </a:extLst>
                </a:gridCol>
              </a:tblGrid>
              <a:tr h="0">
                <a:tc>
                  <a:txBody>
                    <a:bodyPr/>
                    <a:lstStyle/>
                    <a:p>
                      <a:pPr algn="l" fontAlgn="b"/>
                      <a:r>
                        <a:rPr lang="es-ES" sz="2000" b="1" noProof="0" dirty="0">
                          <a:solidFill>
                            <a:schemeClr val="bg1">
                              <a:lumMod val="95000"/>
                            </a:schemeClr>
                          </a:solidFill>
                          <a:effectLst/>
                        </a:rPr>
                        <a:t>Sintaxis</a:t>
                      </a:r>
                    </a:p>
                  </a:txBody>
                  <a:tcPr anchor="b">
                    <a:solidFill>
                      <a:schemeClr val="accent5">
                        <a:lumMod val="50000"/>
                      </a:schemeClr>
                    </a:solidFill>
                  </a:tcPr>
                </a:tc>
                <a:tc>
                  <a:txBody>
                    <a:bodyPr/>
                    <a:lstStyle/>
                    <a:p>
                      <a:pPr algn="l" fontAlgn="b"/>
                      <a:r>
                        <a:rPr lang="es-ES" sz="2000" b="1" noProof="0" dirty="0">
                          <a:solidFill>
                            <a:schemeClr val="bg1">
                              <a:lumMod val="95000"/>
                            </a:schemeClr>
                          </a:solidFill>
                          <a:effectLst/>
                        </a:rPr>
                        <a:t>Descripción</a:t>
                      </a:r>
                    </a:p>
                  </a:txBody>
                  <a:tcPr anchor="b">
                    <a:solidFill>
                      <a:schemeClr val="accent5">
                        <a:lumMod val="50000"/>
                      </a:schemeClr>
                    </a:solidFill>
                  </a:tcPr>
                </a:tc>
                <a:extLst>
                  <a:ext uri="{0D108BD9-81ED-4DB2-BD59-A6C34878D82A}">
                    <a16:rowId xmlns:a16="http://schemas.microsoft.com/office/drawing/2014/main" val="3441460044"/>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p>
                  </a:txBody>
                  <a:tcPr/>
                </a:tc>
                <a:tc>
                  <a:txBody>
                    <a:bodyPr/>
                    <a:lstStyle/>
                    <a:p>
                      <a:pPr algn="l" fontAlgn="t"/>
                      <a:r>
                        <a:rPr lang="es-ES" b="0" dirty="0">
                          <a:effectLst/>
                        </a:rPr>
                        <a:t>Selecciona el elemento con este atributo.</a:t>
                      </a:r>
                    </a:p>
                  </a:txBody>
                  <a:tcPr/>
                </a:tc>
                <a:extLst>
                  <a:ext uri="{0D108BD9-81ED-4DB2-BD59-A6C34878D82A}">
                    <a16:rowId xmlns:a16="http://schemas.microsoft.com/office/drawing/2014/main" val="3574789239"/>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El valor del atributo es </a:t>
                      </a:r>
                      <a:r>
                        <a:rPr lang="es-ES" b="0" i="1" dirty="0">
                          <a:effectLst/>
                        </a:rPr>
                        <a:t>texto</a:t>
                      </a:r>
                      <a:r>
                        <a:rPr lang="es-ES" b="0" dirty="0">
                          <a:effectLst/>
                        </a:rPr>
                        <a:t>.</a:t>
                      </a:r>
                    </a:p>
                  </a:txBody>
                  <a:tcPr/>
                </a:tc>
                <a:extLst>
                  <a:ext uri="{0D108BD9-81ED-4DB2-BD59-A6C34878D82A}">
                    <a16:rowId xmlns:a16="http://schemas.microsoft.com/office/drawing/2014/main" val="1284038267"/>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sz="1800" b="0" dirty="0">
                          <a:effectLst/>
                          <a:latin typeface="Consolas" panose="020B0609020204030204" pitchFamily="49" charset="0"/>
                        </a:rPr>
                        <a:t>~</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Seleccionar elementos que tienen un atributo especificado con un valor que contiene una lista de palabras separadas por espacios y una de esas palabras es exactamente </a:t>
                      </a:r>
                      <a:r>
                        <a:rPr lang="es-ES" b="0" i="1" dirty="0">
                          <a:effectLst/>
                        </a:rPr>
                        <a:t>texto.</a:t>
                      </a:r>
                    </a:p>
                  </a:txBody>
                  <a:tcPr/>
                </a:tc>
                <a:extLst>
                  <a:ext uri="{0D108BD9-81ED-4DB2-BD59-A6C34878D82A}">
                    <a16:rowId xmlns:a16="http://schemas.microsoft.com/office/drawing/2014/main" val="73822695"/>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El valor del atributo comienza por </a:t>
                      </a:r>
                      <a:r>
                        <a:rPr lang="es-ES" b="0" i="1" dirty="0">
                          <a:effectLst/>
                        </a:rPr>
                        <a:t>texto </a:t>
                      </a:r>
                      <a:r>
                        <a:rPr lang="es-ES" b="0" i="0" dirty="0">
                          <a:effectLst/>
                        </a:rPr>
                        <a:t>o por texto seguido de guion.</a:t>
                      </a:r>
                      <a:endParaRPr lang="es-ES" b="0" dirty="0">
                        <a:effectLst/>
                      </a:endParaRPr>
                    </a:p>
                  </a:txBody>
                  <a:tcPr/>
                </a:tc>
                <a:extLst>
                  <a:ext uri="{0D108BD9-81ED-4DB2-BD59-A6C34878D82A}">
                    <a16:rowId xmlns:a16="http://schemas.microsoft.com/office/drawing/2014/main" val="3426557098"/>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El valor del atributo comienza por texto.</a:t>
                      </a:r>
                    </a:p>
                  </a:txBody>
                  <a:tcPr/>
                </a:tc>
                <a:extLst>
                  <a:ext uri="{0D108BD9-81ED-4DB2-BD59-A6C34878D82A}">
                    <a16:rowId xmlns:a16="http://schemas.microsoft.com/office/drawing/2014/main" val="693261636"/>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El valor del atributo acaba con texto.</a:t>
                      </a:r>
                    </a:p>
                  </a:txBody>
                  <a:tcPr/>
                </a:tc>
                <a:extLst>
                  <a:ext uri="{0D108BD9-81ED-4DB2-BD59-A6C34878D82A}">
                    <a16:rowId xmlns:a16="http://schemas.microsoft.com/office/drawing/2014/main" val="1676079"/>
                  </a:ext>
                </a:extLst>
              </a:tr>
              <a:tr h="0">
                <a:tc>
                  <a:txBody>
                    <a:bodyPr/>
                    <a:lstStyle/>
                    <a:p>
                      <a:pPr algn="l" fontAlgn="t"/>
                      <a:r>
                        <a:rPr lang="en-US" b="0" dirty="0">
                          <a:effectLst/>
                          <a:latin typeface="Consolas" panose="020B0609020204030204" pitchFamily="49" charset="0"/>
                        </a:rPr>
                        <a:t>[</a:t>
                      </a:r>
                      <a:r>
                        <a:rPr lang="en-US" b="0" dirty="0" err="1">
                          <a:effectLst/>
                          <a:latin typeface="Consolas" panose="020B0609020204030204" pitchFamily="49" charset="0"/>
                        </a:rPr>
                        <a:t>atributo</a:t>
                      </a:r>
                      <a:r>
                        <a:rPr lang="en-US" b="0" dirty="0">
                          <a:effectLst/>
                          <a:latin typeface="Consolas" panose="020B0609020204030204" pitchFamily="49" charset="0"/>
                        </a:rPr>
                        <a:t>*=“</a:t>
                      </a:r>
                      <a:r>
                        <a:rPr lang="en-US" b="0" dirty="0" err="1">
                          <a:effectLst/>
                          <a:latin typeface="Consolas" panose="020B0609020204030204" pitchFamily="49" charset="0"/>
                        </a:rPr>
                        <a:t>texto</a:t>
                      </a:r>
                      <a:r>
                        <a:rPr lang="en-US" b="0" dirty="0">
                          <a:effectLst/>
                          <a:latin typeface="Consolas" panose="020B0609020204030204" pitchFamily="49" charset="0"/>
                        </a:rPr>
                        <a:t>”]</a:t>
                      </a:r>
                    </a:p>
                  </a:txBody>
                  <a:tcPr/>
                </a:tc>
                <a:tc>
                  <a:txBody>
                    <a:bodyPr/>
                    <a:lstStyle/>
                    <a:p>
                      <a:pPr fontAlgn="t"/>
                      <a:r>
                        <a:rPr lang="es-ES" b="0" dirty="0">
                          <a:effectLst/>
                        </a:rPr>
                        <a:t>El valor del atributo contiene el texto.</a:t>
                      </a:r>
                    </a:p>
                  </a:txBody>
                  <a:tcPr/>
                </a:tc>
                <a:extLst>
                  <a:ext uri="{0D108BD9-81ED-4DB2-BD59-A6C34878D82A}">
                    <a16:rowId xmlns:a16="http://schemas.microsoft.com/office/drawing/2014/main" val="1773034560"/>
                  </a:ext>
                </a:extLst>
              </a:tr>
            </a:tbl>
          </a:graphicData>
        </a:graphic>
      </p:graphicFrame>
    </p:spTree>
    <p:extLst>
      <p:ext uri="{BB962C8B-B14F-4D97-AF65-F5344CB8AC3E}">
        <p14:creationId xmlns:p14="http://schemas.microsoft.com/office/powerpoint/2010/main" val="4073218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Ejercicio de selectores de atributos</a:t>
            </a:r>
          </a:p>
        </p:txBody>
      </p:sp>
      <p:graphicFrame>
        <p:nvGraphicFramePr>
          <p:cNvPr id="3" name="Tabla 2">
            <a:extLst>
              <a:ext uri="{FF2B5EF4-FFF2-40B4-BE49-F238E27FC236}">
                <a16:creationId xmlns:a16="http://schemas.microsoft.com/office/drawing/2014/main" id="{E1980310-87F8-9E00-3A67-E3E8FBFC8D0F}"/>
              </a:ext>
            </a:extLst>
          </p:cNvPr>
          <p:cNvGraphicFramePr>
            <a:graphicFrameLocks noGrp="1"/>
          </p:cNvGraphicFramePr>
          <p:nvPr>
            <p:extLst>
              <p:ext uri="{D42A27DB-BD31-4B8C-83A1-F6EECF244321}">
                <p14:modId xmlns:p14="http://schemas.microsoft.com/office/powerpoint/2010/main" val="2736932637"/>
              </p:ext>
            </p:extLst>
          </p:nvPr>
        </p:nvGraphicFramePr>
        <p:xfrm>
          <a:off x="450893" y="1322531"/>
          <a:ext cx="9275762" cy="3571240"/>
        </p:xfrm>
        <a:graphic>
          <a:graphicData uri="http://schemas.openxmlformats.org/drawingml/2006/table">
            <a:tbl>
              <a:tblPr firstRow="1" bandRow="1">
                <a:tableStyleId>{5C22544A-7EE6-4342-B048-85BDC9FD1C3A}</a:tableStyleId>
              </a:tblPr>
              <a:tblGrid>
                <a:gridCol w="7209964">
                  <a:extLst>
                    <a:ext uri="{9D8B030D-6E8A-4147-A177-3AD203B41FA5}">
                      <a16:colId xmlns:a16="http://schemas.microsoft.com/office/drawing/2014/main" val="1989180390"/>
                    </a:ext>
                  </a:extLst>
                </a:gridCol>
                <a:gridCol w="2065798">
                  <a:extLst>
                    <a:ext uri="{9D8B030D-6E8A-4147-A177-3AD203B41FA5}">
                      <a16:colId xmlns:a16="http://schemas.microsoft.com/office/drawing/2014/main" val="3744812929"/>
                    </a:ext>
                  </a:extLst>
                </a:gridCol>
              </a:tblGrid>
              <a:tr h="370840">
                <a:tc>
                  <a:txBody>
                    <a:bodyPr/>
                    <a:lstStyle/>
                    <a:p>
                      <a:pPr algn="ctr"/>
                      <a:r>
                        <a:rPr lang="es-ES" dirty="0"/>
                        <a:t>SELECCIÓN</a:t>
                      </a:r>
                    </a:p>
                  </a:txBody>
                  <a:tcPr/>
                </a:tc>
                <a:tc>
                  <a:txBody>
                    <a:bodyPr/>
                    <a:lstStyle/>
                    <a:p>
                      <a:pPr algn="ctr"/>
                      <a:r>
                        <a:rPr lang="es-ES" dirty="0"/>
                        <a:t>SOLUCIÓN</a:t>
                      </a:r>
                    </a:p>
                  </a:txBody>
                  <a:tcPr/>
                </a:tc>
                <a:extLst>
                  <a:ext uri="{0D108BD9-81ED-4DB2-BD59-A6C34878D82A}">
                    <a16:rowId xmlns:a16="http://schemas.microsoft.com/office/drawing/2014/main" val="29145814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t>seleccionar todos los elementos </a:t>
                      </a:r>
                      <a:r>
                        <a:rPr lang="es-ES" sz="1800" b="1" dirty="0">
                          <a:solidFill>
                            <a:schemeClr val="accent5">
                              <a:lumMod val="50000"/>
                            </a:schemeClr>
                          </a:solidFill>
                        </a:rPr>
                        <a:t>&lt;</a:t>
                      </a:r>
                      <a:r>
                        <a:rPr lang="es-ES" sz="1800" b="1" dirty="0" err="1">
                          <a:solidFill>
                            <a:schemeClr val="accent5">
                              <a:lumMod val="50000"/>
                            </a:schemeClr>
                          </a:solidFill>
                        </a:rPr>
                        <a:t>img</a:t>
                      </a:r>
                      <a:r>
                        <a:rPr lang="es-ES" sz="1800" b="1" dirty="0">
                          <a:solidFill>
                            <a:schemeClr val="accent5">
                              <a:lumMod val="50000"/>
                            </a:schemeClr>
                          </a:solidFill>
                        </a:rPr>
                        <a:t>&gt;</a:t>
                      </a:r>
                      <a:r>
                        <a:rPr lang="es-ES" sz="1800" dirty="0">
                          <a:solidFill>
                            <a:schemeClr val="accent5">
                              <a:lumMod val="50000"/>
                            </a:schemeClr>
                          </a:solidFill>
                        </a:rPr>
                        <a:t> </a:t>
                      </a:r>
                      <a:r>
                        <a:rPr lang="es-ES" sz="1800" dirty="0"/>
                        <a:t>con un atributo </a:t>
                      </a:r>
                      <a:r>
                        <a:rPr lang="es-ES" sz="1800" b="1" dirty="0" err="1">
                          <a:solidFill>
                            <a:schemeClr val="accent5">
                              <a:lumMod val="50000"/>
                            </a:schemeClr>
                          </a:solidFill>
                        </a:rPr>
                        <a:t>alt</a:t>
                      </a:r>
                      <a:r>
                        <a:rPr lang="es-ES" sz="18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sz="1600" dirty="0"/>
                    </a:p>
                  </a:txBody>
                  <a:tcPr/>
                </a:tc>
                <a:extLst>
                  <a:ext uri="{0D108BD9-81ED-4DB2-BD59-A6C34878D82A}">
                    <a16:rowId xmlns:a16="http://schemas.microsoft.com/office/drawing/2014/main" val="24146921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t>seleccionar todas las imágenes cuyo valor de atributo </a:t>
                      </a:r>
                      <a:r>
                        <a:rPr lang="es-ES" sz="1800" b="1" dirty="0" err="1">
                          <a:solidFill>
                            <a:schemeClr val="accent5">
                              <a:lumMod val="50000"/>
                            </a:schemeClr>
                          </a:solidFill>
                        </a:rPr>
                        <a:t>src</a:t>
                      </a:r>
                      <a:r>
                        <a:rPr lang="es-ES" sz="1800" dirty="0"/>
                        <a:t> sea </a:t>
                      </a:r>
                      <a:r>
                        <a:rPr lang="es-ES" sz="1800" b="1" dirty="0">
                          <a:solidFill>
                            <a:schemeClr val="accent5">
                              <a:lumMod val="50000"/>
                            </a:schemeClr>
                          </a:solidFill>
                        </a:rPr>
                        <a:t>alerta.gif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800" b="1" dirty="0">
                        <a:solidFill>
                          <a:schemeClr val="accent5">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Calibri"/>
                        <a:ea typeface="+mn-ea"/>
                        <a:cs typeface="+mn-cs"/>
                      </a:endParaRPr>
                    </a:p>
                  </a:txBody>
                  <a:tcPr/>
                </a:tc>
                <a:extLst>
                  <a:ext uri="{0D108BD9-81ED-4DB2-BD59-A6C34878D82A}">
                    <a16:rowId xmlns:a16="http://schemas.microsoft.com/office/drawing/2014/main" val="21971964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t>seleccionar los elementos </a:t>
                      </a:r>
                      <a:r>
                        <a:rPr lang="es-ES" sz="1800" b="1" dirty="0">
                          <a:solidFill>
                            <a:schemeClr val="accent5">
                              <a:lumMod val="50000"/>
                            </a:schemeClr>
                          </a:solidFill>
                        </a:rPr>
                        <a:t>&lt;</a:t>
                      </a:r>
                      <a:r>
                        <a:rPr lang="es-ES" sz="1800" b="1" dirty="0" err="1">
                          <a:solidFill>
                            <a:schemeClr val="accent5">
                              <a:lumMod val="50000"/>
                            </a:schemeClr>
                          </a:solidFill>
                        </a:rPr>
                        <a:t>img</a:t>
                      </a:r>
                      <a:r>
                        <a:rPr lang="es-ES" sz="1800" b="1" dirty="0">
                          <a:solidFill>
                            <a:schemeClr val="accent5">
                              <a:lumMod val="50000"/>
                            </a:schemeClr>
                          </a:solidFill>
                        </a:rPr>
                        <a:t>&gt;</a:t>
                      </a:r>
                      <a:r>
                        <a:rPr lang="es-ES" sz="1800" dirty="0">
                          <a:solidFill>
                            <a:schemeClr val="accent5">
                              <a:lumMod val="50000"/>
                            </a:schemeClr>
                          </a:solidFill>
                        </a:rPr>
                        <a:t> </a:t>
                      </a:r>
                      <a:r>
                        <a:rPr lang="es-ES" sz="1800" dirty="0"/>
                        <a:t>cuyo atributo valor de atributo </a:t>
                      </a:r>
                      <a:r>
                        <a:rPr lang="es-ES" sz="1800" b="1" dirty="0" err="1">
                          <a:solidFill>
                            <a:schemeClr val="accent5">
                              <a:lumMod val="50000"/>
                            </a:schemeClr>
                          </a:solidFill>
                        </a:rPr>
                        <a:t>src</a:t>
                      </a:r>
                      <a:r>
                        <a:rPr lang="es-ES" sz="1800" dirty="0"/>
                        <a:t> comience por </a:t>
                      </a:r>
                      <a:r>
                        <a:rPr lang="es-ES" sz="1800" b="1" dirty="0">
                          <a:solidFill>
                            <a:schemeClr val="accent5">
                              <a:lumMod val="50000"/>
                            </a:schemeClr>
                          </a:solidFill>
                        </a:rPr>
                        <a:t>alerta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Calibri"/>
                        <a:ea typeface="+mn-ea"/>
                        <a:cs typeface="+mn-cs"/>
                      </a:endParaRPr>
                    </a:p>
                  </a:txBody>
                  <a:tcPr/>
                </a:tc>
                <a:extLst>
                  <a:ext uri="{0D108BD9-81ED-4DB2-BD59-A6C34878D82A}">
                    <a16:rowId xmlns:a16="http://schemas.microsoft.com/office/drawing/2014/main" val="1489733663"/>
                  </a:ext>
                </a:extLst>
              </a:tr>
              <a:tr h="3449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t>seleccionar los elementos </a:t>
                      </a:r>
                      <a:r>
                        <a:rPr lang="es-ES" sz="1800" b="1" dirty="0">
                          <a:solidFill>
                            <a:schemeClr val="accent5">
                              <a:lumMod val="50000"/>
                            </a:schemeClr>
                          </a:solidFill>
                        </a:rPr>
                        <a:t>&lt;</a:t>
                      </a:r>
                      <a:r>
                        <a:rPr lang="es-ES" sz="1800" b="1" dirty="0" err="1">
                          <a:solidFill>
                            <a:schemeClr val="accent5">
                              <a:lumMod val="50000"/>
                            </a:schemeClr>
                          </a:solidFill>
                        </a:rPr>
                        <a:t>img</a:t>
                      </a:r>
                      <a:r>
                        <a:rPr lang="es-ES" sz="1800" b="1" dirty="0">
                          <a:solidFill>
                            <a:schemeClr val="accent5">
                              <a:lumMod val="50000"/>
                            </a:schemeClr>
                          </a:solidFill>
                        </a:rPr>
                        <a:t>&gt;</a:t>
                      </a:r>
                      <a:r>
                        <a:rPr lang="es-ES" sz="1800" dirty="0">
                          <a:solidFill>
                            <a:schemeClr val="accent5">
                              <a:lumMod val="50000"/>
                            </a:schemeClr>
                          </a:solidFill>
                        </a:rPr>
                        <a:t> </a:t>
                      </a:r>
                      <a:r>
                        <a:rPr lang="es-ES" sz="1800" dirty="0"/>
                        <a:t>de extensión </a:t>
                      </a:r>
                      <a:r>
                        <a:rPr lang="es-ES" sz="1800" b="1" dirty="0">
                          <a:solidFill>
                            <a:schemeClr val="accent5">
                              <a:lumMod val="50000"/>
                            </a:schemeClr>
                          </a:solidFill>
                        </a:rPr>
                        <a:t>gif.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800" b="1" dirty="0">
                        <a:solidFill>
                          <a:schemeClr val="accent5">
                            <a:lumMod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Calibri"/>
                        <a:ea typeface="+mn-ea"/>
                        <a:cs typeface="+mn-cs"/>
                      </a:endParaRPr>
                    </a:p>
                  </a:txBody>
                  <a:tcPr/>
                </a:tc>
                <a:extLst>
                  <a:ext uri="{0D108BD9-81ED-4DB2-BD59-A6C34878D82A}">
                    <a16:rowId xmlns:a16="http://schemas.microsoft.com/office/drawing/2014/main" val="4791471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t>seleccionar los elementos </a:t>
                      </a:r>
                      <a:r>
                        <a:rPr lang="es-ES" sz="1800" b="1" dirty="0">
                          <a:solidFill>
                            <a:schemeClr val="accent5">
                              <a:lumMod val="50000"/>
                            </a:schemeClr>
                          </a:solidFill>
                        </a:rPr>
                        <a:t>&lt;</a:t>
                      </a:r>
                      <a:r>
                        <a:rPr lang="es-ES" sz="1800" b="1" dirty="0" err="1">
                          <a:solidFill>
                            <a:schemeClr val="accent5">
                              <a:lumMod val="50000"/>
                            </a:schemeClr>
                          </a:solidFill>
                        </a:rPr>
                        <a:t>img</a:t>
                      </a:r>
                      <a:r>
                        <a:rPr lang="es-ES" sz="1800" b="1" dirty="0">
                          <a:solidFill>
                            <a:schemeClr val="accent5">
                              <a:lumMod val="50000"/>
                            </a:schemeClr>
                          </a:solidFill>
                        </a:rPr>
                        <a:t>&gt;</a:t>
                      </a:r>
                      <a:r>
                        <a:rPr lang="es-ES" sz="1800" dirty="0">
                          <a:solidFill>
                            <a:schemeClr val="accent5">
                              <a:lumMod val="50000"/>
                            </a:schemeClr>
                          </a:solidFill>
                        </a:rPr>
                        <a:t> </a:t>
                      </a:r>
                      <a:r>
                        <a:rPr lang="es-ES" sz="1800" dirty="0"/>
                        <a:t>sólo si tienen la cadena </a:t>
                      </a:r>
                      <a:r>
                        <a:rPr lang="es-ES" sz="1800" b="1" dirty="0" err="1">
                          <a:solidFill>
                            <a:schemeClr val="accent5">
                              <a:lumMod val="50000"/>
                            </a:schemeClr>
                          </a:solidFill>
                        </a:rPr>
                        <a:t>ert</a:t>
                      </a:r>
                      <a:r>
                        <a:rPr lang="es-ES" sz="1800" dirty="0"/>
                        <a:t> en cualquier lugar dentro del valor del atributo </a:t>
                      </a:r>
                      <a:r>
                        <a:rPr lang="es-ES" sz="1800" b="1" dirty="0" err="1">
                          <a:solidFill>
                            <a:schemeClr val="accent5">
                              <a:lumMod val="50000"/>
                            </a:schemeClr>
                          </a:solidFill>
                        </a:rPr>
                        <a:t>src</a:t>
                      </a:r>
                      <a:r>
                        <a:rPr lang="es-ES" sz="1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Calibri"/>
                        <a:ea typeface="+mn-ea"/>
                        <a:cs typeface="+mn-cs"/>
                      </a:endParaRPr>
                    </a:p>
                  </a:txBody>
                  <a:tcPr/>
                </a:tc>
                <a:extLst>
                  <a:ext uri="{0D108BD9-81ED-4DB2-BD59-A6C34878D82A}">
                    <a16:rowId xmlns:a16="http://schemas.microsoft.com/office/drawing/2014/main" val="2666066678"/>
                  </a:ext>
                </a:extLst>
              </a:tr>
            </a:tbl>
          </a:graphicData>
        </a:graphic>
      </p:graphicFrame>
    </p:spTree>
    <p:extLst>
      <p:ext uri="{BB962C8B-B14F-4D97-AF65-F5344CB8AC3E}">
        <p14:creationId xmlns:p14="http://schemas.microsoft.com/office/powerpoint/2010/main" val="314143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Algún ejemplo de selectores de atributos</a:t>
            </a:r>
          </a:p>
        </p:txBody>
      </p:sp>
      <p:sp>
        <p:nvSpPr>
          <p:cNvPr id="5" name="CuadroTexto 4">
            <a:extLst>
              <a:ext uri="{FF2B5EF4-FFF2-40B4-BE49-F238E27FC236}">
                <a16:creationId xmlns:a16="http://schemas.microsoft.com/office/drawing/2014/main" id="{6FD16439-46E2-05EC-5B38-23CF74881612}"/>
              </a:ext>
            </a:extLst>
          </p:cNvPr>
          <p:cNvSpPr txBox="1"/>
          <p:nvPr/>
        </p:nvSpPr>
        <p:spPr>
          <a:xfrm>
            <a:off x="66613" y="1237319"/>
            <a:ext cx="10014012" cy="3785652"/>
          </a:xfrm>
          <a:prstGeom prst="rect">
            <a:avLst/>
          </a:prstGeom>
          <a:noFill/>
        </p:spPr>
        <p:txBody>
          <a:bodyPr wrap="square">
            <a:spAutoFit/>
          </a:bodyPr>
          <a:lstStyle/>
          <a:p>
            <a:r>
              <a:rPr lang="es-ES" sz="1600" b="0" dirty="0">
                <a:solidFill>
                  <a:srgbClr val="D4D4D4"/>
                </a:solidFill>
                <a:effectLst/>
                <a:latin typeface="Consolas" panose="020B0609020204030204" pitchFamily="49" charset="0"/>
              </a:rPr>
              <a:t>     </a:t>
            </a:r>
            <a:r>
              <a:rPr lang="es-ES" sz="1600" b="0" dirty="0">
                <a:solidFill>
                  <a:srgbClr val="D7BA7D"/>
                </a:solidFill>
                <a:effectLst/>
                <a:latin typeface="Consolas" panose="020B0609020204030204" pitchFamily="49" charset="0"/>
              </a:rPr>
              <a:t>p</a:t>
            </a:r>
            <a:r>
              <a:rPr lang="es-ES" sz="1600" b="0" dirty="0">
                <a:solidFill>
                  <a:srgbClr val="D4D4D4"/>
                </a:solidFill>
                <a:effectLst/>
                <a:latin typeface="Consolas" panose="020B0609020204030204" pitchFamily="49" charset="0"/>
              </a:rPr>
              <a:t>[</a:t>
            </a:r>
            <a:r>
              <a:rPr lang="es-ES" sz="1600" b="0" dirty="0" err="1">
                <a:solidFill>
                  <a:srgbClr val="9CDCFE"/>
                </a:solidFill>
                <a:effectLst/>
                <a:latin typeface="Consolas" panose="020B0609020204030204" pitchFamily="49" charset="0"/>
              </a:rPr>
              <a:t>class</a:t>
            </a:r>
            <a:r>
              <a:rPr lang="es-ES" sz="1600" b="0" dirty="0">
                <a:solidFill>
                  <a:srgbClr val="D4D4D4"/>
                </a:solidFill>
                <a:effectLst/>
                <a:latin typeface="Consolas" panose="020B0609020204030204" pitchFamily="49" charset="0"/>
              </a:rPr>
              <a:t>~=</a:t>
            </a:r>
            <a:r>
              <a:rPr lang="es-ES" sz="1600" b="0" dirty="0">
                <a:solidFill>
                  <a:srgbClr val="CE9178"/>
                </a:solidFill>
                <a:effectLst/>
                <a:latin typeface="Consolas" panose="020B0609020204030204" pitchFamily="49" charset="0"/>
              </a:rPr>
              <a:t>"texto"</a:t>
            </a:r>
            <a:r>
              <a:rPr lang="es-ES" sz="1600" b="0" dirty="0">
                <a:solidFill>
                  <a:srgbClr val="D4D4D4"/>
                </a:solidFill>
                <a:effectLst/>
                <a:latin typeface="Consolas" panose="020B0609020204030204" pitchFamily="49" charset="0"/>
              </a:rPr>
              <a:t>] {</a:t>
            </a:r>
            <a:endParaRPr lang="es-ES" sz="1600" b="0" dirty="0">
              <a:solidFill>
                <a:srgbClr val="CCCCCC"/>
              </a:solidFill>
              <a:effectLst/>
              <a:latin typeface="Consolas" panose="020B0609020204030204" pitchFamily="49" charset="0"/>
            </a:endParaRPr>
          </a:p>
          <a:p>
            <a:r>
              <a:rPr lang="es-ES" sz="1600" b="0" dirty="0">
                <a:solidFill>
                  <a:srgbClr val="D4D4D4"/>
                </a:solidFill>
                <a:effectLst/>
                <a:latin typeface="Consolas" panose="020B0609020204030204" pitchFamily="49" charset="0"/>
              </a:rPr>
              <a:t>            </a:t>
            </a:r>
            <a:r>
              <a:rPr lang="es-ES" sz="1600" b="0" dirty="0">
                <a:solidFill>
                  <a:srgbClr val="9CDCFE"/>
                </a:solidFill>
                <a:effectLst/>
                <a:latin typeface="Consolas" panose="020B0609020204030204" pitchFamily="49" charset="0"/>
              </a:rPr>
              <a:t>color</a:t>
            </a:r>
            <a:r>
              <a:rPr lang="es-ES" sz="1600" b="0" dirty="0">
                <a:solidFill>
                  <a:srgbClr val="D4D4D4"/>
                </a:solidFill>
                <a:effectLst/>
                <a:latin typeface="Consolas" panose="020B0609020204030204" pitchFamily="49" charset="0"/>
              </a:rPr>
              <a:t>: </a:t>
            </a:r>
            <a:r>
              <a:rPr lang="es-ES" sz="1600" b="0" dirty="0" err="1">
                <a:solidFill>
                  <a:srgbClr val="CE9178"/>
                </a:solidFill>
                <a:effectLst/>
                <a:latin typeface="Consolas" panose="020B0609020204030204" pitchFamily="49" charset="0"/>
              </a:rPr>
              <a:t>green</a:t>
            </a:r>
            <a:r>
              <a:rPr lang="es-ES" sz="1600" b="0" dirty="0">
                <a:solidFill>
                  <a:srgbClr val="D4D4D4"/>
                </a:solidFill>
                <a:effectLst/>
                <a:latin typeface="Consolas" panose="020B0609020204030204" pitchFamily="49" charset="0"/>
              </a:rPr>
              <a:t>;</a:t>
            </a:r>
            <a:endParaRPr lang="es-ES" sz="1600" b="0" dirty="0">
              <a:solidFill>
                <a:srgbClr val="CCCCCC"/>
              </a:solidFill>
              <a:effectLst/>
              <a:latin typeface="Consolas" panose="020B0609020204030204" pitchFamily="49" charset="0"/>
            </a:endParaRPr>
          </a:p>
          <a:p>
            <a:r>
              <a:rPr lang="es-ES" sz="1600" b="0" dirty="0">
                <a:solidFill>
                  <a:srgbClr val="D4D4D4"/>
                </a:solidFill>
                <a:effectLst/>
                <a:latin typeface="Consolas" panose="020B0609020204030204" pitchFamily="49" charset="0"/>
              </a:rPr>
              <a:t>     }</a:t>
            </a:r>
            <a:endParaRPr lang="es-ES" sz="1600" b="0" dirty="0">
              <a:solidFill>
                <a:srgbClr val="CCCCCC"/>
              </a:solidFill>
              <a:effectLst/>
              <a:latin typeface="Consolas" panose="020B0609020204030204" pitchFamily="49" charset="0"/>
            </a:endParaRPr>
          </a:p>
          <a:p>
            <a:br>
              <a:rPr lang="es-ES" sz="1600" b="0" dirty="0">
                <a:solidFill>
                  <a:srgbClr val="CCCCCC"/>
                </a:solidFill>
                <a:effectLst/>
                <a:latin typeface="Consolas" panose="020B0609020204030204" pitchFamily="49" charset="0"/>
              </a:rPr>
            </a:br>
            <a:r>
              <a:rPr lang="es-ES" sz="1600" b="0" dirty="0">
                <a:solidFill>
                  <a:srgbClr val="D4D4D4"/>
                </a:solidFill>
                <a:effectLst/>
                <a:latin typeface="Consolas" panose="020B0609020204030204" pitchFamily="49" charset="0"/>
              </a:rPr>
              <a:t>     </a:t>
            </a:r>
            <a:r>
              <a:rPr lang="es-ES" sz="1600" b="0" dirty="0">
                <a:solidFill>
                  <a:srgbClr val="D7BA7D"/>
                </a:solidFill>
                <a:effectLst/>
                <a:latin typeface="Consolas" panose="020B0609020204030204" pitchFamily="49" charset="0"/>
              </a:rPr>
              <a:t>p</a:t>
            </a:r>
            <a:r>
              <a:rPr lang="es-ES" sz="1600" b="0" dirty="0">
                <a:solidFill>
                  <a:srgbClr val="D4D4D4"/>
                </a:solidFill>
                <a:effectLst/>
                <a:latin typeface="Consolas" panose="020B0609020204030204" pitchFamily="49" charset="0"/>
              </a:rPr>
              <a:t>[</a:t>
            </a:r>
            <a:r>
              <a:rPr lang="es-ES" sz="1600" b="0" dirty="0" err="1">
                <a:solidFill>
                  <a:srgbClr val="9CDCFE"/>
                </a:solidFill>
                <a:effectLst/>
                <a:latin typeface="Consolas" panose="020B0609020204030204" pitchFamily="49" charset="0"/>
              </a:rPr>
              <a:t>class</a:t>
            </a:r>
            <a:r>
              <a:rPr lang="es-ES" sz="1600" b="0" dirty="0">
                <a:solidFill>
                  <a:srgbClr val="D4D4D4"/>
                </a:solidFill>
                <a:effectLst/>
                <a:latin typeface="Consolas" panose="020B0609020204030204" pitchFamily="49" charset="0"/>
              </a:rPr>
              <a:t>*=</a:t>
            </a:r>
            <a:r>
              <a:rPr lang="es-ES" sz="1600" b="0" dirty="0">
                <a:solidFill>
                  <a:srgbClr val="CE9178"/>
                </a:solidFill>
                <a:effectLst/>
                <a:latin typeface="Consolas" panose="020B0609020204030204" pitchFamily="49" charset="0"/>
              </a:rPr>
              <a:t>"texto"</a:t>
            </a:r>
            <a:r>
              <a:rPr lang="es-ES" sz="1600" b="0" dirty="0">
                <a:solidFill>
                  <a:srgbClr val="D4D4D4"/>
                </a:solidFill>
                <a:effectLst/>
                <a:latin typeface="Consolas" panose="020B0609020204030204" pitchFamily="49" charset="0"/>
              </a:rPr>
              <a:t>] {</a:t>
            </a:r>
            <a:endParaRPr lang="es-ES" sz="1600" b="0" dirty="0">
              <a:solidFill>
                <a:srgbClr val="CCCCCC"/>
              </a:solidFill>
              <a:effectLst/>
              <a:latin typeface="Consolas" panose="020B0609020204030204" pitchFamily="49" charset="0"/>
            </a:endParaRPr>
          </a:p>
          <a:p>
            <a:r>
              <a:rPr lang="es-ES" sz="1600" b="0" dirty="0">
                <a:solidFill>
                  <a:srgbClr val="D4D4D4"/>
                </a:solidFill>
                <a:effectLst/>
                <a:latin typeface="Consolas" panose="020B0609020204030204" pitchFamily="49" charset="0"/>
              </a:rPr>
              <a:t>            </a:t>
            </a:r>
            <a:r>
              <a:rPr lang="es-ES" sz="1600" b="0" dirty="0" err="1">
                <a:solidFill>
                  <a:srgbClr val="9CDCFE"/>
                </a:solidFill>
                <a:effectLst/>
                <a:latin typeface="Consolas" panose="020B0609020204030204" pitchFamily="49" charset="0"/>
              </a:rPr>
              <a:t>border</a:t>
            </a:r>
            <a:r>
              <a:rPr lang="es-ES" sz="1600" b="0" dirty="0">
                <a:solidFill>
                  <a:srgbClr val="D4D4D4"/>
                </a:solidFill>
                <a:effectLst/>
                <a:latin typeface="Consolas" panose="020B0609020204030204" pitchFamily="49" charset="0"/>
              </a:rPr>
              <a:t>: </a:t>
            </a:r>
            <a:r>
              <a:rPr lang="es-ES" sz="1600" b="0" dirty="0">
                <a:solidFill>
                  <a:srgbClr val="B5CEA8"/>
                </a:solidFill>
                <a:effectLst/>
                <a:latin typeface="Consolas" panose="020B0609020204030204" pitchFamily="49" charset="0"/>
              </a:rPr>
              <a:t>1px</a:t>
            </a:r>
            <a:r>
              <a:rPr lang="es-ES" sz="1600" b="0" dirty="0">
                <a:solidFill>
                  <a:srgbClr val="D4D4D4"/>
                </a:solidFill>
                <a:effectLst/>
                <a:latin typeface="Consolas" panose="020B0609020204030204" pitchFamily="49" charset="0"/>
              </a:rPr>
              <a:t> </a:t>
            </a:r>
            <a:r>
              <a:rPr lang="es-ES" sz="1600" b="0" dirty="0" err="1">
                <a:solidFill>
                  <a:srgbClr val="CE9178"/>
                </a:solidFill>
                <a:effectLst/>
                <a:latin typeface="Consolas" panose="020B0609020204030204" pitchFamily="49" charset="0"/>
              </a:rPr>
              <a:t>solid</a:t>
            </a:r>
            <a:r>
              <a:rPr lang="es-ES" sz="1600" b="0" dirty="0">
                <a:solidFill>
                  <a:srgbClr val="D4D4D4"/>
                </a:solidFill>
                <a:effectLst/>
                <a:latin typeface="Consolas" panose="020B0609020204030204" pitchFamily="49" charset="0"/>
              </a:rPr>
              <a:t> </a:t>
            </a:r>
            <a:r>
              <a:rPr lang="es-ES" sz="1600" b="0" dirty="0">
                <a:solidFill>
                  <a:srgbClr val="CE9178"/>
                </a:solidFill>
                <a:effectLst/>
                <a:latin typeface="Consolas" panose="020B0609020204030204" pitchFamily="49" charset="0"/>
              </a:rPr>
              <a:t>blue</a:t>
            </a:r>
            <a:r>
              <a:rPr lang="es-ES" sz="1600" b="0" dirty="0">
                <a:solidFill>
                  <a:srgbClr val="D4D4D4"/>
                </a:solidFill>
                <a:effectLst/>
                <a:latin typeface="Consolas" panose="020B0609020204030204" pitchFamily="49" charset="0"/>
              </a:rPr>
              <a:t>;</a:t>
            </a:r>
            <a:endParaRPr lang="es-ES" sz="1600" b="0" dirty="0">
              <a:solidFill>
                <a:srgbClr val="CCCCCC"/>
              </a:solidFill>
              <a:effectLst/>
              <a:latin typeface="Consolas" panose="020B0609020204030204" pitchFamily="49" charset="0"/>
            </a:endParaRPr>
          </a:p>
          <a:p>
            <a:r>
              <a:rPr lang="es-ES" sz="1600" b="0" dirty="0">
                <a:solidFill>
                  <a:srgbClr val="D4D4D4"/>
                </a:solidFill>
                <a:effectLst/>
                <a:latin typeface="Consolas" panose="020B0609020204030204" pitchFamily="49" charset="0"/>
              </a:rPr>
              <a:t>     }</a:t>
            </a:r>
            <a:endParaRPr lang="es-ES" sz="1600" dirty="0">
              <a:solidFill>
                <a:srgbClr val="CCCCCC"/>
              </a:solidFill>
              <a:latin typeface="Consolas" panose="020B0609020204030204" pitchFamily="49" charset="0"/>
            </a:endParaRPr>
          </a:p>
          <a:p>
            <a:r>
              <a:rPr lang="es-ES" sz="1600" b="0" dirty="0">
                <a:solidFill>
                  <a:srgbClr val="CCCCCC"/>
                </a:solidFill>
                <a:effectLst/>
                <a:latin typeface="Consolas" panose="020B0609020204030204" pitchFamily="49" charset="0"/>
              </a:rPr>
              <a:t>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CCCCCC"/>
                </a:solidFill>
                <a:effectLst/>
                <a:latin typeface="Consolas" panose="020B0609020204030204" pitchFamily="49" charset="0"/>
              </a:rPr>
              <a:t> </a:t>
            </a:r>
            <a:r>
              <a:rPr lang="es-ES" sz="1600" b="0" dirty="0" err="1">
                <a:solidFill>
                  <a:srgbClr val="9CDCFE"/>
                </a:solidFill>
                <a:effectLst/>
                <a:latin typeface="Consolas" panose="020B0609020204030204" pitchFamily="49" charset="0"/>
              </a:rPr>
              <a:t>class</a:t>
            </a:r>
            <a:r>
              <a:rPr lang="es-ES" sz="1600" b="0" dirty="0">
                <a:solidFill>
                  <a:srgbClr val="CCCCCC"/>
                </a:solidFill>
                <a:effectLst/>
                <a:latin typeface="Consolas" panose="020B0609020204030204" pitchFamily="49" charset="0"/>
              </a:rPr>
              <a:t>=</a:t>
            </a:r>
            <a:r>
              <a:rPr lang="es-ES" sz="1600" b="0" dirty="0">
                <a:solidFill>
                  <a:srgbClr val="CE9178"/>
                </a:solidFill>
                <a:effectLst/>
                <a:latin typeface="Consolas" panose="020B0609020204030204" pitchFamily="49" charset="0"/>
              </a:rPr>
              <a:t>"texto-ejemplo"</a:t>
            </a:r>
            <a:r>
              <a:rPr lang="es-ES" sz="1600" b="0" dirty="0">
                <a:solidFill>
                  <a:srgbClr val="808080"/>
                </a:solidFill>
                <a:effectLst/>
                <a:latin typeface="Consolas" panose="020B0609020204030204" pitchFamily="49" charset="0"/>
              </a:rPr>
              <a:t>&gt;</a:t>
            </a:r>
            <a:r>
              <a:rPr lang="es-ES" sz="1600" b="0" dirty="0">
                <a:solidFill>
                  <a:srgbClr val="CCCCCC"/>
                </a:solidFill>
                <a:effectLst/>
                <a:latin typeface="Consolas" panose="020B0609020204030204" pitchFamily="49" charset="0"/>
              </a:rPr>
              <a:t>Este párrafo será seleccionado por el selector de atributo que contiene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808080"/>
                </a:solidFill>
                <a:effectLst/>
                <a:latin typeface="Consolas" panose="020B0609020204030204" pitchFamily="49" charset="0"/>
              </a:rPr>
              <a:t>&gt;</a:t>
            </a:r>
            <a:endParaRPr lang="es-ES" sz="1600" b="0" dirty="0">
              <a:solidFill>
                <a:srgbClr val="CCCCCC"/>
              </a:solidFill>
              <a:effectLst/>
              <a:latin typeface="Consolas" panose="020B0609020204030204" pitchFamily="49" charset="0"/>
            </a:endParaRPr>
          </a:p>
          <a:p>
            <a:r>
              <a:rPr lang="es-ES" sz="1600" b="0" dirty="0">
                <a:solidFill>
                  <a:srgbClr val="CCCCCC"/>
                </a:solidFill>
                <a:effectLst/>
                <a:latin typeface="Consolas" panose="020B0609020204030204" pitchFamily="49" charset="0"/>
              </a:rPr>
              <a:t>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CCCCCC"/>
                </a:solidFill>
                <a:effectLst/>
                <a:latin typeface="Consolas" panose="020B0609020204030204" pitchFamily="49" charset="0"/>
              </a:rPr>
              <a:t> </a:t>
            </a:r>
            <a:r>
              <a:rPr lang="es-ES" sz="1600" b="0" dirty="0" err="1">
                <a:solidFill>
                  <a:srgbClr val="9CDCFE"/>
                </a:solidFill>
                <a:effectLst/>
                <a:latin typeface="Consolas" panose="020B0609020204030204" pitchFamily="49" charset="0"/>
              </a:rPr>
              <a:t>class</a:t>
            </a:r>
            <a:r>
              <a:rPr lang="es-ES" sz="1600" b="0" dirty="0">
                <a:solidFill>
                  <a:srgbClr val="CCCCCC"/>
                </a:solidFill>
                <a:effectLst/>
                <a:latin typeface="Consolas" panose="020B0609020204030204" pitchFamily="49" charset="0"/>
              </a:rPr>
              <a:t>=</a:t>
            </a:r>
            <a:r>
              <a:rPr lang="es-ES" sz="1600" b="0" dirty="0">
                <a:solidFill>
                  <a:srgbClr val="CE9178"/>
                </a:solidFill>
                <a:effectLst/>
                <a:latin typeface="Consolas" panose="020B0609020204030204" pitchFamily="49" charset="0"/>
              </a:rPr>
              <a:t>"ejemplo texto"</a:t>
            </a:r>
            <a:r>
              <a:rPr lang="es-ES" sz="1600" b="0" dirty="0">
                <a:solidFill>
                  <a:srgbClr val="808080"/>
                </a:solidFill>
                <a:effectLst/>
                <a:latin typeface="Consolas" panose="020B0609020204030204" pitchFamily="49" charset="0"/>
              </a:rPr>
              <a:t>&gt;</a:t>
            </a:r>
            <a:r>
              <a:rPr lang="es-ES" sz="1600" b="0" dirty="0">
                <a:solidFill>
                  <a:srgbClr val="CCCCCC"/>
                </a:solidFill>
                <a:effectLst/>
                <a:latin typeface="Consolas" panose="020B0609020204030204" pitchFamily="49" charset="0"/>
              </a:rPr>
              <a:t>Este párrafo será seleccionado por ambos selectores de atributo.</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808080"/>
                </a:solidFill>
                <a:effectLst/>
                <a:latin typeface="Consolas" panose="020B0609020204030204" pitchFamily="49" charset="0"/>
              </a:rPr>
              <a:t>&gt;</a:t>
            </a:r>
            <a:endParaRPr lang="es-ES" sz="1600" b="0" dirty="0">
              <a:solidFill>
                <a:srgbClr val="CCCCCC"/>
              </a:solidFill>
              <a:effectLst/>
              <a:latin typeface="Consolas" panose="020B0609020204030204" pitchFamily="49" charset="0"/>
            </a:endParaRPr>
          </a:p>
          <a:p>
            <a:r>
              <a:rPr lang="es-ES" sz="1600" b="0" dirty="0">
                <a:solidFill>
                  <a:srgbClr val="CCCCCC"/>
                </a:solidFill>
                <a:effectLst/>
                <a:latin typeface="Consolas" panose="020B0609020204030204" pitchFamily="49" charset="0"/>
              </a:rPr>
              <a:t>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CCCCCC"/>
                </a:solidFill>
                <a:effectLst/>
                <a:latin typeface="Consolas" panose="020B0609020204030204" pitchFamily="49" charset="0"/>
              </a:rPr>
              <a:t> </a:t>
            </a:r>
            <a:r>
              <a:rPr lang="es-ES" sz="1600" b="0" dirty="0" err="1">
                <a:solidFill>
                  <a:srgbClr val="9CDCFE"/>
                </a:solidFill>
                <a:effectLst/>
                <a:latin typeface="Consolas" panose="020B0609020204030204" pitchFamily="49" charset="0"/>
              </a:rPr>
              <a:t>class</a:t>
            </a:r>
            <a:r>
              <a:rPr lang="es-ES" sz="1600" b="0" dirty="0">
                <a:solidFill>
                  <a:srgbClr val="CCCCCC"/>
                </a:solidFill>
                <a:effectLst/>
                <a:latin typeface="Consolas" panose="020B0609020204030204" pitchFamily="49" charset="0"/>
              </a:rPr>
              <a:t>=</a:t>
            </a:r>
            <a:r>
              <a:rPr lang="es-ES" sz="1600" b="0" dirty="0">
                <a:solidFill>
                  <a:srgbClr val="CE9178"/>
                </a:solidFill>
                <a:effectLst/>
                <a:latin typeface="Consolas" panose="020B0609020204030204" pitchFamily="49" charset="0"/>
              </a:rPr>
              <a:t>"otro-ejemplo-texto"</a:t>
            </a:r>
            <a:r>
              <a:rPr lang="es-ES" sz="1600" b="0" dirty="0">
                <a:solidFill>
                  <a:srgbClr val="808080"/>
                </a:solidFill>
                <a:effectLst/>
                <a:latin typeface="Consolas" panose="020B0609020204030204" pitchFamily="49" charset="0"/>
              </a:rPr>
              <a:t>&gt;</a:t>
            </a:r>
            <a:r>
              <a:rPr lang="es-ES" sz="1600" b="0" dirty="0">
                <a:solidFill>
                  <a:srgbClr val="CCCCCC"/>
                </a:solidFill>
                <a:effectLst/>
                <a:latin typeface="Consolas" panose="020B0609020204030204" pitchFamily="49" charset="0"/>
              </a:rPr>
              <a:t>Este párrafo solo será seleccionado por el selector de atributo que contiene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808080"/>
                </a:solidFill>
                <a:effectLst/>
                <a:latin typeface="Consolas" panose="020B0609020204030204" pitchFamily="49" charset="0"/>
              </a:rPr>
              <a:t>&gt;</a:t>
            </a:r>
            <a:endParaRPr lang="es-ES" sz="1600" b="0" dirty="0">
              <a:solidFill>
                <a:srgbClr val="CCCCCC"/>
              </a:solidFill>
              <a:effectLst/>
              <a:latin typeface="Consolas" panose="020B0609020204030204" pitchFamily="49" charset="0"/>
            </a:endParaRPr>
          </a:p>
          <a:p>
            <a:r>
              <a:rPr lang="es-ES" sz="1600" b="0" dirty="0">
                <a:solidFill>
                  <a:srgbClr val="CCCCCC"/>
                </a:solidFill>
                <a:effectLst/>
                <a:latin typeface="Consolas" panose="020B0609020204030204" pitchFamily="49" charset="0"/>
              </a:rPr>
              <a:t>    </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CCCCCC"/>
                </a:solidFill>
                <a:effectLst/>
                <a:latin typeface="Consolas" panose="020B0609020204030204" pitchFamily="49" charset="0"/>
              </a:rPr>
              <a:t> </a:t>
            </a:r>
            <a:r>
              <a:rPr lang="es-ES" sz="1600" b="0" dirty="0" err="1">
                <a:solidFill>
                  <a:srgbClr val="9CDCFE"/>
                </a:solidFill>
                <a:effectLst/>
                <a:latin typeface="Consolas" panose="020B0609020204030204" pitchFamily="49" charset="0"/>
              </a:rPr>
              <a:t>class</a:t>
            </a:r>
            <a:r>
              <a:rPr lang="es-ES" sz="1600" b="0" dirty="0">
                <a:solidFill>
                  <a:srgbClr val="CCCCCC"/>
                </a:solidFill>
                <a:effectLst/>
                <a:latin typeface="Consolas" panose="020B0609020204030204" pitchFamily="49" charset="0"/>
              </a:rPr>
              <a:t>=</a:t>
            </a:r>
            <a:r>
              <a:rPr lang="es-ES" sz="1600" b="0" dirty="0">
                <a:solidFill>
                  <a:srgbClr val="CE9178"/>
                </a:solidFill>
                <a:effectLst/>
                <a:latin typeface="Consolas" panose="020B0609020204030204" pitchFamily="49" charset="0"/>
              </a:rPr>
              <a:t>"texto"</a:t>
            </a:r>
            <a:r>
              <a:rPr lang="es-ES" sz="1600" b="0" dirty="0">
                <a:solidFill>
                  <a:srgbClr val="808080"/>
                </a:solidFill>
                <a:effectLst/>
                <a:latin typeface="Consolas" panose="020B0609020204030204" pitchFamily="49" charset="0"/>
              </a:rPr>
              <a:t>&gt;</a:t>
            </a:r>
            <a:r>
              <a:rPr lang="es-ES" sz="1600" b="0" dirty="0">
                <a:solidFill>
                  <a:srgbClr val="CCCCCC"/>
                </a:solidFill>
                <a:effectLst/>
                <a:latin typeface="Consolas" panose="020B0609020204030204" pitchFamily="49" charset="0"/>
              </a:rPr>
              <a:t>Este párrafo será seleccionado por ambos selectores de atributo.</a:t>
            </a:r>
            <a:r>
              <a:rPr lang="es-ES" sz="1600" b="0" dirty="0">
                <a:solidFill>
                  <a:srgbClr val="808080"/>
                </a:solidFill>
                <a:effectLst/>
                <a:latin typeface="Consolas" panose="020B0609020204030204" pitchFamily="49" charset="0"/>
              </a:rPr>
              <a:t>&lt;/</a:t>
            </a:r>
            <a:r>
              <a:rPr lang="es-ES" sz="1600" b="0" dirty="0">
                <a:solidFill>
                  <a:srgbClr val="569CD6"/>
                </a:solidFill>
                <a:effectLst/>
                <a:latin typeface="Consolas" panose="020B0609020204030204" pitchFamily="49" charset="0"/>
              </a:rPr>
              <a:t>p</a:t>
            </a:r>
            <a:r>
              <a:rPr lang="es-ES" sz="1600" b="0" dirty="0">
                <a:solidFill>
                  <a:srgbClr val="808080"/>
                </a:solidFill>
                <a:effectLst/>
                <a:latin typeface="Consolas" panose="020B0609020204030204" pitchFamily="49" charset="0"/>
              </a:rPr>
              <a:t>&gt;</a:t>
            </a:r>
            <a:endParaRPr lang="es-ES"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416780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Selectores avanzados</a:t>
            </a:r>
          </a:p>
        </p:txBody>
      </p:sp>
      <p:sp>
        <p:nvSpPr>
          <p:cNvPr id="5" name="Marcador de contenido 5">
            <a:extLst>
              <a:ext uri="{FF2B5EF4-FFF2-40B4-BE49-F238E27FC236}">
                <a16:creationId xmlns:a16="http://schemas.microsoft.com/office/drawing/2014/main" id="{190D69C8-3DB8-C9AD-5901-6CA9F195A9B8}"/>
              </a:ext>
            </a:extLst>
          </p:cNvPr>
          <p:cNvSpPr txBox="1">
            <a:spLocks/>
          </p:cNvSpPr>
          <p:nvPr/>
        </p:nvSpPr>
        <p:spPr>
          <a:xfrm>
            <a:off x="22225" y="1181334"/>
            <a:ext cx="10058400" cy="3760891"/>
          </a:xfrm>
          <a:prstGeom prst="rect">
            <a:avLst/>
          </a:prstGeom>
        </p:spPr>
        <p:txBody>
          <a:bodyPr/>
          <a:lstStyle>
            <a:lvl1pPr marL="0" marR="0" lvl="0" indent="0" defTabSz="914400" rtl="0" fontAlgn="auto" hangingPunct="1">
              <a:lnSpc>
                <a:spcPct val="100000"/>
              </a:lnSpc>
              <a:spcBef>
                <a:spcPts val="0"/>
              </a:spcBef>
              <a:spcAft>
                <a:spcPts val="1055"/>
              </a:spcAft>
              <a:buNone/>
              <a:tabLst/>
              <a:defRPr lang="es-ES" sz="2400" b="1" i="0" u="none" strike="noStrike" kern="1200" cap="none" spc="0" baseline="0">
                <a:solidFill>
                  <a:srgbClr val="2C3E50"/>
                </a:solidFill>
                <a:uFillTx/>
                <a:latin typeface="Noto Sans" pitchFamily="34"/>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s-E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s-E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s-E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000" dirty="0"/>
              <a:t>CSS define otros más avanzados que permiten simplificar las hojas de estilos. Algunos de ellos son los siguientes selectores combinados:</a:t>
            </a:r>
          </a:p>
          <a:p>
            <a:endParaRPr lang="es-ES" dirty="0"/>
          </a:p>
        </p:txBody>
      </p:sp>
      <p:graphicFrame>
        <p:nvGraphicFramePr>
          <p:cNvPr id="6" name="Marcador de contenido 6">
            <a:extLst>
              <a:ext uri="{FF2B5EF4-FFF2-40B4-BE49-F238E27FC236}">
                <a16:creationId xmlns:a16="http://schemas.microsoft.com/office/drawing/2014/main" id="{E98BB529-504B-8954-AA06-6C6E8817A761}"/>
              </a:ext>
            </a:extLst>
          </p:cNvPr>
          <p:cNvGraphicFramePr>
            <a:graphicFrameLocks/>
          </p:cNvGraphicFramePr>
          <p:nvPr>
            <p:extLst>
              <p:ext uri="{D42A27DB-BD31-4B8C-83A1-F6EECF244321}">
                <p14:modId xmlns:p14="http://schemas.microsoft.com/office/powerpoint/2010/main" val="103352854"/>
              </p:ext>
            </p:extLst>
          </p:nvPr>
        </p:nvGraphicFramePr>
        <p:xfrm>
          <a:off x="171068" y="1837358"/>
          <a:ext cx="9351595" cy="3444240"/>
        </p:xfrm>
        <a:graphic>
          <a:graphicData uri="http://schemas.openxmlformats.org/drawingml/2006/table">
            <a:tbl>
              <a:tblPr>
                <a:tableStyleId>{5C22544A-7EE6-4342-B048-85BDC9FD1C3A}</a:tableStyleId>
              </a:tblPr>
              <a:tblGrid>
                <a:gridCol w="2354788">
                  <a:extLst>
                    <a:ext uri="{9D8B030D-6E8A-4147-A177-3AD203B41FA5}">
                      <a16:colId xmlns:a16="http://schemas.microsoft.com/office/drawing/2014/main" val="2269002760"/>
                    </a:ext>
                  </a:extLst>
                </a:gridCol>
                <a:gridCol w="6996807">
                  <a:extLst>
                    <a:ext uri="{9D8B030D-6E8A-4147-A177-3AD203B41FA5}">
                      <a16:colId xmlns:a16="http://schemas.microsoft.com/office/drawing/2014/main" val="3127702215"/>
                    </a:ext>
                  </a:extLst>
                </a:gridCol>
              </a:tblGrid>
              <a:tr h="0">
                <a:tc>
                  <a:txBody>
                    <a:bodyPr/>
                    <a:lstStyle/>
                    <a:p>
                      <a:pPr algn="l" fontAlgn="b"/>
                      <a:r>
                        <a:rPr lang="es-ES" sz="2000" b="1" noProof="0" dirty="0">
                          <a:solidFill>
                            <a:schemeClr val="bg1">
                              <a:lumMod val="95000"/>
                            </a:schemeClr>
                          </a:solidFill>
                          <a:effectLst/>
                        </a:rPr>
                        <a:t>Sintaxis</a:t>
                      </a:r>
                    </a:p>
                  </a:txBody>
                  <a:tcPr anchor="b">
                    <a:solidFill>
                      <a:schemeClr val="accent5">
                        <a:lumMod val="50000"/>
                      </a:schemeClr>
                    </a:solidFill>
                  </a:tcPr>
                </a:tc>
                <a:tc>
                  <a:txBody>
                    <a:bodyPr/>
                    <a:lstStyle/>
                    <a:p>
                      <a:pPr algn="l" fontAlgn="b"/>
                      <a:r>
                        <a:rPr lang="es-ES" sz="2000" b="1" noProof="0" dirty="0">
                          <a:solidFill>
                            <a:schemeClr val="bg1">
                              <a:lumMod val="95000"/>
                            </a:schemeClr>
                          </a:solidFill>
                          <a:effectLst/>
                        </a:rPr>
                        <a:t>Descripción</a:t>
                      </a:r>
                    </a:p>
                  </a:txBody>
                  <a:tcPr anchor="b">
                    <a:solidFill>
                      <a:schemeClr val="accent5">
                        <a:lumMod val="50000"/>
                      </a:schemeClr>
                    </a:solidFill>
                  </a:tcPr>
                </a:tc>
                <a:extLst>
                  <a:ext uri="{0D108BD9-81ED-4DB2-BD59-A6C34878D82A}">
                    <a16:rowId xmlns:a16="http://schemas.microsoft.com/office/drawing/2014/main" val="3441460044"/>
                  </a:ext>
                </a:extLst>
              </a:tr>
              <a:tr h="0">
                <a:tc>
                  <a:txBody>
                    <a:bodyPr/>
                    <a:lstStyle/>
                    <a:p>
                      <a:pPr fontAlgn="t"/>
                      <a:r>
                        <a:rPr lang="en-US" sz="2000" b="1" dirty="0">
                          <a:effectLst/>
                        </a:rPr>
                        <a:t>A + B</a:t>
                      </a:r>
                      <a:endParaRPr lang="en-US" sz="2000" b="0" dirty="0">
                        <a:effectLst/>
                      </a:endParaRPr>
                    </a:p>
                  </a:txBody>
                  <a:tcPr/>
                </a:tc>
                <a:tc>
                  <a:txBody>
                    <a:bodyPr/>
                    <a:lstStyle/>
                    <a:p>
                      <a:pPr fontAlgn="t"/>
                      <a:r>
                        <a:rPr lang="es-ES" sz="1600" b="1" u="sng" dirty="0">
                          <a:solidFill>
                            <a:schemeClr val="accent6">
                              <a:lumMod val="50000"/>
                            </a:schemeClr>
                          </a:solidFill>
                          <a:effectLst/>
                        </a:rPr>
                        <a:t>Selector de adyacente</a:t>
                      </a:r>
                      <a:r>
                        <a:rPr lang="es-ES" sz="1600" b="0" dirty="0">
                          <a:effectLst/>
                        </a:rPr>
                        <a:t>s. Permite aplicar un estilo al elemento (B) que se encuentre justo después de un elemento específico (A). “Selecciona el </a:t>
                      </a:r>
                      <a:r>
                        <a:rPr lang="es-ES" sz="1600" b="1" dirty="0">
                          <a:effectLst/>
                        </a:rPr>
                        <a:t>primer</a:t>
                      </a:r>
                      <a:r>
                        <a:rPr lang="es-ES" sz="1600" b="0" dirty="0">
                          <a:effectLst/>
                        </a:rPr>
                        <a:t> B</a:t>
                      </a:r>
                    </a:p>
                    <a:p>
                      <a:pPr fontAlgn="t"/>
                      <a:r>
                        <a:rPr lang="es-ES" sz="1600" b="0" dirty="0">
                          <a:effectLst/>
                        </a:rPr>
                        <a:t> inmediatamente después de cualquier A”</a:t>
                      </a:r>
                    </a:p>
                  </a:txBody>
                  <a:tcPr/>
                </a:tc>
                <a:extLst>
                  <a:ext uri="{0D108BD9-81ED-4DB2-BD59-A6C34878D82A}">
                    <a16:rowId xmlns:a16="http://schemas.microsoft.com/office/drawing/2014/main" val="3574789239"/>
                  </a:ext>
                </a:extLst>
              </a:tr>
              <a:tr h="0">
                <a:tc>
                  <a:txBody>
                    <a:bodyPr/>
                    <a:lstStyle/>
                    <a:p>
                      <a:pPr fontAlgn="t"/>
                      <a:r>
                        <a:rPr lang="en-US" sz="2000" b="1">
                          <a:effectLst/>
                        </a:rPr>
                        <a:t>A ~ B</a:t>
                      </a:r>
                      <a:endParaRPr lang="en-US" sz="2000" b="0">
                        <a:effectLst/>
                      </a:endParaRPr>
                    </a:p>
                  </a:txBody>
                  <a:tcPr/>
                </a:tc>
                <a:tc>
                  <a:txBody>
                    <a:bodyPr/>
                    <a:lstStyle/>
                    <a:p>
                      <a:pPr fontAlgn="t"/>
                      <a:r>
                        <a:rPr lang="es-ES" sz="1600" b="1" u="sng" kern="1200" dirty="0">
                          <a:solidFill>
                            <a:schemeClr val="accent6">
                              <a:lumMod val="50000"/>
                            </a:schemeClr>
                          </a:solidFill>
                          <a:effectLst/>
                          <a:latin typeface="+mn-lt"/>
                          <a:ea typeface="+mn-ea"/>
                          <a:cs typeface="+mn-cs"/>
                        </a:rPr>
                        <a:t>Selector general de hermanos</a:t>
                      </a:r>
                      <a:r>
                        <a:rPr lang="es-ES" sz="1600" b="0" dirty="0">
                          <a:effectLst/>
                        </a:rPr>
                        <a:t>. Permite aplicar un estilo a los elemento (B) que sea hermano del elemento (A), siempre que B esté después que A. Dos elementos se consideran hermanos cuando están al mismo nivel dentro de la jerarquía.</a:t>
                      </a:r>
                    </a:p>
                  </a:txBody>
                  <a:tcPr/>
                </a:tc>
                <a:extLst>
                  <a:ext uri="{0D108BD9-81ED-4DB2-BD59-A6C34878D82A}">
                    <a16:rowId xmlns:a16="http://schemas.microsoft.com/office/drawing/2014/main" val="1284038267"/>
                  </a:ext>
                </a:extLst>
              </a:tr>
              <a:tr h="0">
                <a:tc>
                  <a:txBody>
                    <a:bodyPr/>
                    <a:lstStyle/>
                    <a:p>
                      <a:pPr fontAlgn="t"/>
                      <a:r>
                        <a:rPr lang="en-US" sz="2000" b="1" dirty="0">
                          <a:effectLst/>
                        </a:rPr>
                        <a:t>A &gt; B</a:t>
                      </a:r>
                      <a:endParaRPr lang="en-US" sz="2000" b="0" dirty="0">
                        <a:effectLst/>
                      </a:endParaRPr>
                    </a:p>
                  </a:txBody>
                  <a:tcPr/>
                </a:tc>
                <a:tc>
                  <a:txBody>
                    <a:bodyPr/>
                    <a:lstStyle/>
                    <a:p>
                      <a:pPr fontAlgn="t"/>
                      <a:r>
                        <a:rPr lang="es-ES" sz="1600" b="1" u="sng" kern="1200" dirty="0">
                          <a:solidFill>
                            <a:schemeClr val="accent6">
                              <a:lumMod val="50000"/>
                            </a:schemeClr>
                          </a:solidFill>
                          <a:effectLst/>
                          <a:latin typeface="+mn-lt"/>
                          <a:ea typeface="+mn-ea"/>
                          <a:cs typeface="+mn-cs"/>
                        </a:rPr>
                        <a:t>Selector de hijos</a:t>
                      </a:r>
                      <a:r>
                        <a:rPr lang="es-ES" sz="1600" b="0" dirty="0">
                          <a:effectLst/>
                        </a:rPr>
                        <a:t>. Permite aplicar un estilo al elemento hijo (B) de un elemento específico (A). “Selecciona solo los B que son </a:t>
                      </a:r>
                      <a:r>
                        <a:rPr lang="es-ES" sz="1600" b="1" dirty="0">
                          <a:effectLst/>
                        </a:rPr>
                        <a:t>hijos</a:t>
                      </a:r>
                      <a:r>
                        <a:rPr lang="es-ES" sz="1600" b="0" dirty="0">
                          <a:effectLst/>
                        </a:rPr>
                        <a:t> </a:t>
                      </a:r>
                      <a:r>
                        <a:rPr lang="es-ES" sz="1600" b="1" dirty="0">
                          <a:effectLst/>
                        </a:rPr>
                        <a:t>directos de A</a:t>
                      </a:r>
                      <a:r>
                        <a:rPr lang="es-ES" sz="1600" b="0" dirty="0">
                          <a:effectLst/>
                        </a:rPr>
                        <a:t>”</a:t>
                      </a:r>
                    </a:p>
                  </a:txBody>
                  <a:tcPr/>
                </a:tc>
                <a:extLst>
                  <a:ext uri="{0D108BD9-81ED-4DB2-BD59-A6C34878D82A}">
                    <a16:rowId xmlns:a16="http://schemas.microsoft.com/office/drawing/2014/main" val="73822695"/>
                  </a:ext>
                </a:extLst>
              </a:tr>
              <a:tr h="0">
                <a:tc>
                  <a:txBody>
                    <a:bodyPr/>
                    <a:lstStyle/>
                    <a:p>
                      <a:pPr fontAlgn="t"/>
                      <a:r>
                        <a:rPr lang="en-US" sz="2000" b="1" dirty="0">
                          <a:effectLst/>
                        </a:rPr>
                        <a:t>A B</a:t>
                      </a:r>
                      <a:endParaRPr lang="en-US" sz="2000" b="0" dirty="0">
                        <a:effectLst/>
                      </a:endParaRPr>
                    </a:p>
                  </a:txBody>
                  <a:tcPr/>
                </a:tc>
                <a:tc>
                  <a:txBody>
                    <a:bodyPr/>
                    <a:lstStyle/>
                    <a:p>
                      <a:pPr fontAlgn="t"/>
                      <a:r>
                        <a:rPr lang="es-ES" sz="1600" b="1" u="sng" kern="1200" dirty="0">
                          <a:solidFill>
                            <a:schemeClr val="accent6">
                              <a:lumMod val="50000"/>
                            </a:schemeClr>
                          </a:solidFill>
                          <a:effectLst/>
                          <a:latin typeface="+mn-lt"/>
                          <a:ea typeface="+mn-ea"/>
                          <a:cs typeface="+mn-cs"/>
                        </a:rPr>
                        <a:t>Selector de descendientes</a:t>
                      </a:r>
                      <a:r>
                        <a:rPr lang="es-ES" sz="1600" b="0" dirty="0">
                          <a:effectLst/>
                        </a:rPr>
                        <a:t>. Permite aplicar un estilo a un elemento determinado que se encuentre dentro de un elemento específico. “Selecciona </a:t>
                      </a:r>
                      <a:r>
                        <a:rPr lang="es-ES" sz="1600" b="1" dirty="0">
                          <a:effectLst/>
                        </a:rPr>
                        <a:t>todos</a:t>
                      </a:r>
                      <a:r>
                        <a:rPr lang="es-ES" sz="1600" b="0" dirty="0">
                          <a:effectLst/>
                        </a:rPr>
                        <a:t> los elementos B dentro de A”. Esto ya lo hemos visto en selectores con alcance</a:t>
                      </a:r>
                    </a:p>
                  </a:txBody>
                  <a:tcPr/>
                </a:tc>
                <a:extLst>
                  <a:ext uri="{0D108BD9-81ED-4DB2-BD59-A6C34878D82A}">
                    <a16:rowId xmlns:a16="http://schemas.microsoft.com/office/drawing/2014/main" val="3426557098"/>
                  </a:ext>
                </a:extLst>
              </a:tr>
            </a:tbl>
          </a:graphicData>
        </a:graphic>
      </p:graphicFrame>
    </p:spTree>
    <p:extLst>
      <p:ext uri="{BB962C8B-B14F-4D97-AF65-F5344CB8AC3E}">
        <p14:creationId xmlns:p14="http://schemas.microsoft.com/office/powerpoint/2010/main" val="1438581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Ejercicio selectores avanzados</a:t>
            </a:r>
          </a:p>
        </p:txBody>
      </p:sp>
      <p:sp>
        <p:nvSpPr>
          <p:cNvPr id="4" name="CuadroTexto 3">
            <a:extLst>
              <a:ext uri="{FF2B5EF4-FFF2-40B4-BE49-F238E27FC236}">
                <a16:creationId xmlns:a16="http://schemas.microsoft.com/office/drawing/2014/main" id="{99D3CCAB-7B06-BCE0-F386-7537002D74D4}"/>
              </a:ext>
            </a:extLst>
          </p:cNvPr>
          <p:cNvSpPr txBox="1"/>
          <p:nvPr/>
        </p:nvSpPr>
        <p:spPr>
          <a:xfrm>
            <a:off x="5037777" y="1387860"/>
            <a:ext cx="5042848" cy="3323987"/>
          </a:xfrm>
          <a:prstGeom prst="rect">
            <a:avLst/>
          </a:prstGeom>
          <a:noFill/>
        </p:spPr>
        <p:txBody>
          <a:bodyPr wrap="square">
            <a:spAutoFit/>
          </a:bodyPr>
          <a:lstStyle/>
          <a:p>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body</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cabecera</a:t>
            </a:r>
            <a:r>
              <a:rPr lang="pt-BR" sz="1400" b="0" dirty="0">
                <a:solidFill>
                  <a:srgbClr val="CCCCCC"/>
                </a:solidFill>
                <a:effectLst/>
                <a:latin typeface="Consolas" panose="020B0609020204030204" pitchFamily="49" charset="0"/>
              </a:rPr>
              <a:t> </a:t>
            </a:r>
            <a:r>
              <a:rPr lang="pt-BR" sz="1400" b="0" dirty="0" err="1">
                <a:solidFill>
                  <a:srgbClr val="CCCCCC"/>
                </a:solidFill>
                <a:effectLst/>
                <a:latin typeface="Consolas" panose="020B0609020204030204" pitchFamily="49" charset="0"/>
              </a:rPr>
              <a:t>primera</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p</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parrafo</a:t>
            </a:r>
            <a:r>
              <a:rPr lang="pt-BR" sz="1400" b="0" dirty="0">
                <a:solidFill>
                  <a:srgbClr val="CCCCCC"/>
                </a:solidFill>
                <a:effectLst/>
                <a:latin typeface="Consolas" panose="020B0609020204030204" pitchFamily="49" charset="0"/>
              </a:rPr>
              <a:t> 1</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p</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cabecera</a:t>
            </a:r>
            <a:r>
              <a:rPr lang="pt-BR" sz="1400" b="0" dirty="0">
                <a:solidFill>
                  <a:srgbClr val="CCCCCC"/>
                </a:solidFill>
                <a:effectLst/>
                <a:latin typeface="Consolas" panose="020B0609020204030204" pitchFamily="49" charset="0"/>
              </a:rPr>
              <a:t> 1</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cabecera</a:t>
            </a:r>
            <a:r>
              <a:rPr lang="pt-BR" sz="1400" b="0" dirty="0">
                <a:solidFill>
                  <a:srgbClr val="CCCCCC"/>
                </a:solidFill>
                <a:effectLst/>
                <a:latin typeface="Consolas" panose="020B0609020204030204" pitchFamily="49" charset="0"/>
              </a:rPr>
              <a:t> 2</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h2</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cabecera</a:t>
            </a:r>
            <a:r>
              <a:rPr lang="pt-BR" sz="1400" b="0" dirty="0">
                <a:solidFill>
                  <a:srgbClr val="CCCCCC"/>
                </a:solidFill>
                <a:effectLst/>
                <a:latin typeface="Consolas" panose="020B0609020204030204" pitchFamily="49" charset="0"/>
              </a:rPr>
              <a:t> algo más grande</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h2</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pt-BR" sz="1400" b="0" dirty="0">
                <a:solidFill>
                  <a:srgbClr val="CCCCCC"/>
                </a:solidFill>
                <a:effectLst/>
                <a:latin typeface="Consolas" panose="020B0609020204030204" pitchFamily="49" charset="0"/>
              </a:rPr>
              <a:t>        </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r>
              <a:rPr lang="pt-BR" sz="1400" b="0" dirty="0" err="1">
                <a:solidFill>
                  <a:srgbClr val="CCCCCC"/>
                </a:solidFill>
                <a:effectLst/>
                <a:latin typeface="Consolas" panose="020B0609020204030204" pitchFamily="49" charset="0"/>
              </a:rPr>
              <a:t>cabecera</a:t>
            </a:r>
            <a:r>
              <a:rPr lang="pt-BR" sz="1400" b="0" dirty="0">
                <a:solidFill>
                  <a:srgbClr val="CCCCCC"/>
                </a:solidFill>
                <a:effectLst/>
                <a:latin typeface="Consolas" panose="020B0609020204030204" pitchFamily="49" charset="0"/>
              </a:rPr>
              <a:t> 3</a:t>
            </a:r>
            <a:r>
              <a:rPr lang="pt-BR" sz="1400" b="0" dirty="0">
                <a:solidFill>
                  <a:srgbClr val="808080"/>
                </a:solidFill>
                <a:effectLst/>
                <a:latin typeface="Consolas" panose="020B0609020204030204" pitchFamily="49" charset="0"/>
              </a:rPr>
              <a:t>&lt;/</a:t>
            </a:r>
            <a:r>
              <a:rPr lang="pt-BR" sz="1400" b="0" dirty="0">
                <a:solidFill>
                  <a:srgbClr val="569CD6"/>
                </a:solidFill>
                <a:effectLst/>
                <a:latin typeface="Consolas" panose="020B0609020204030204" pitchFamily="49" charset="0"/>
              </a:rPr>
              <a:t>h1</a:t>
            </a:r>
            <a:r>
              <a:rPr lang="pt-BR" sz="1400" b="0" dirty="0">
                <a:solidFill>
                  <a:srgbClr val="808080"/>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ul</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r>
              <a:rPr lang="it-IT" sz="1400" b="0" dirty="0">
                <a:solidFill>
                  <a:srgbClr val="CCCCCC"/>
                </a:solidFill>
                <a:effectLst/>
                <a:latin typeface="Consolas" panose="020B0609020204030204" pitchFamily="49" charset="0"/>
              </a:rPr>
              <a:t>Elemento 1</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r>
              <a:rPr lang="it-IT" sz="1400" b="0" dirty="0">
                <a:solidFill>
                  <a:srgbClr val="CCCCCC"/>
                </a:solidFill>
                <a:effectLst/>
                <a:latin typeface="Consolas" panose="020B0609020204030204" pitchFamily="49" charset="0"/>
              </a:rPr>
              <a:t>Elemento 2</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ol</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r>
              <a:rPr lang="it-IT" sz="1400" b="0" dirty="0">
                <a:solidFill>
                  <a:srgbClr val="CCCCCC"/>
                </a:solidFill>
                <a:effectLst/>
                <a:latin typeface="Consolas" panose="020B0609020204030204" pitchFamily="49" charset="0"/>
              </a:rPr>
              <a:t>Elemento 2.1</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li</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ol</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ul</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a:p>
            <a:r>
              <a:rPr lang="it-IT" sz="1400" b="0" dirty="0">
                <a:solidFill>
                  <a:srgbClr val="CCCCCC"/>
                </a:solidFill>
                <a:effectLst/>
                <a:latin typeface="Consolas" panose="020B0609020204030204" pitchFamily="49" charset="0"/>
              </a:rPr>
              <a:t>    </a:t>
            </a:r>
            <a:r>
              <a:rPr lang="it-IT" sz="1400" b="0" dirty="0">
                <a:solidFill>
                  <a:srgbClr val="808080"/>
                </a:solidFill>
                <a:effectLst/>
                <a:latin typeface="Consolas" panose="020B0609020204030204" pitchFamily="49" charset="0"/>
              </a:rPr>
              <a:t>&lt;/</a:t>
            </a:r>
            <a:r>
              <a:rPr lang="it-IT" sz="1400" b="0" dirty="0">
                <a:solidFill>
                  <a:srgbClr val="569CD6"/>
                </a:solidFill>
                <a:effectLst/>
                <a:latin typeface="Consolas" panose="020B0609020204030204" pitchFamily="49" charset="0"/>
              </a:rPr>
              <a:t>body</a:t>
            </a:r>
            <a:r>
              <a:rPr lang="it-IT" sz="1400" b="0" dirty="0">
                <a:solidFill>
                  <a:srgbClr val="808080"/>
                </a:solidFill>
                <a:effectLst/>
                <a:latin typeface="Consolas" panose="020B0609020204030204" pitchFamily="49" charset="0"/>
              </a:rPr>
              <a:t>&gt;</a:t>
            </a:r>
            <a:endParaRPr lang="it-IT" sz="1400" b="0" dirty="0">
              <a:solidFill>
                <a:srgbClr val="CCCCCC"/>
              </a:solidFill>
              <a:effectLst/>
              <a:latin typeface="Consolas" panose="020B0609020204030204" pitchFamily="49" charset="0"/>
            </a:endParaRPr>
          </a:p>
        </p:txBody>
      </p:sp>
      <p:sp>
        <p:nvSpPr>
          <p:cNvPr id="7" name="CuadroTexto 6">
            <a:extLst>
              <a:ext uri="{FF2B5EF4-FFF2-40B4-BE49-F238E27FC236}">
                <a16:creationId xmlns:a16="http://schemas.microsoft.com/office/drawing/2014/main" id="{25504B7F-D88F-85D0-58DD-FE47B69F4D95}"/>
              </a:ext>
            </a:extLst>
          </p:cNvPr>
          <p:cNvSpPr txBox="1"/>
          <p:nvPr/>
        </p:nvSpPr>
        <p:spPr>
          <a:xfrm>
            <a:off x="313899" y="1637731"/>
            <a:ext cx="4271297" cy="2308324"/>
          </a:xfrm>
          <a:prstGeom prst="rect">
            <a:avLst/>
          </a:prstGeom>
          <a:noFill/>
        </p:spPr>
        <p:txBody>
          <a:bodyPr wrap="none" rtlCol="0">
            <a:spAutoFit/>
          </a:bodyPr>
          <a:lstStyle/>
          <a:p>
            <a:r>
              <a:rPr lang="es-ES" dirty="0"/>
              <a:t>Dado el siguiente </a:t>
            </a:r>
            <a:r>
              <a:rPr lang="es-ES" dirty="0" err="1"/>
              <a:t>body</a:t>
            </a:r>
            <a:r>
              <a:rPr lang="es-ES" dirty="0"/>
              <a:t>, vamos a  establecer</a:t>
            </a:r>
          </a:p>
          <a:p>
            <a:r>
              <a:rPr lang="es-ES" dirty="0"/>
              <a:t>la propiedad </a:t>
            </a:r>
            <a:r>
              <a:rPr lang="es-ES" dirty="0" err="1"/>
              <a:t>color:blue</a:t>
            </a:r>
            <a:r>
              <a:rPr lang="es-ES" dirty="0"/>
              <a:t> con los siguientes </a:t>
            </a:r>
          </a:p>
          <a:p>
            <a:r>
              <a:rPr lang="es-ES" dirty="0"/>
              <a:t>selectores avanzados para ver que pasa</a:t>
            </a:r>
          </a:p>
          <a:p>
            <a:endParaRPr lang="es-ES" dirty="0"/>
          </a:p>
          <a:p>
            <a:pPr marL="285750" indent="-285750">
              <a:buFont typeface="Arial" panose="020B0604020202020204" pitchFamily="34" charset="0"/>
              <a:buChar char="•"/>
            </a:pPr>
            <a:r>
              <a:rPr lang="es-ES" b="1" dirty="0"/>
              <a:t>p + h1</a:t>
            </a:r>
          </a:p>
          <a:p>
            <a:pPr marL="285750" indent="-285750">
              <a:buFont typeface="Arial" panose="020B0604020202020204" pitchFamily="34" charset="0"/>
              <a:buChar char="•"/>
            </a:pPr>
            <a:r>
              <a:rPr lang="es-ES" b="1" dirty="0"/>
              <a:t>p ~ h1</a:t>
            </a:r>
          </a:p>
          <a:p>
            <a:pPr marL="285750" indent="-285750">
              <a:buFont typeface="Arial" panose="020B0604020202020204" pitchFamily="34" charset="0"/>
              <a:buChar char="•"/>
            </a:pPr>
            <a:r>
              <a:rPr lang="es-ES" b="1" dirty="0" err="1"/>
              <a:t>ul</a:t>
            </a:r>
            <a:r>
              <a:rPr lang="es-ES" b="1" dirty="0"/>
              <a:t> &gt; </a:t>
            </a:r>
            <a:r>
              <a:rPr lang="es-ES" b="1" dirty="0" err="1"/>
              <a:t>li</a:t>
            </a:r>
            <a:endParaRPr lang="es-ES" b="1" dirty="0"/>
          </a:p>
          <a:p>
            <a:pPr marL="285750" indent="-285750">
              <a:buFont typeface="Arial" panose="020B0604020202020204" pitchFamily="34" charset="0"/>
              <a:buChar char="•"/>
            </a:pPr>
            <a:r>
              <a:rPr lang="es-ES" b="1" dirty="0" err="1"/>
              <a:t>ul</a:t>
            </a:r>
            <a:r>
              <a:rPr lang="es-ES" b="1" dirty="0"/>
              <a:t> </a:t>
            </a:r>
            <a:r>
              <a:rPr lang="es-ES" b="1" dirty="0" err="1"/>
              <a:t>li</a:t>
            </a:r>
            <a:endParaRPr lang="es-ES" b="1" dirty="0"/>
          </a:p>
        </p:txBody>
      </p:sp>
    </p:spTree>
    <p:extLst>
      <p:ext uri="{BB962C8B-B14F-4D97-AF65-F5344CB8AC3E}">
        <p14:creationId xmlns:p14="http://schemas.microsoft.com/office/powerpoint/2010/main" val="176274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1CF745D-A7A1-1064-AB42-2F2867170607}"/>
              </a:ext>
            </a:extLst>
          </p:cNvPr>
          <p:cNvSpPr txBox="1"/>
          <p:nvPr/>
        </p:nvSpPr>
        <p:spPr>
          <a:xfrm>
            <a:off x="540774" y="363794"/>
            <a:ext cx="1735155" cy="584775"/>
          </a:xfrm>
          <a:prstGeom prst="rect">
            <a:avLst/>
          </a:prstGeom>
          <a:noFill/>
        </p:spPr>
        <p:txBody>
          <a:bodyPr wrap="none" rtlCol="0">
            <a:spAutoFit/>
          </a:bodyPr>
          <a:lstStyle/>
          <a:p>
            <a:r>
              <a:rPr lang="es-ES" sz="3200" dirty="0">
                <a:solidFill>
                  <a:schemeClr val="bg1"/>
                </a:solidFill>
              </a:rPr>
              <a:t>Ejercicios</a:t>
            </a:r>
          </a:p>
        </p:txBody>
      </p:sp>
      <p:sp>
        <p:nvSpPr>
          <p:cNvPr id="4" name="CuadroTexto 3">
            <a:extLst>
              <a:ext uri="{FF2B5EF4-FFF2-40B4-BE49-F238E27FC236}">
                <a16:creationId xmlns:a16="http://schemas.microsoft.com/office/drawing/2014/main" id="{5B7ACA35-86DA-3351-CE77-15C4D34265DF}"/>
              </a:ext>
            </a:extLst>
          </p:cNvPr>
          <p:cNvSpPr txBox="1"/>
          <p:nvPr/>
        </p:nvSpPr>
        <p:spPr>
          <a:xfrm>
            <a:off x="353961" y="1255993"/>
            <a:ext cx="5043948" cy="646331"/>
          </a:xfrm>
          <a:prstGeom prst="rect">
            <a:avLst/>
          </a:prstGeom>
          <a:noFill/>
        </p:spPr>
        <p:txBody>
          <a:bodyPr wrap="square">
            <a:spAutoFit/>
          </a:bodyPr>
          <a:lstStyle/>
          <a:p>
            <a:r>
              <a:rPr lang="es-ES" dirty="0"/>
              <a:t>1. Crea un documento </a:t>
            </a:r>
            <a:r>
              <a:rPr lang="es-ES" dirty="0" err="1">
                <a:latin typeface="Courier New" panose="02070309020205020404" pitchFamily="49" charset="0"/>
              </a:rPr>
              <a:t>colores.html</a:t>
            </a:r>
            <a:r>
              <a:rPr lang="es-ES" dirty="0"/>
              <a:t> con el siguiente contenido:</a:t>
            </a:r>
          </a:p>
        </p:txBody>
      </p:sp>
      <p:sp>
        <p:nvSpPr>
          <p:cNvPr id="6" name="CuadroTexto 5">
            <a:extLst>
              <a:ext uri="{FF2B5EF4-FFF2-40B4-BE49-F238E27FC236}">
                <a16:creationId xmlns:a16="http://schemas.microsoft.com/office/drawing/2014/main" id="{D6B166B2-8513-F8AE-BD01-2ADD436A2FD2}"/>
              </a:ext>
            </a:extLst>
          </p:cNvPr>
          <p:cNvSpPr txBox="1"/>
          <p:nvPr/>
        </p:nvSpPr>
        <p:spPr>
          <a:xfrm>
            <a:off x="117986" y="1902324"/>
            <a:ext cx="7895303" cy="1477328"/>
          </a:xfrm>
          <a:prstGeom prst="rect">
            <a:avLst/>
          </a:prstGeom>
          <a:noFill/>
        </p:spPr>
        <p:txBody>
          <a:bodyPr wrap="square">
            <a:spAutoFit/>
          </a:bodyPr>
          <a:lstStyle/>
          <a:p>
            <a:r>
              <a:rPr lang="es-ES" dirty="0"/>
              <a:t>&lt;h1&gt;Mi primera página con CSS&lt;/h1&gt;</a:t>
            </a:r>
          </a:p>
          <a:p>
            <a:endParaRPr lang="es-ES" dirty="0"/>
          </a:p>
          <a:p>
            <a:r>
              <a:rPr lang="es-ES" dirty="0"/>
              <a:t>&lt;p&gt;Este texto debe salir azul.&lt;/p&gt;</a:t>
            </a:r>
          </a:p>
          <a:p>
            <a:r>
              <a:rPr lang="es-ES" dirty="0"/>
              <a:t>&lt;p </a:t>
            </a:r>
            <a:r>
              <a:rPr lang="es-ES" dirty="0" err="1"/>
              <a:t>class</a:t>
            </a:r>
            <a:r>
              <a:rPr lang="es-ES" dirty="0"/>
              <a:t>="importante"&gt;Este texto debe salir rojo y en negrita.&lt;/p&gt;</a:t>
            </a:r>
          </a:p>
          <a:p>
            <a:r>
              <a:rPr lang="es-ES" dirty="0"/>
              <a:t>&lt;p id="especial"&gt;Este texto debe salir verde y con fondo amarillo.&lt;/p&gt;</a:t>
            </a:r>
          </a:p>
        </p:txBody>
      </p:sp>
      <p:sp>
        <p:nvSpPr>
          <p:cNvPr id="8" name="CuadroTexto 7">
            <a:extLst>
              <a:ext uri="{FF2B5EF4-FFF2-40B4-BE49-F238E27FC236}">
                <a16:creationId xmlns:a16="http://schemas.microsoft.com/office/drawing/2014/main" id="{DBBE5CCF-905E-14EE-D210-C80630E0748B}"/>
              </a:ext>
            </a:extLst>
          </p:cNvPr>
          <p:cNvSpPr txBox="1"/>
          <p:nvPr/>
        </p:nvSpPr>
        <p:spPr>
          <a:xfrm>
            <a:off x="540772" y="3436654"/>
            <a:ext cx="6700684" cy="2031325"/>
          </a:xfrm>
          <a:prstGeom prst="rect">
            <a:avLst/>
          </a:prstGeom>
          <a:noFill/>
        </p:spPr>
        <p:txBody>
          <a:bodyPr wrap="square">
            <a:spAutoFit/>
          </a:bodyPr>
          <a:lstStyle/>
          <a:p>
            <a:r>
              <a:rPr lang="es-ES" dirty="0"/>
              <a:t>Aplica los siguientes estilos desde un archivo </a:t>
            </a:r>
            <a:r>
              <a:rPr lang="es-ES" dirty="0" err="1">
                <a:latin typeface="Courier New" panose="02070309020205020404" pitchFamily="49" charset="0"/>
              </a:rPr>
              <a:t>estilos.css</a:t>
            </a:r>
            <a:r>
              <a:rPr lang="es-ES" dirty="0"/>
              <a:t>:</a:t>
            </a:r>
          </a:p>
          <a:p>
            <a:pPr>
              <a:buFont typeface="+mj-lt"/>
              <a:buAutoNum type="arabicPeriod"/>
            </a:pPr>
            <a:endParaRPr lang="es-ES" dirty="0"/>
          </a:p>
          <a:p>
            <a:pPr>
              <a:buFont typeface="+mj-lt"/>
              <a:buAutoNum type="arabicPeriod"/>
            </a:pPr>
            <a:r>
              <a:rPr lang="es-ES" dirty="0"/>
              <a:t>Todos los párrafos (</a:t>
            </a:r>
            <a:r>
              <a:rPr lang="es-ES" dirty="0">
                <a:latin typeface="Courier New" panose="02070309020205020404" pitchFamily="49" charset="0"/>
              </a:rPr>
              <a:t>&lt;p&gt;</a:t>
            </a:r>
            <a:r>
              <a:rPr lang="es-ES" dirty="0"/>
              <a:t>) deben tener color </a:t>
            </a:r>
            <a:r>
              <a:rPr lang="es-ES" b="1" dirty="0"/>
              <a:t>azul</a:t>
            </a:r>
            <a:r>
              <a:rPr lang="es-ES" dirty="0"/>
              <a:t>.</a:t>
            </a:r>
          </a:p>
          <a:p>
            <a:pPr>
              <a:buFont typeface="+mj-lt"/>
              <a:buAutoNum type="arabicPeriod"/>
            </a:pPr>
            <a:r>
              <a:rPr lang="es-ES" dirty="0"/>
              <a:t>Los elementos con clase </a:t>
            </a:r>
            <a:r>
              <a:rPr lang="es-ES" b="1" dirty="0"/>
              <a:t>.importante</a:t>
            </a:r>
            <a:r>
              <a:rPr lang="es-ES" dirty="0"/>
              <a:t> deben ser </a:t>
            </a:r>
            <a:r>
              <a:rPr lang="es-ES" b="1" dirty="0"/>
              <a:t>rojos y en negrita</a:t>
            </a:r>
            <a:r>
              <a:rPr lang="es-ES" dirty="0"/>
              <a:t>.</a:t>
            </a:r>
          </a:p>
          <a:p>
            <a:pPr>
              <a:buFont typeface="+mj-lt"/>
              <a:buAutoNum type="arabicPeriod"/>
            </a:pPr>
            <a:r>
              <a:rPr lang="es-ES" dirty="0"/>
              <a:t>El elemento con id </a:t>
            </a:r>
            <a:r>
              <a:rPr lang="es-ES" b="1" dirty="0"/>
              <a:t>#especial</a:t>
            </a:r>
            <a:r>
              <a:rPr lang="es-ES" dirty="0"/>
              <a:t> debe tener texto </a:t>
            </a:r>
            <a:r>
              <a:rPr lang="es-ES" b="1" dirty="0"/>
              <a:t>verde</a:t>
            </a:r>
            <a:r>
              <a:rPr lang="es-ES" dirty="0"/>
              <a:t> y fondo </a:t>
            </a:r>
            <a:r>
              <a:rPr lang="es-ES" b="1" dirty="0"/>
              <a:t>amarillo</a:t>
            </a:r>
            <a:r>
              <a:rPr lang="es-ES" dirty="0"/>
              <a:t>.</a:t>
            </a:r>
          </a:p>
          <a:p>
            <a:pPr>
              <a:buFont typeface="+mj-lt"/>
              <a:buAutoNum type="arabicPeriod"/>
            </a:pPr>
            <a:r>
              <a:rPr lang="es-ES" dirty="0"/>
              <a:t>El título </a:t>
            </a:r>
            <a:r>
              <a:rPr lang="es-ES" dirty="0">
                <a:latin typeface="Courier New" panose="02070309020205020404" pitchFamily="49" charset="0"/>
              </a:rPr>
              <a:t>&lt;h1&gt;</a:t>
            </a:r>
            <a:r>
              <a:rPr lang="es-ES" dirty="0"/>
              <a:t> debe tener un </a:t>
            </a:r>
            <a:r>
              <a:rPr lang="es-ES" b="1" dirty="0"/>
              <a:t>subrayado</a:t>
            </a:r>
            <a:r>
              <a:rPr lang="es-ES" dirty="0"/>
              <a:t> y estar </a:t>
            </a:r>
            <a:r>
              <a:rPr lang="es-ES" b="1" dirty="0"/>
              <a:t>centrado</a:t>
            </a:r>
            <a:r>
              <a:rPr lang="es-ES" dirty="0"/>
              <a:t>.</a:t>
            </a:r>
          </a:p>
        </p:txBody>
      </p:sp>
    </p:spTree>
    <p:extLst>
      <p:ext uri="{BB962C8B-B14F-4D97-AF65-F5344CB8AC3E}">
        <p14:creationId xmlns:p14="http://schemas.microsoft.com/office/powerpoint/2010/main" val="4161674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8A80-CDDB-0993-569F-014ED0C5FB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E9DB7C5-E973-1DBA-F1BA-34761B490B74}"/>
              </a:ext>
            </a:extLst>
          </p:cNvPr>
          <p:cNvSpPr txBox="1"/>
          <p:nvPr/>
        </p:nvSpPr>
        <p:spPr>
          <a:xfrm>
            <a:off x="540774" y="363794"/>
            <a:ext cx="1735155" cy="584775"/>
          </a:xfrm>
          <a:prstGeom prst="rect">
            <a:avLst/>
          </a:prstGeom>
          <a:noFill/>
        </p:spPr>
        <p:txBody>
          <a:bodyPr wrap="none" rtlCol="0">
            <a:spAutoFit/>
          </a:bodyPr>
          <a:lstStyle/>
          <a:p>
            <a:r>
              <a:rPr lang="es-ES" sz="3200" dirty="0">
                <a:solidFill>
                  <a:schemeClr val="bg1"/>
                </a:solidFill>
              </a:rPr>
              <a:t>Ejercicios</a:t>
            </a:r>
          </a:p>
        </p:txBody>
      </p:sp>
      <p:sp>
        <p:nvSpPr>
          <p:cNvPr id="4" name="CuadroTexto 3">
            <a:extLst>
              <a:ext uri="{FF2B5EF4-FFF2-40B4-BE49-F238E27FC236}">
                <a16:creationId xmlns:a16="http://schemas.microsoft.com/office/drawing/2014/main" id="{A94BAB41-1095-C26B-253A-77659561D2BC}"/>
              </a:ext>
            </a:extLst>
          </p:cNvPr>
          <p:cNvSpPr txBox="1"/>
          <p:nvPr/>
        </p:nvSpPr>
        <p:spPr>
          <a:xfrm>
            <a:off x="353961" y="1255993"/>
            <a:ext cx="8436078" cy="369332"/>
          </a:xfrm>
          <a:prstGeom prst="rect">
            <a:avLst/>
          </a:prstGeom>
          <a:noFill/>
        </p:spPr>
        <p:txBody>
          <a:bodyPr wrap="square">
            <a:spAutoFit/>
          </a:bodyPr>
          <a:lstStyle/>
          <a:p>
            <a:r>
              <a:rPr lang="es-ES" dirty="0"/>
              <a:t>2. Crea un documento </a:t>
            </a:r>
            <a:r>
              <a:rPr lang="es-ES" dirty="0" err="1"/>
              <a:t>enlaces.html</a:t>
            </a:r>
            <a:r>
              <a:rPr lang="es-ES" dirty="0"/>
              <a:t> con el siguiente contenido</a:t>
            </a:r>
          </a:p>
        </p:txBody>
      </p:sp>
      <p:sp>
        <p:nvSpPr>
          <p:cNvPr id="6" name="CuadroTexto 5">
            <a:extLst>
              <a:ext uri="{FF2B5EF4-FFF2-40B4-BE49-F238E27FC236}">
                <a16:creationId xmlns:a16="http://schemas.microsoft.com/office/drawing/2014/main" id="{6488C041-5867-61B6-994A-A6A511B851E1}"/>
              </a:ext>
            </a:extLst>
          </p:cNvPr>
          <p:cNvSpPr txBox="1"/>
          <p:nvPr/>
        </p:nvSpPr>
        <p:spPr>
          <a:xfrm>
            <a:off x="117986" y="1902324"/>
            <a:ext cx="7895303" cy="1200329"/>
          </a:xfrm>
          <a:prstGeom prst="rect">
            <a:avLst/>
          </a:prstGeom>
          <a:noFill/>
        </p:spPr>
        <p:txBody>
          <a:bodyPr wrap="square">
            <a:spAutoFit/>
          </a:bodyPr>
          <a:lstStyle/>
          <a:p>
            <a:r>
              <a:rPr lang="es-ES" dirty="0"/>
              <a:t>&lt;a </a:t>
            </a:r>
            <a:r>
              <a:rPr lang="es-ES" dirty="0" err="1"/>
              <a:t>href</a:t>
            </a:r>
            <a:r>
              <a:rPr lang="es-ES" dirty="0"/>
              <a:t>="https://</a:t>
            </a:r>
            <a:r>
              <a:rPr lang="es-ES" dirty="0" err="1"/>
              <a:t>www.google.com</a:t>
            </a:r>
            <a:r>
              <a:rPr lang="es-ES" dirty="0"/>
              <a:t>" target="_</a:t>
            </a:r>
            <a:r>
              <a:rPr lang="es-ES" dirty="0" err="1"/>
              <a:t>blank</a:t>
            </a:r>
            <a:r>
              <a:rPr lang="es-ES" dirty="0"/>
              <a:t>"&gt;Google&lt;/a&gt;&lt;</a:t>
            </a:r>
            <a:r>
              <a:rPr lang="es-ES" dirty="0" err="1"/>
              <a:t>br</a:t>
            </a:r>
            <a:r>
              <a:rPr lang="es-ES" dirty="0"/>
              <a:t>&gt;</a:t>
            </a:r>
          </a:p>
          <a:p>
            <a:r>
              <a:rPr lang="es-ES" dirty="0"/>
              <a:t>&lt;a </a:t>
            </a:r>
            <a:r>
              <a:rPr lang="es-ES" dirty="0" err="1"/>
              <a:t>href</a:t>
            </a:r>
            <a:r>
              <a:rPr lang="es-ES" dirty="0"/>
              <a:t>="https://</a:t>
            </a:r>
            <a:r>
              <a:rPr lang="es-ES" dirty="0" err="1"/>
              <a:t>www.wikipedia.org</a:t>
            </a:r>
            <a:r>
              <a:rPr lang="es-ES" dirty="0"/>
              <a:t>" target="_</a:t>
            </a:r>
            <a:r>
              <a:rPr lang="es-ES" dirty="0" err="1"/>
              <a:t>blank</a:t>
            </a:r>
            <a:r>
              <a:rPr lang="es-ES" dirty="0"/>
              <a:t>"&gt;Wikipedia&lt;/a&gt;&lt;</a:t>
            </a:r>
            <a:r>
              <a:rPr lang="es-ES" dirty="0" err="1"/>
              <a:t>br</a:t>
            </a:r>
            <a:r>
              <a:rPr lang="es-ES" dirty="0"/>
              <a:t>&gt;</a:t>
            </a:r>
          </a:p>
          <a:p>
            <a:r>
              <a:rPr lang="es-ES" dirty="0"/>
              <a:t>&lt;a </a:t>
            </a:r>
            <a:r>
              <a:rPr lang="es-ES" dirty="0" err="1"/>
              <a:t>href</a:t>
            </a:r>
            <a:r>
              <a:rPr lang="es-ES" dirty="0"/>
              <a:t>="</a:t>
            </a:r>
            <a:r>
              <a:rPr lang="es-ES" dirty="0" err="1"/>
              <a:t>documento.pdf</a:t>
            </a:r>
            <a:r>
              <a:rPr lang="es-ES" dirty="0"/>
              <a:t>"&gt;Descargar PDF&lt;/a&gt;&lt;</a:t>
            </a:r>
            <a:r>
              <a:rPr lang="es-ES" dirty="0" err="1"/>
              <a:t>br</a:t>
            </a:r>
            <a:r>
              <a:rPr lang="es-ES" dirty="0"/>
              <a:t>&gt;</a:t>
            </a:r>
          </a:p>
          <a:p>
            <a:r>
              <a:rPr lang="es-ES" dirty="0"/>
              <a:t>&lt;a </a:t>
            </a:r>
            <a:r>
              <a:rPr lang="es-ES" dirty="0" err="1"/>
              <a:t>href</a:t>
            </a:r>
            <a:r>
              <a:rPr lang="es-ES" dirty="0"/>
              <a:t>="</a:t>
            </a:r>
            <a:r>
              <a:rPr lang="es-ES" dirty="0" err="1"/>
              <a:t>contacto.html</a:t>
            </a:r>
            <a:r>
              <a:rPr lang="es-ES" dirty="0"/>
              <a:t>"&gt;Contacto&lt;/a&gt;</a:t>
            </a:r>
          </a:p>
        </p:txBody>
      </p:sp>
      <p:sp>
        <p:nvSpPr>
          <p:cNvPr id="5" name="CuadroTexto 4">
            <a:extLst>
              <a:ext uri="{FF2B5EF4-FFF2-40B4-BE49-F238E27FC236}">
                <a16:creationId xmlns:a16="http://schemas.microsoft.com/office/drawing/2014/main" id="{973B9CE4-8D90-6AFF-9A50-22C3B0C453A0}"/>
              </a:ext>
            </a:extLst>
          </p:cNvPr>
          <p:cNvSpPr txBox="1"/>
          <p:nvPr/>
        </p:nvSpPr>
        <p:spPr>
          <a:xfrm>
            <a:off x="117986" y="2942498"/>
            <a:ext cx="7204690" cy="2585323"/>
          </a:xfrm>
          <a:prstGeom prst="rect">
            <a:avLst/>
          </a:prstGeom>
          <a:noFill/>
        </p:spPr>
        <p:txBody>
          <a:bodyPr wrap="square">
            <a:spAutoFit/>
          </a:bodyPr>
          <a:lstStyle/>
          <a:p>
            <a:pPr>
              <a:buNone/>
            </a:pPr>
            <a:r>
              <a:rPr lang="es-ES" dirty="0"/>
              <a:t>Aplica los siguientes estilos desde un archivo </a:t>
            </a:r>
            <a:r>
              <a:rPr lang="es-ES" dirty="0" err="1">
                <a:latin typeface="Courier New" panose="02070309020205020404" pitchFamily="49" charset="0"/>
              </a:rPr>
              <a:t>enlaces.css</a:t>
            </a:r>
            <a:r>
              <a:rPr lang="es-ES" dirty="0"/>
              <a:t>:</a:t>
            </a:r>
          </a:p>
          <a:p>
            <a:pPr>
              <a:buFont typeface="+mj-lt"/>
              <a:buAutoNum type="arabicPeriod"/>
            </a:pPr>
            <a:r>
              <a:rPr lang="es-ES" dirty="0"/>
              <a:t>Todos los enlaces que tengan el atributo </a:t>
            </a:r>
            <a:r>
              <a:rPr lang="es-ES" dirty="0">
                <a:latin typeface="Courier New" panose="02070309020205020404" pitchFamily="49" charset="0"/>
              </a:rPr>
              <a:t>target</a:t>
            </a:r>
            <a:r>
              <a:rPr lang="es-ES" dirty="0"/>
              <a:t> deben tener color </a:t>
            </a:r>
            <a:r>
              <a:rPr lang="es-ES" b="1" dirty="0"/>
              <a:t>rojo</a:t>
            </a:r>
            <a:r>
              <a:rPr lang="es-ES" dirty="0"/>
              <a:t>.</a:t>
            </a:r>
          </a:p>
          <a:p>
            <a:pPr>
              <a:buFont typeface="+mj-lt"/>
              <a:buAutoNum type="arabicPeriod"/>
            </a:pPr>
            <a:r>
              <a:rPr lang="es-ES" dirty="0"/>
              <a:t>Los enlaces que apunten a un archivo </a:t>
            </a:r>
            <a:r>
              <a:rPr lang="es-ES" dirty="0">
                <a:latin typeface="Courier New" panose="02070309020205020404" pitchFamily="49" charset="0"/>
              </a:rPr>
              <a:t>.</a:t>
            </a:r>
            <a:r>
              <a:rPr lang="es-ES" dirty="0" err="1">
                <a:latin typeface="Courier New" panose="02070309020205020404" pitchFamily="49" charset="0"/>
              </a:rPr>
              <a:t>pdf</a:t>
            </a:r>
            <a:r>
              <a:rPr lang="es-ES" dirty="0"/>
              <a:t> deben tener color </a:t>
            </a:r>
            <a:r>
              <a:rPr lang="es-ES" b="1" dirty="0"/>
              <a:t>verde</a:t>
            </a:r>
            <a:r>
              <a:rPr lang="es-ES" dirty="0"/>
              <a:t> y </a:t>
            </a:r>
            <a:r>
              <a:rPr lang="es-ES" b="1" dirty="0"/>
              <a:t>subrayado</a:t>
            </a:r>
            <a:r>
              <a:rPr lang="es-ES" dirty="0"/>
              <a:t>.</a:t>
            </a:r>
          </a:p>
          <a:p>
            <a:pPr>
              <a:buFont typeface="+mj-lt"/>
              <a:buAutoNum type="arabicPeriod"/>
            </a:pPr>
            <a:r>
              <a:rPr lang="es-ES" dirty="0"/>
              <a:t>Todos los enlaces deben quitar el subrayado por defecto (</a:t>
            </a:r>
            <a:r>
              <a:rPr lang="es-ES" dirty="0" err="1">
                <a:latin typeface="Courier New" panose="02070309020205020404" pitchFamily="49" charset="0"/>
              </a:rPr>
              <a:t>text-decoration</a:t>
            </a:r>
            <a:r>
              <a:rPr lang="es-ES" dirty="0">
                <a:latin typeface="Courier New" panose="02070309020205020404" pitchFamily="49" charset="0"/>
              </a:rPr>
              <a:t>: </a:t>
            </a:r>
            <a:r>
              <a:rPr lang="es-ES" dirty="0" err="1">
                <a:latin typeface="Courier New" panose="02070309020205020404" pitchFamily="49" charset="0"/>
              </a:rPr>
              <a:t>none</a:t>
            </a:r>
            <a:r>
              <a:rPr lang="es-ES" dirty="0">
                <a:latin typeface="Courier New" panose="02070309020205020404" pitchFamily="49" charset="0"/>
              </a:rPr>
              <a:t>;</a:t>
            </a:r>
            <a:r>
              <a:rPr lang="es-ES" dirty="0"/>
              <a:t>) y tener un color </a:t>
            </a:r>
            <a:r>
              <a:rPr lang="es-ES" b="1" dirty="0"/>
              <a:t>gris</a:t>
            </a:r>
            <a:r>
              <a:rPr lang="es-ES" dirty="0"/>
              <a:t> si no cumplen ninguna condición anterior.</a:t>
            </a:r>
          </a:p>
          <a:p>
            <a:pPr>
              <a:buFont typeface="+mj-lt"/>
              <a:buAutoNum type="arabicPeriod"/>
            </a:pPr>
            <a:r>
              <a:rPr lang="es-ES" dirty="0"/>
              <a:t>Al pasar el ratón sobre cualquier enlace (</a:t>
            </a:r>
            <a:r>
              <a:rPr lang="es-ES" dirty="0" err="1">
                <a:latin typeface="Courier New" panose="02070309020205020404" pitchFamily="49" charset="0"/>
              </a:rPr>
              <a:t>a:hover</a:t>
            </a:r>
            <a:r>
              <a:rPr lang="es-ES" dirty="0"/>
              <a:t>), cambia el color a </a:t>
            </a:r>
            <a:r>
              <a:rPr lang="es-ES" b="1" dirty="0"/>
              <a:t>naranja</a:t>
            </a:r>
            <a:r>
              <a:rPr lang="es-ES" dirty="0"/>
              <a:t>.</a:t>
            </a:r>
          </a:p>
        </p:txBody>
      </p:sp>
    </p:spTree>
    <p:extLst>
      <p:ext uri="{BB962C8B-B14F-4D97-AF65-F5344CB8AC3E}">
        <p14:creationId xmlns:p14="http://schemas.microsoft.com/office/powerpoint/2010/main" val="323052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Selectores con </a:t>
            </a:r>
            <a:r>
              <a:rPr lang="es-ES" dirty="0" err="1">
                <a:cs typeface="Noto Sans" pitchFamily="2"/>
              </a:rPr>
              <a:t>pseudoclases</a:t>
            </a:r>
            <a:endParaRPr lang="es-ES" dirty="0">
              <a:cs typeface="Noto Sans" pitchFamily="2"/>
            </a:endParaRPr>
          </a:p>
        </p:txBody>
      </p:sp>
      <p:sp>
        <p:nvSpPr>
          <p:cNvPr id="3" name="CuadroTexto 2">
            <a:extLst>
              <a:ext uri="{FF2B5EF4-FFF2-40B4-BE49-F238E27FC236}">
                <a16:creationId xmlns:a16="http://schemas.microsoft.com/office/drawing/2014/main" id="{025AB671-E236-F2F4-4552-C33381CBFB2B}"/>
              </a:ext>
            </a:extLst>
          </p:cNvPr>
          <p:cNvSpPr txBox="1"/>
          <p:nvPr/>
        </p:nvSpPr>
        <p:spPr>
          <a:xfrm>
            <a:off x="98112" y="1224956"/>
            <a:ext cx="9714103" cy="2031325"/>
          </a:xfrm>
          <a:prstGeom prst="rect">
            <a:avLst/>
          </a:prstGeom>
          <a:noFill/>
        </p:spPr>
        <p:txBody>
          <a:bodyPr wrap="square" rtlCol="0">
            <a:spAutoFit/>
          </a:bodyPr>
          <a:lstStyle/>
          <a:p>
            <a:r>
              <a:rPr lang="es-ES" dirty="0">
                <a:solidFill>
                  <a:schemeClr val="tx2"/>
                </a:solidFill>
                <a:latin typeface="Cambria" panose="02040503050406030204" pitchFamily="18" charset="0"/>
              </a:rPr>
              <a:t>Una </a:t>
            </a:r>
            <a:r>
              <a:rPr lang="es-ES" dirty="0" err="1">
                <a:solidFill>
                  <a:schemeClr val="tx2"/>
                </a:solidFill>
                <a:latin typeface="Cambria" panose="02040503050406030204" pitchFamily="18" charset="0"/>
              </a:rPr>
              <a:t>pseudo-clase</a:t>
            </a:r>
            <a:r>
              <a:rPr lang="es-ES" dirty="0">
                <a:solidFill>
                  <a:schemeClr val="tx2"/>
                </a:solidFill>
                <a:latin typeface="Cambria" panose="02040503050406030204" pitchFamily="18" charset="0"/>
              </a:rPr>
              <a:t> es una palabra clave que se añade a los selectores y que especifica un </a:t>
            </a:r>
          </a:p>
          <a:p>
            <a:r>
              <a:rPr lang="es-ES" dirty="0">
                <a:solidFill>
                  <a:schemeClr val="tx2"/>
                </a:solidFill>
                <a:latin typeface="Cambria" panose="02040503050406030204" pitchFamily="18" charset="0"/>
              </a:rPr>
              <a:t>estado especial del elemento seleccionado. Por ejemplo, </a:t>
            </a:r>
            <a:r>
              <a:rPr lang="es-ES" b="1" dirty="0">
                <a:solidFill>
                  <a:schemeClr val="tx2"/>
                </a:solidFill>
                <a:latin typeface="Cambria" panose="02040503050406030204" pitchFamily="18" charset="0"/>
              </a:rPr>
              <a:t>:</a:t>
            </a:r>
            <a:r>
              <a:rPr lang="es-ES" b="1" dirty="0" err="1">
                <a:solidFill>
                  <a:schemeClr val="tx2"/>
                </a:solidFill>
                <a:latin typeface="Cambria" panose="02040503050406030204" pitchFamily="18" charset="0"/>
              </a:rPr>
              <a:t>hover</a:t>
            </a:r>
            <a:r>
              <a:rPr lang="es-ES" b="1" dirty="0">
                <a:solidFill>
                  <a:schemeClr val="tx2"/>
                </a:solidFill>
                <a:latin typeface="Cambria" panose="02040503050406030204" pitchFamily="18" charset="0"/>
              </a:rPr>
              <a:t> </a:t>
            </a:r>
            <a:r>
              <a:rPr lang="es-ES" dirty="0">
                <a:solidFill>
                  <a:schemeClr val="tx2"/>
                </a:solidFill>
                <a:latin typeface="Cambria" panose="02040503050406030204" pitchFamily="18" charset="0"/>
              </a:rPr>
              <a:t>aplica un estilo cuando el usuario </a:t>
            </a:r>
          </a:p>
          <a:p>
            <a:r>
              <a:rPr lang="es-ES" dirty="0" err="1">
                <a:solidFill>
                  <a:schemeClr val="tx2"/>
                </a:solidFill>
                <a:latin typeface="Cambria" panose="02040503050406030204" pitchFamily="18" charset="0"/>
              </a:rPr>
              <a:t>situe</a:t>
            </a:r>
            <a:r>
              <a:rPr lang="es-ES" dirty="0">
                <a:solidFill>
                  <a:schemeClr val="tx2"/>
                </a:solidFill>
                <a:latin typeface="Cambria" panose="02040503050406030204" pitchFamily="18" charset="0"/>
              </a:rPr>
              <a:t> el ratón encima del elemento. Vamos a probar el siguiente ejemplo:</a:t>
            </a:r>
          </a:p>
          <a:p>
            <a:endParaRPr lang="es-ES" dirty="0">
              <a:solidFill>
                <a:schemeClr val="tx2"/>
              </a:solidFill>
              <a:latin typeface="Cambria" panose="02040503050406030204" pitchFamily="18" charset="0"/>
            </a:endParaRPr>
          </a:p>
          <a:p>
            <a:endParaRPr lang="es-ES" dirty="0">
              <a:solidFill>
                <a:schemeClr val="tx2"/>
              </a:solidFill>
              <a:latin typeface="Cambria" panose="02040503050406030204" pitchFamily="18" charset="0"/>
            </a:endParaRPr>
          </a:p>
          <a:p>
            <a:endParaRPr lang="es-ES" dirty="0"/>
          </a:p>
          <a:p>
            <a:endParaRPr lang="es-ES" dirty="0"/>
          </a:p>
        </p:txBody>
      </p:sp>
      <p:sp>
        <p:nvSpPr>
          <p:cNvPr id="5" name="CuadroTexto 4">
            <a:extLst>
              <a:ext uri="{FF2B5EF4-FFF2-40B4-BE49-F238E27FC236}">
                <a16:creationId xmlns:a16="http://schemas.microsoft.com/office/drawing/2014/main" id="{BFA5234E-6F47-052F-1F84-30FD08E83CCC}"/>
              </a:ext>
            </a:extLst>
          </p:cNvPr>
          <p:cNvSpPr txBox="1"/>
          <p:nvPr/>
        </p:nvSpPr>
        <p:spPr>
          <a:xfrm>
            <a:off x="246185" y="2328263"/>
            <a:ext cx="4615132" cy="2523768"/>
          </a:xfrm>
          <a:prstGeom prst="rect">
            <a:avLst/>
          </a:prstGeom>
          <a:noFill/>
        </p:spPr>
        <p:txBody>
          <a:bodyPr wrap="square" rtlCol="0">
            <a:spAutoFit/>
          </a:bodyPr>
          <a:lstStyle/>
          <a:p>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html</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a:solidFill>
                  <a:srgbClr val="569CD6"/>
                </a:solidFill>
                <a:effectLst/>
                <a:latin typeface="Consolas" panose="020B0609020204030204" pitchFamily="49" charset="0"/>
              </a:rPr>
              <a:t>head</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title</a:t>
            </a:r>
            <a:r>
              <a:rPr lang="es-ES" sz="1200" b="0" dirty="0">
                <a:solidFill>
                  <a:srgbClr val="808080"/>
                </a:solidFill>
                <a:effectLst/>
                <a:latin typeface="Consolas" panose="020B0609020204030204" pitchFamily="49" charset="0"/>
              </a:rPr>
              <a:t>&gt;</a:t>
            </a:r>
            <a:r>
              <a:rPr lang="es-ES" sz="1200" b="0" dirty="0">
                <a:solidFill>
                  <a:srgbClr val="D4D4D4"/>
                </a:solidFill>
                <a:effectLst/>
                <a:latin typeface="Consolas" panose="020B0609020204030204" pitchFamily="49" charset="0"/>
              </a:rPr>
              <a:t>Mi primera pseudo clase</a:t>
            </a:r>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title</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a:solidFill>
                  <a:srgbClr val="569CD6"/>
                </a:solidFill>
                <a:effectLst/>
                <a:latin typeface="Consolas" panose="020B0609020204030204" pitchFamily="49" charset="0"/>
              </a:rPr>
              <a:t>link</a:t>
            </a:r>
            <a:r>
              <a:rPr lang="es-ES" sz="1200" b="0" dirty="0">
                <a:solidFill>
                  <a:srgbClr val="D4D4D4"/>
                </a:solidFill>
                <a:effectLst/>
                <a:latin typeface="Consolas" panose="020B0609020204030204" pitchFamily="49" charset="0"/>
              </a:rPr>
              <a:t> </a:t>
            </a:r>
            <a:r>
              <a:rPr lang="es-ES" sz="1200" b="0" dirty="0" err="1">
                <a:solidFill>
                  <a:srgbClr val="9CDCFE"/>
                </a:solidFill>
                <a:effectLst/>
                <a:latin typeface="Consolas" panose="020B0609020204030204" pitchFamily="49" charset="0"/>
              </a:rPr>
              <a:t>rel</a:t>
            </a:r>
            <a:r>
              <a:rPr lang="es-ES" sz="1200" b="0" dirty="0">
                <a:solidFill>
                  <a:srgbClr val="D4D4D4"/>
                </a:solidFill>
                <a:effectLst/>
                <a:latin typeface="Consolas" panose="020B0609020204030204" pitchFamily="49" charset="0"/>
              </a:rPr>
              <a:t>=</a:t>
            </a:r>
            <a:r>
              <a:rPr lang="es-ES" sz="1200" b="0" dirty="0">
                <a:solidFill>
                  <a:srgbClr val="CE9178"/>
                </a:solidFill>
                <a:effectLst/>
                <a:latin typeface="Consolas" panose="020B0609020204030204" pitchFamily="49" charset="0"/>
              </a:rPr>
              <a:t>"</a:t>
            </a:r>
            <a:r>
              <a:rPr lang="es-ES" sz="1200" b="0" dirty="0" err="1">
                <a:solidFill>
                  <a:srgbClr val="CE9178"/>
                </a:solidFill>
                <a:effectLst/>
                <a:latin typeface="Consolas" panose="020B0609020204030204" pitchFamily="49" charset="0"/>
              </a:rPr>
              <a:t>stylesheet</a:t>
            </a:r>
            <a:r>
              <a:rPr lang="es-ES" sz="1200" b="0" dirty="0">
                <a:solidFill>
                  <a:srgbClr val="CE9178"/>
                </a:solidFill>
                <a:effectLst/>
                <a:latin typeface="Consolas" panose="020B0609020204030204" pitchFamily="49" charset="0"/>
              </a:rPr>
              <a:t>"</a:t>
            </a:r>
            <a:r>
              <a:rPr lang="es-ES" sz="1200" b="0" dirty="0">
                <a:solidFill>
                  <a:srgbClr val="D4D4D4"/>
                </a:solidFill>
                <a:effectLst/>
                <a:latin typeface="Consolas" panose="020B0609020204030204" pitchFamily="49" charset="0"/>
              </a:rPr>
              <a:t> </a:t>
            </a:r>
            <a:r>
              <a:rPr lang="es-ES" sz="1200" b="0" dirty="0" err="1">
                <a:solidFill>
                  <a:srgbClr val="9CDCFE"/>
                </a:solidFill>
                <a:effectLst/>
                <a:latin typeface="Consolas" panose="020B0609020204030204" pitchFamily="49" charset="0"/>
              </a:rPr>
              <a:t>href</a:t>
            </a:r>
            <a:r>
              <a:rPr lang="es-ES" sz="1200" b="0" dirty="0">
                <a:solidFill>
                  <a:srgbClr val="D4D4D4"/>
                </a:solidFill>
                <a:effectLst/>
                <a:latin typeface="Consolas" panose="020B0609020204030204" pitchFamily="49" charset="0"/>
              </a:rPr>
              <a:t>=</a:t>
            </a:r>
            <a:r>
              <a:rPr lang="es-ES" sz="1200" b="0" dirty="0">
                <a:solidFill>
                  <a:srgbClr val="CE9178"/>
                </a:solidFill>
                <a:effectLst/>
                <a:latin typeface="Consolas" panose="020B0609020204030204" pitchFamily="49" charset="0"/>
              </a:rPr>
              <a:t>"pseudoclase.css"</a:t>
            </a:r>
            <a:r>
              <a:rPr lang="es-ES" sz="1200" b="0" dirty="0">
                <a:solidFill>
                  <a:srgbClr val="808080"/>
                </a:solidFill>
                <a:effectLst/>
                <a:latin typeface="Consolas" panose="020B0609020204030204" pitchFamily="49" charset="0"/>
              </a:rPr>
              <a:t>/&gt;</a:t>
            </a:r>
            <a:r>
              <a:rPr lang="es-ES" sz="1200" b="0" dirty="0">
                <a:solidFill>
                  <a:srgbClr val="D4D4D4"/>
                </a:solidFill>
                <a:effectLst/>
                <a:latin typeface="Consolas" panose="020B0609020204030204" pitchFamily="49" charset="0"/>
              </a:rPr>
              <a:t> </a:t>
            </a: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a:solidFill>
                  <a:srgbClr val="569CD6"/>
                </a:solidFill>
                <a:effectLst/>
                <a:latin typeface="Consolas" panose="020B0609020204030204" pitchFamily="49" charset="0"/>
              </a:rPr>
              <a:t>head</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body</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D4D4D4"/>
                </a:solidFill>
                <a:effectLst/>
                <a:latin typeface="Consolas" panose="020B0609020204030204" pitchFamily="49" charset="0"/>
              </a:rPr>
              <a:t>        al situarse encima del botón su color cambiará</a:t>
            </a: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a:solidFill>
                  <a:srgbClr val="569CD6"/>
                </a:solidFill>
                <a:effectLst/>
                <a:latin typeface="Consolas" panose="020B0609020204030204" pitchFamily="49" charset="0"/>
              </a:rPr>
              <a:t>input</a:t>
            </a:r>
            <a:r>
              <a:rPr lang="es-ES" sz="1200" b="0" dirty="0">
                <a:solidFill>
                  <a:srgbClr val="D4D4D4"/>
                </a:solidFill>
                <a:effectLst/>
                <a:latin typeface="Consolas" panose="020B0609020204030204" pitchFamily="49" charset="0"/>
              </a:rPr>
              <a:t> </a:t>
            </a:r>
            <a:r>
              <a:rPr lang="es-ES" sz="1200" b="0" dirty="0" err="1">
                <a:solidFill>
                  <a:srgbClr val="9CDCFE"/>
                </a:solidFill>
                <a:effectLst/>
                <a:latin typeface="Consolas" panose="020B0609020204030204" pitchFamily="49" charset="0"/>
              </a:rPr>
              <a:t>type</a:t>
            </a:r>
            <a:r>
              <a:rPr lang="es-ES" sz="1200" b="0" dirty="0">
                <a:solidFill>
                  <a:srgbClr val="D4D4D4"/>
                </a:solidFill>
                <a:effectLst/>
                <a:latin typeface="Consolas" panose="020B0609020204030204" pitchFamily="49" charset="0"/>
              </a:rPr>
              <a:t>=</a:t>
            </a:r>
            <a:r>
              <a:rPr lang="es-ES" sz="1200" b="0" dirty="0">
                <a:solidFill>
                  <a:srgbClr val="CE9178"/>
                </a:solidFill>
                <a:effectLst/>
                <a:latin typeface="Consolas" panose="020B0609020204030204" pitchFamily="49" charset="0"/>
              </a:rPr>
              <a:t>"</a:t>
            </a:r>
            <a:r>
              <a:rPr lang="es-ES" sz="1200" b="0" dirty="0" err="1">
                <a:solidFill>
                  <a:srgbClr val="CE9178"/>
                </a:solidFill>
                <a:effectLst/>
                <a:latin typeface="Consolas" panose="020B0609020204030204" pitchFamily="49" charset="0"/>
              </a:rPr>
              <a:t>button</a:t>
            </a:r>
            <a:r>
              <a:rPr lang="es-ES" sz="1200" b="0" dirty="0">
                <a:solidFill>
                  <a:srgbClr val="CE9178"/>
                </a:solidFill>
                <a:effectLst/>
                <a:latin typeface="Consolas" panose="020B0609020204030204" pitchFamily="49" charset="0"/>
              </a:rPr>
              <a:t>"</a:t>
            </a:r>
            <a:r>
              <a:rPr lang="es-ES" sz="1200" b="0" dirty="0">
                <a:solidFill>
                  <a:srgbClr val="D4D4D4"/>
                </a:solidFill>
                <a:effectLst/>
                <a:latin typeface="Consolas" panose="020B0609020204030204" pitchFamily="49" charset="0"/>
              </a:rPr>
              <a:t> </a:t>
            </a:r>
            <a:r>
              <a:rPr lang="es-ES" sz="1200" b="0" dirty="0" err="1">
                <a:solidFill>
                  <a:srgbClr val="9CDCFE"/>
                </a:solidFill>
                <a:effectLst/>
                <a:latin typeface="Consolas" panose="020B0609020204030204" pitchFamily="49" charset="0"/>
              </a:rPr>
              <a:t>value</a:t>
            </a:r>
            <a:r>
              <a:rPr lang="es-ES" sz="1200" b="0" dirty="0">
                <a:solidFill>
                  <a:srgbClr val="D4D4D4"/>
                </a:solidFill>
                <a:effectLst/>
                <a:latin typeface="Consolas" panose="020B0609020204030204" pitchFamily="49" charset="0"/>
              </a:rPr>
              <a:t>=</a:t>
            </a:r>
            <a:r>
              <a:rPr lang="es-ES" sz="1200" b="0" dirty="0">
                <a:solidFill>
                  <a:srgbClr val="CE9178"/>
                </a:solidFill>
                <a:effectLst/>
                <a:latin typeface="Consolas" panose="020B0609020204030204" pitchFamily="49" charset="0"/>
              </a:rPr>
              <a:t>"pulsa </a:t>
            </a:r>
            <a:r>
              <a:rPr lang="es-ES" sz="1200" b="0" dirty="0" err="1">
                <a:solidFill>
                  <a:srgbClr val="CE9178"/>
                </a:solidFill>
                <a:effectLst/>
                <a:latin typeface="Consolas" panose="020B0609020204030204" pitchFamily="49" charset="0"/>
              </a:rPr>
              <a:t>aqui</a:t>
            </a:r>
            <a:r>
              <a:rPr lang="es-ES" sz="1200" b="0" dirty="0">
                <a:solidFill>
                  <a:srgbClr val="CE9178"/>
                </a:solidFill>
                <a:effectLst/>
                <a:latin typeface="Consolas" panose="020B0609020204030204" pitchFamily="49" charset="0"/>
              </a:rPr>
              <a:t>"</a:t>
            </a:r>
            <a:r>
              <a:rPr lang="es-ES" sz="1200" b="0" dirty="0">
                <a:solidFill>
                  <a:srgbClr val="808080"/>
                </a:solidFill>
                <a:effectLst/>
                <a:latin typeface="Consolas" panose="020B0609020204030204" pitchFamily="49" charset="0"/>
              </a:rPr>
              <a:t>/&gt;</a:t>
            </a:r>
            <a:r>
              <a:rPr lang="es-ES" sz="1200" b="0" dirty="0">
                <a:solidFill>
                  <a:srgbClr val="D4D4D4"/>
                </a:solidFill>
                <a:effectLst/>
                <a:latin typeface="Consolas" panose="020B0609020204030204" pitchFamily="49" charset="0"/>
              </a:rPr>
              <a:t> </a:t>
            </a:r>
          </a:p>
          <a:p>
            <a:r>
              <a:rPr lang="es-ES" sz="1200" b="0" dirty="0">
                <a:solidFill>
                  <a:srgbClr val="D4D4D4"/>
                </a:solidFill>
                <a:effectLst/>
                <a:latin typeface="Consolas" panose="020B0609020204030204" pitchFamily="49" charset="0"/>
              </a:rPr>
              <a:t>    </a:t>
            </a:r>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body</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r>
              <a:rPr lang="es-ES" sz="1200" b="0" dirty="0">
                <a:solidFill>
                  <a:srgbClr val="808080"/>
                </a:solidFill>
                <a:effectLst/>
                <a:latin typeface="Consolas" panose="020B0609020204030204" pitchFamily="49" charset="0"/>
              </a:rPr>
              <a:t>&lt;/</a:t>
            </a:r>
            <a:r>
              <a:rPr lang="es-ES" sz="1200" b="0" dirty="0" err="1">
                <a:solidFill>
                  <a:srgbClr val="569CD6"/>
                </a:solidFill>
                <a:effectLst/>
                <a:latin typeface="Consolas" panose="020B0609020204030204" pitchFamily="49" charset="0"/>
              </a:rPr>
              <a:t>html</a:t>
            </a:r>
            <a:r>
              <a:rPr lang="es-ES" sz="1200" b="0" dirty="0">
                <a:solidFill>
                  <a:srgbClr val="808080"/>
                </a:solidFill>
                <a:effectLst/>
                <a:latin typeface="Consolas" panose="020B0609020204030204" pitchFamily="49" charset="0"/>
              </a:rPr>
              <a:t>&gt;</a:t>
            </a:r>
            <a:endParaRPr lang="es-ES" sz="1200" b="0" dirty="0">
              <a:solidFill>
                <a:srgbClr val="D4D4D4"/>
              </a:solidFill>
              <a:effectLst/>
              <a:latin typeface="Consolas" panose="020B0609020204030204" pitchFamily="49" charset="0"/>
            </a:endParaRPr>
          </a:p>
          <a:p>
            <a:endParaRPr lang="es-ES" sz="1400" dirty="0"/>
          </a:p>
        </p:txBody>
      </p:sp>
      <p:sp>
        <p:nvSpPr>
          <p:cNvPr id="6" name="CuadroTexto 5">
            <a:extLst>
              <a:ext uri="{FF2B5EF4-FFF2-40B4-BE49-F238E27FC236}">
                <a16:creationId xmlns:a16="http://schemas.microsoft.com/office/drawing/2014/main" id="{0190BE72-1218-18CD-0ACF-185DC7130BDE}"/>
              </a:ext>
            </a:extLst>
          </p:cNvPr>
          <p:cNvSpPr txBox="1"/>
          <p:nvPr/>
        </p:nvSpPr>
        <p:spPr>
          <a:xfrm>
            <a:off x="5483525" y="2563333"/>
            <a:ext cx="3350597" cy="1477328"/>
          </a:xfrm>
          <a:prstGeom prst="rect">
            <a:avLst/>
          </a:prstGeom>
          <a:noFill/>
        </p:spPr>
        <p:txBody>
          <a:bodyPr wrap="none" rtlCol="0">
            <a:spAutoFit/>
          </a:bodyPr>
          <a:lstStyle/>
          <a:p>
            <a:r>
              <a:rPr lang="es-ES" b="1" dirty="0">
                <a:solidFill>
                  <a:schemeClr val="accent1">
                    <a:lumMod val="75000"/>
                  </a:schemeClr>
                </a:solidFill>
              </a:rPr>
              <a:t>p</a:t>
            </a:r>
            <a:r>
              <a:rPr lang="es-ES" b="1" dirty="0">
                <a:solidFill>
                  <a:schemeClr val="accent1">
                    <a:lumMod val="75000"/>
                  </a:schemeClr>
                </a:solidFill>
                <a:effectLst/>
              </a:rPr>
              <a:t>seudoclase.css</a:t>
            </a:r>
          </a:p>
          <a:p>
            <a:r>
              <a:rPr lang="es-ES" b="0" dirty="0" err="1">
                <a:solidFill>
                  <a:srgbClr val="D7BA7D"/>
                </a:solidFill>
                <a:effectLst/>
                <a:latin typeface="Consolas" panose="020B0609020204030204" pitchFamily="49" charset="0"/>
              </a:rPr>
              <a:t>input:hover</a:t>
            </a:r>
            <a:r>
              <a:rPr lang="es-ES" b="0" dirty="0">
                <a:solidFill>
                  <a:srgbClr val="D4D4D4"/>
                </a:solidFill>
                <a:effectLst/>
                <a:latin typeface="Consolas" panose="020B0609020204030204" pitchFamily="49" charset="0"/>
              </a:rPr>
              <a:t> {</a:t>
            </a:r>
          </a:p>
          <a:p>
            <a:r>
              <a:rPr lang="es-ES" b="0" dirty="0">
                <a:solidFill>
                  <a:srgbClr val="D4D4D4"/>
                </a:solidFill>
                <a:effectLst/>
                <a:latin typeface="Consolas" panose="020B0609020204030204" pitchFamily="49" charset="0"/>
              </a:rPr>
              <a:t>    </a:t>
            </a:r>
            <a:r>
              <a:rPr lang="es-ES" b="0" dirty="0" err="1">
                <a:solidFill>
                  <a:srgbClr val="9CDCFE"/>
                </a:solidFill>
                <a:effectLst/>
                <a:latin typeface="Consolas" panose="020B0609020204030204" pitchFamily="49" charset="0"/>
              </a:rPr>
              <a:t>background-color</a:t>
            </a:r>
            <a:r>
              <a:rPr lang="es-ES" b="0" dirty="0" err="1">
                <a:solidFill>
                  <a:srgbClr val="D4D4D4"/>
                </a:solidFill>
                <a:effectLst/>
                <a:latin typeface="Consolas" panose="020B0609020204030204" pitchFamily="49" charset="0"/>
              </a:rPr>
              <a:t>:</a:t>
            </a:r>
            <a:r>
              <a:rPr lang="es-ES" b="0" dirty="0" err="1">
                <a:solidFill>
                  <a:srgbClr val="CE9178"/>
                </a:solidFill>
                <a:effectLst/>
                <a:latin typeface="Consolas" panose="020B0609020204030204" pitchFamily="49" charset="0"/>
              </a:rPr>
              <a:t>red</a:t>
            </a:r>
            <a:r>
              <a:rPr lang="es-ES" b="0" dirty="0">
                <a:solidFill>
                  <a:srgbClr val="D4D4D4"/>
                </a:solidFill>
                <a:effectLst/>
                <a:latin typeface="Consolas" panose="020B0609020204030204" pitchFamily="49" charset="0"/>
              </a:rPr>
              <a:t>;</a:t>
            </a:r>
          </a:p>
          <a:p>
            <a:r>
              <a:rPr lang="es-ES" b="0" dirty="0">
                <a:solidFill>
                  <a:srgbClr val="D4D4D4"/>
                </a:solidFill>
                <a:effectLst/>
                <a:latin typeface="Consolas" panose="020B0609020204030204" pitchFamily="49" charset="0"/>
              </a:rPr>
              <a:t>  }</a:t>
            </a:r>
          </a:p>
          <a:p>
            <a:endParaRPr lang="es-ES" dirty="0"/>
          </a:p>
        </p:txBody>
      </p:sp>
    </p:spTree>
    <p:extLst>
      <p:ext uri="{BB962C8B-B14F-4D97-AF65-F5344CB8AC3E}">
        <p14:creationId xmlns:p14="http://schemas.microsoft.com/office/powerpoint/2010/main" val="3435913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Selectores con </a:t>
            </a:r>
            <a:r>
              <a:rPr lang="es-ES" dirty="0" err="1">
                <a:cs typeface="Noto Sans" pitchFamily="2"/>
              </a:rPr>
              <a:t>pseudoclases</a:t>
            </a:r>
            <a:endParaRPr lang="es-ES" dirty="0">
              <a:cs typeface="Noto Sans" pitchFamily="2"/>
            </a:endParaRPr>
          </a:p>
        </p:txBody>
      </p:sp>
      <p:sp>
        <p:nvSpPr>
          <p:cNvPr id="4" name="CuadroTexto 3">
            <a:extLst>
              <a:ext uri="{FF2B5EF4-FFF2-40B4-BE49-F238E27FC236}">
                <a16:creationId xmlns:a16="http://schemas.microsoft.com/office/drawing/2014/main" id="{1F09227D-D1A2-8D24-0A79-F520136B7170}"/>
              </a:ext>
            </a:extLst>
          </p:cNvPr>
          <p:cNvSpPr txBox="1"/>
          <p:nvPr/>
        </p:nvSpPr>
        <p:spPr>
          <a:xfrm>
            <a:off x="158261" y="1220303"/>
            <a:ext cx="9748823" cy="1200329"/>
          </a:xfrm>
          <a:prstGeom prst="rect">
            <a:avLst/>
          </a:prstGeom>
          <a:noFill/>
        </p:spPr>
        <p:txBody>
          <a:bodyPr wrap="none" rtlCol="0">
            <a:spAutoFit/>
          </a:bodyPr>
          <a:lstStyle/>
          <a:p>
            <a:r>
              <a:rPr lang="es-ES" dirty="0"/>
              <a:t>Hay muchas </a:t>
            </a:r>
            <a:r>
              <a:rPr lang="es-ES" dirty="0" err="1"/>
              <a:t>pseudoclases</a:t>
            </a:r>
            <a:r>
              <a:rPr lang="es-ES" dirty="0"/>
              <a:t>. Vamos a ver algunas de ellas donde se ha cogido como ejemplo el selector </a:t>
            </a:r>
          </a:p>
          <a:p>
            <a:r>
              <a:rPr lang="es-ES" dirty="0"/>
              <a:t>“p”, “a” e “input”</a:t>
            </a:r>
          </a:p>
          <a:p>
            <a:endParaRPr lang="es-ES" dirty="0"/>
          </a:p>
          <a:p>
            <a:endParaRPr lang="es-ES" dirty="0"/>
          </a:p>
        </p:txBody>
      </p:sp>
      <p:sp>
        <p:nvSpPr>
          <p:cNvPr id="7" name="CuadroTexto 6">
            <a:extLst>
              <a:ext uri="{FF2B5EF4-FFF2-40B4-BE49-F238E27FC236}">
                <a16:creationId xmlns:a16="http://schemas.microsoft.com/office/drawing/2014/main" id="{A21E8C19-4F8E-FDA0-BCAD-25E3EEFBBF5C}"/>
              </a:ext>
            </a:extLst>
          </p:cNvPr>
          <p:cNvSpPr txBox="1"/>
          <p:nvPr/>
        </p:nvSpPr>
        <p:spPr>
          <a:xfrm>
            <a:off x="470969" y="1910568"/>
            <a:ext cx="9715240" cy="31700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p:hover </a:t>
            </a:r>
            <a:r>
              <a:rPr kumimoji="0" lang="es-ES" altLang="es-ES" sz="1600" b="0" i="0" u="none" strike="noStrike" cap="none" normalizeH="0" baseline="0" dirty="0">
                <a:ln>
                  <a:noFill/>
                </a:ln>
                <a:solidFill>
                  <a:schemeClr val="tx1"/>
                </a:solidFill>
                <a:effectLst/>
              </a:rPr>
              <a:t>: </a:t>
            </a:r>
            <a:r>
              <a:rPr lang="es-ES" altLang="es-ES" sz="1600" dirty="0">
                <a:solidFill>
                  <a:schemeClr val="tx2"/>
                </a:solidFill>
                <a:latin typeface="Cambria" panose="02040503050406030204" pitchFamily="18" charset="0"/>
              </a:rPr>
              <a:t>selector que se aplica cuando se pasa el ratón por encima del párrafo.</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p:first-of-type : </a:t>
            </a:r>
            <a:r>
              <a:rPr lang="es-ES" altLang="es-ES" sz="1600" dirty="0">
                <a:solidFill>
                  <a:schemeClr val="tx2"/>
                </a:solidFill>
                <a:latin typeface="Cambria" panose="02040503050406030204" pitchFamily="18" charset="0"/>
              </a:rPr>
              <a:t>selector que se aplica al primero de los párrafos.</a:t>
            </a:r>
          </a:p>
          <a:p>
            <a:pPr eaLnBrk="0" fontAlgn="base" hangingPunct="0">
              <a:spcBef>
                <a:spcPct val="0"/>
              </a:spcBef>
              <a:spcAft>
                <a:spcPct val="0"/>
              </a:spcAft>
              <a:buFontTx/>
              <a:buChar char="•"/>
            </a:pPr>
            <a:r>
              <a:rPr lang="es-ES" altLang="es-ES" sz="2000" dirty="0">
                <a:solidFill>
                  <a:srgbClr val="7030A1"/>
                </a:solidFill>
                <a:latin typeface="Calibri" panose="020F0502020204030204" pitchFamily="34" charset="0"/>
              </a:rPr>
              <a:t>p:first-child : </a:t>
            </a:r>
            <a:r>
              <a:rPr lang="es-ES" altLang="es-ES" sz="1600" dirty="0">
                <a:solidFill>
                  <a:schemeClr val="tx2"/>
                </a:solidFill>
                <a:latin typeface="Cambria" panose="02040503050406030204" pitchFamily="18" charset="0"/>
              </a:rPr>
              <a:t>selector que se aplica un párrafo si es el primero de los hijos.</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p:last-child : </a:t>
            </a:r>
            <a:r>
              <a:rPr lang="es-ES" altLang="es-ES" sz="1600" dirty="0">
                <a:solidFill>
                  <a:schemeClr val="tx2"/>
                </a:solidFill>
                <a:latin typeface="Cambria" panose="02040503050406030204" pitchFamily="18" charset="0"/>
              </a:rPr>
              <a:t>selector que se aplica al último párrafo ignorando al resto de hermanos.</a:t>
            </a:r>
          </a:p>
          <a:p>
            <a:pPr eaLnBrk="0" fontAlgn="base" hangingPunct="0">
              <a:spcBef>
                <a:spcPct val="0"/>
              </a:spcBef>
              <a:spcAft>
                <a:spcPct val="0"/>
              </a:spcAft>
              <a:buFontTx/>
              <a:buChar char="•"/>
            </a:pPr>
            <a:r>
              <a:rPr lang="es-ES" altLang="es-ES" sz="2000" dirty="0">
                <a:solidFill>
                  <a:srgbClr val="7030A1"/>
                </a:solidFill>
                <a:latin typeface="Calibri" panose="020F0502020204030204" pitchFamily="34" charset="0"/>
              </a:rPr>
              <a:t>p:nth-child(4) : </a:t>
            </a:r>
            <a:r>
              <a:rPr lang="es-ES" altLang="es-ES" sz="1600" dirty="0">
                <a:solidFill>
                  <a:schemeClr val="tx2"/>
                </a:solidFill>
                <a:latin typeface="Cambria" panose="02040503050406030204" pitchFamily="18" charset="0"/>
              </a:rPr>
              <a:t>selector que se aplica sobre el cuarto párrafo.</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p:nth-child(even) : </a:t>
            </a:r>
            <a:r>
              <a:rPr lang="es-ES" altLang="es-ES" sz="1600" dirty="0">
                <a:solidFill>
                  <a:schemeClr val="tx2"/>
                </a:solidFill>
                <a:latin typeface="Cambria" panose="02040503050406030204" pitchFamily="18" charset="0"/>
              </a:rPr>
              <a:t>selector que se aplica a párrafos impares.</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p:nth-child(odd) : </a:t>
            </a:r>
            <a:r>
              <a:rPr lang="es-ES" altLang="es-ES" sz="1600" dirty="0">
                <a:solidFill>
                  <a:schemeClr val="tx2"/>
                </a:solidFill>
                <a:latin typeface="Cambria" panose="02040503050406030204" pitchFamily="18" charset="0"/>
              </a:rPr>
              <a:t>selector que se aplica a párrafos pares.</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a:active : </a:t>
            </a:r>
            <a:r>
              <a:rPr lang="es-ES" altLang="es-ES" sz="1600" dirty="0">
                <a:solidFill>
                  <a:schemeClr val="tx2"/>
                </a:solidFill>
                <a:latin typeface="Cambria" panose="02040503050406030204" pitchFamily="18" charset="0"/>
              </a:rPr>
              <a:t>selector para enlaces que están siendo pulsados.</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a:solidFill>
                  <a:srgbClr val="7030A1"/>
                </a:solidFill>
                <a:latin typeface="Calibri" panose="020F0502020204030204" pitchFamily="34" charset="0"/>
              </a:rPr>
              <a:t>a:visited : </a:t>
            </a:r>
            <a:r>
              <a:rPr lang="es-ES" altLang="es-ES" sz="1600" dirty="0">
                <a:solidFill>
                  <a:schemeClr val="tx2"/>
                </a:solidFill>
                <a:latin typeface="Cambria" panose="02040503050406030204" pitchFamily="18" charset="0"/>
              </a:rPr>
              <a:t>selector para enlaces ya visitados.</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000" dirty="0" err="1">
                <a:solidFill>
                  <a:srgbClr val="7030A1"/>
                </a:solidFill>
                <a:latin typeface="Calibri" panose="020F0502020204030204" pitchFamily="34" charset="0"/>
              </a:rPr>
              <a:t>input:checked</a:t>
            </a:r>
            <a:r>
              <a:rPr lang="es-ES" altLang="es-ES" sz="2000" dirty="0">
                <a:solidFill>
                  <a:srgbClr val="7030A1"/>
                </a:solidFill>
                <a:latin typeface="Calibri" panose="020F0502020204030204" pitchFamily="34" charset="0"/>
              </a:rPr>
              <a:t> : </a:t>
            </a:r>
            <a:r>
              <a:rPr lang="es-ES" altLang="es-ES" sz="1600" dirty="0">
                <a:solidFill>
                  <a:schemeClr val="tx2"/>
                </a:solidFill>
                <a:latin typeface="Cambria" panose="02040503050406030204" pitchFamily="18" charset="0"/>
              </a:rPr>
              <a:t>selector para controles (radios, </a:t>
            </a:r>
            <a:r>
              <a:rPr lang="es-ES" altLang="es-ES" sz="1600" dirty="0" err="1">
                <a:solidFill>
                  <a:schemeClr val="tx2"/>
                </a:solidFill>
                <a:latin typeface="Cambria" panose="02040503050406030204" pitchFamily="18" charset="0"/>
              </a:rPr>
              <a:t>checkboxes</a:t>
            </a:r>
            <a:r>
              <a:rPr lang="es-ES" altLang="es-ES" sz="1600" dirty="0">
                <a:solidFill>
                  <a:schemeClr val="tx2"/>
                </a:solidFill>
                <a:latin typeface="Cambria" panose="02040503050406030204" pitchFamily="18" charset="0"/>
              </a:rPr>
              <a:t>) que estén marcados.</a:t>
            </a:r>
          </a:p>
        </p:txBody>
      </p:sp>
    </p:spTree>
    <p:extLst>
      <p:ext uri="{BB962C8B-B14F-4D97-AF65-F5344CB8AC3E}">
        <p14:creationId xmlns:p14="http://schemas.microsoft.com/office/powerpoint/2010/main" val="3816414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Selectores con </a:t>
            </a:r>
            <a:r>
              <a:rPr lang="es-ES" dirty="0" err="1">
                <a:cs typeface="Noto Sans" pitchFamily="2"/>
              </a:rPr>
              <a:t>pseudoelementos</a:t>
            </a:r>
            <a:endParaRPr lang="es-ES" dirty="0">
              <a:cs typeface="Noto Sans" pitchFamily="2"/>
            </a:endParaRPr>
          </a:p>
        </p:txBody>
      </p:sp>
      <p:sp>
        <p:nvSpPr>
          <p:cNvPr id="4" name="CuadroTexto 3">
            <a:extLst>
              <a:ext uri="{FF2B5EF4-FFF2-40B4-BE49-F238E27FC236}">
                <a16:creationId xmlns:a16="http://schemas.microsoft.com/office/drawing/2014/main" id="{1F09227D-D1A2-8D24-0A79-F520136B7170}"/>
              </a:ext>
            </a:extLst>
          </p:cNvPr>
          <p:cNvSpPr txBox="1"/>
          <p:nvPr/>
        </p:nvSpPr>
        <p:spPr>
          <a:xfrm>
            <a:off x="158261" y="1220303"/>
            <a:ext cx="9625712" cy="2585323"/>
          </a:xfrm>
          <a:prstGeom prst="rect">
            <a:avLst/>
          </a:prstGeom>
          <a:noFill/>
        </p:spPr>
        <p:txBody>
          <a:bodyPr wrap="none" rtlCol="0">
            <a:spAutoFit/>
          </a:bodyPr>
          <a:lstStyle/>
          <a:p>
            <a:r>
              <a:rPr lang="es-ES" dirty="0"/>
              <a:t>Por último, tenemos los </a:t>
            </a:r>
            <a:r>
              <a:rPr lang="es-ES" dirty="0" err="1"/>
              <a:t>pseudoelementos</a:t>
            </a:r>
            <a:r>
              <a:rPr lang="es-ES" dirty="0"/>
              <a:t>. Estos no describen un estado especial sino que, permiten</a:t>
            </a:r>
          </a:p>
          <a:p>
            <a:r>
              <a:rPr lang="es-ES" dirty="0"/>
              <a:t>añadir estilos a una parte concreta del documento.</a:t>
            </a:r>
          </a:p>
          <a:p>
            <a:endParaRPr lang="es-ES" dirty="0"/>
          </a:p>
          <a:p>
            <a:r>
              <a:rPr lang="es-ES" dirty="0"/>
              <a:t>Se suelen utilizar los puntos dobles (:</a:t>
            </a:r>
            <a:r>
              <a:rPr lang="es-ES" dirty="0">
                <a:sym typeface="Wingdings" panose="05000000000000000000" pitchFamily="2" charset="2"/>
              </a:rPr>
              <a:t>:) en vez de solo uno (:) como intento de distinguir las</a:t>
            </a:r>
          </a:p>
          <a:p>
            <a:r>
              <a:rPr lang="es-ES" dirty="0" err="1">
                <a:sym typeface="Wingdings" panose="05000000000000000000" pitchFamily="2" charset="2"/>
              </a:rPr>
              <a:t>Pseudoclases</a:t>
            </a:r>
            <a:r>
              <a:rPr lang="es-ES" dirty="0">
                <a:sym typeface="Wingdings" panose="05000000000000000000" pitchFamily="2" charset="2"/>
              </a:rPr>
              <a:t> de los </a:t>
            </a:r>
            <a:r>
              <a:rPr lang="es-ES" dirty="0" err="1">
                <a:sym typeface="Wingdings" panose="05000000000000000000" pitchFamily="2" charset="2"/>
              </a:rPr>
              <a:t>pseudoelementos</a:t>
            </a:r>
            <a:r>
              <a:rPr lang="es-ES" dirty="0">
                <a:sym typeface="Wingdings" panose="05000000000000000000" pitchFamily="2" charset="2"/>
              </a:rPr>
              <a:t>.</a:t>
            </a:r>
          </a:p>
          <a:p>
            <a:endParaRPr lang="es-ES" dirty="0">
              <a:sym typeface="Wingdings" panose="05000000000000000000" pitchFamily="2" charset="2"/>
            </a:endParaRPr>
          </a:p>
          <a:p>
            <a:r>
              <a:rPr lang="es-ES" dirty="0">
                <a:hlinkClick r:id="rId3"/>
              </a:rPr>
              <a:t>https://developer.mozilla.org/es/docs/Web/CSS/Pseudo-elements</a:t>
            </a:r>
            <a:endParaRPr lang="es-ES" dirty="0"/>
          </a:p>
          <a:p>
            <a:endParaRPr lang="es-ES" dirty="0"/>
          </a:p>
          <a:p>
            <a:endParaRPr lang="es-ES" dirty="0"/>
          </a:p>
        </p:txBody>
      </p:sp>
    </p:spTree>
    <p:extLst>
      <p:ext uri="{BB962C8B-B14F-4D97-AF65-F5344CB8AC3E}">
        <p14:creationId xmlns:p14="http://schemas.microsoft.com/office/powerpoint/2010/main" val="280581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Selectores</a:t>
            </a:r>
          </a:p>
        </p:txBody>
      </p:sp>
      <p:sp>
        <p:nvSpPr>
          <p:cNvPr id="3" name="CuadroTexto 2">
            <a:extLst>
              <a:ext uri="{FF2B5EF4-FFF2-40B4-BE49-F238E27FC236}">
                <a16:creationId xmlns:a16="http://schemas.microsoft.com/office/drawing/2014/main" id="{E7835636-CDD1-DA95-8159-9349FEBFDBDF}"/>
              </a:ext>
            </a:extLst>
          </p:cNvPr>
          <p:cNvSpPr txBox="1"/>
          <p:nvPr/>
        </p:nvSpPr>
        <p:spPr>
          <a:xfrm>
            <a:off x="580292" y="1538654"/>
            <a:ext cx="8084393" cy="2031325"/>
          </a:xfrm>
          <a:prstGeom prst="rect">
            <a:avLst/>
          </a:prstGeom>
          <a:noFill/>
        </p:spPr>
        <p:txBody>
          <a:bodyPr wrap="none" rtlCol="0">
            <a:spAutoFit/>
          </a:bodyPr>
          <a:lstStyle/>
          <a:p>
            <a:r>
              <a:rPr lang="es-ES" dirty="0"/>
              <a:t>Podéis consultar bibliografía sobre selectores en:</a:t>
            </a:r>
          </a:p>
          <a:p>
            <a:pPr marL="285750" indent="-285750">
              <a:buFont typeface="Arial" panose="020B0604020202020204" pitchFamily="34" charset="0"/>
              <a:buChar char="•"/>
            </a:pPr>
            <a:r>
              <a:rPr lang="es-ES" dirty="0">
                <a:hlinkClick r:id="rId3"/>
              </a:rPr>
              <a:t>htwww.w3schools.com/cssref/css_selectors.php</a:t>
            </a:r>
            <a:endParaRPr lang="es-ES" dirty="0"/>
          </a:p>
          <a:p>
            <a:pPr marL="285750" indent="-285750">
              <a:buFont typeface="Arial" panose="020B0604020202020204" pitchFamily="34" charset="0"/>
              <a:buChar char="•"/>
            </a:pPr>
            <a:r>
              <a:rPr lang="es-ES" dirty="0">
                <a:hlinkClick r:id="rId3"/>
              </a:rPr>
              <a:t>tps://</a:t>
            </a:r>
            <a:r>
              <a:rPr lang="es-ES" dirty="0">
                <a:hlinkClick r:id="rId4"/>
              </a:rPr>
              <a:t>https://developer.mozilla.org/es/docs/Learn/CSS/Building_blocks/Selectors</a:t>
            </a:r>
            <a:endParaRPr lang="es-ES" dirty="0"/>
          </a:p>
          <a:p>
            <a:pPr marL="285750" indent="-285750">
              <a:buFont typeface="Arial" panose="020B0604020202020204" pitchFamily="34" charset="0"/>
              <a:buChar char="•"/>
            </a:pPr>
            <a:r>
              <a:rPr lang="es-ES" dirty="0">
                <a:hlinkClick r:id="rId5"/>
              </a:rPr>
              <a:t>https://www.w3.org/wiki/CSS_/_Selectores_CSS#Selectores_CSS</a:t>
            </a: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endParaRPr lang="es-ES" dirty="0"/>
          </a:p>
        </p:txBody>
      </p:sp>
      <p:sp>
        <p:nvSpPr>
          <p:cNvPr id="4" name="CuadroTexto 3">
            <a:extLst>
              <a:ext uri="{FF2B5EF4-FFF2-40B4-BE49-F238E27FC236}">
                <a16:creationId xmlns:a16="http://schemas.microsoft.com/office/drawing/2014/main" id="{6493BF9F-C248-4E87-8DA8-4542E6548F98}"/>
              </a:ext>
            </a:extLst>
          </p:cNvPr>
          <p:cNvSpPr txBox="1"/>
          <p:nvPr/>
        </p:nvSpPr>
        <p:spPr>
          <a:xfrm>
            <a:off x="798990" y="3781887"/>
            <a:ext cx="3659720" cy="369332"/>
          </a:xfrm>
          <a:prstGeom prst="rect">
            <a:avLst/>
          </a:prstGeom>
          <a:noFill/>
        </p:spPr>
        <p:txBody>
          <a:bodyPr wrap="none" rtlCol="0">
            <a:spAutoFit/>
          </a:bodyPr>
          <a:lstStyle/>
          <a:p>
            <a:r>
              <a:rPr lang="es-ES" dirty="0"/>
              <a:t>Actividad: </a:t>
            </a:r>
            <a:r>
              <a:rPr lang="es-ES" dirty="0">
                <a:hlinkClick r:id="rId6"/>
              </a:rPr>
              <a:t>https://flukeout.github.io/</a:t>
            </a:r>
            <a:endParaRPr lang="es-ES" dirty="0"/>
          </a:p>
        </p:txBody>
      </p:sp>
    </p:spTree>
    <p:extLst>
      <p:ext uri="{BB962C8B-B14F-4D97-AF65-F5344CB8AC3E}">
        <p14:creationId xmlns:p14="http://schemas.microsoft.com/office/powerpoint/2010/main" val="3215190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Herencia, cascada y especificidad</a:t>
            </a:r>
          </a:p>
        </p:txBody>
      </p:sp>
      <p:sp>
        <p:nvSpPr>
          <p:cNvPr id="4" name="CuadroTexto 3">
            <a:extLst>
              <a:ext uri="{FF2B5EF4-FFF2-40B4-BE49-F238E27FC236}">
                <a16:creationId xmlns:a16="http://schemas.microsoft.com/office/drawing/2014/main" id="{33C294F5-A905-86A9-5737-66B98B9B3802}"/>
              </a:ext>
            </a:extLst>
          </p:cNvPr>
          <p:cNvSpPr txBox="1"/>
          <p:nvPr/>
        </p:nvSpPr>
        <p:spPr>
          <a:xfrm>
            <a:off x="668740" y="1705970"/>
            <a:ext cx="7346435" cy="1477328"/>
          </a:xfrm>
          <a:prstGeom prst="rect">
            <a:avLst/>
          </a:prstGeom>
          <a:noFill/>
        </p:spPr>
        <p:txBody>
          <a:bodyPr wrap="none" rtlCol="0">
            <a:spAutoFit/>
          </a:bodyPr>
          <a:lstStyle/>
          <a:p>
            <a:r>
              <a:rPr lang="es-ES" dirty="0"/>
              <a:t>Ahora vamos a ver tres conceptos que tenemos que tener claro:</a:t>
            </a:r>
          </a:p>
          <a:p>
            <a:pPr marL="285750" indent="-285750">
              <a:buFont typeface="Arial" panose="020B0604020202020204" pitchFamily="34" charset="0"/>
              <a:buChar char="•"/>
            </a:pPr>
            <a:r>
              <a:rPr lang="es-ES" dirty="0"/>
              <a:t>Cascada</a:t>
            </a:r>
          </a:p>
          <a:p>
            <a:pPr marL="285750" indent="-285750">
              <a:buFont typeface="Arial" panose="020B0604020202020204" pitchFamily="34" charset="0"/>
              <a:buChar char="•"/>
            </a:pPr>
            <a:r>
              <a:rPr lang="es-ES" dirty="0"/>
              <a:t>Herencia</a:t>
            </a:r>
          </a:p>
          <a:p>
            <a:pPr marL="285750" indent="-285750">
              <a:buFont typeface="Arial" panose="020B0604020202020204" pitchFamily="34" charset="0"/>
              <a:buChar char="•"/>
            </a:pPr>
            <a:r>
              <a:rPr lang="es-ES" dirty="0"/>
              <a:t>Especificidad: </a:t>
            </a:r>
            <a:r>
              <a:rPr lang="es-ES" dirty="0">
                <a:hlinkClick r:id="rId3"/>
              </a:rPr>
              <a:t>https://developer.mozilla.org/es/docs/Web/CSS/Specificity</a:t>
            </a:r>
            <a:endParaRPr lang="es-ES" dirty="0"/>
          </a:p>
          <a:p>
            <a:endParaRPr lang="es-ES" dirty="0"/>
          </a:p>
        </p:txBody>
      </p:sp>
    </p:spTree>
    <p:extLst>
      <p:ext uri="{BB962C8B-B14F-4D97-AF65-F5344CB8AC3E}">
        <p14:creationId xmlns:p14="http://schemas.microsoft.com/office/powerpoint/2010/main" val="143718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Especificidad</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10007035" cy="4247317"/>
          </a:xfrm>
          <a:prstGeom prst="rect">
            <a:avLst/>
          </a:prstGeom>
          <a:noFill/>
        </p:spPr>
        <p:txBody>
          <a:bodyPr wrap="none" rtlCol="0">
            <a:spAutoFit/>
          </a:bodyPr>
          <a:lstStyle/>
          <a:p>
            <a:pPr marL="285750" indent="-285750">
              <a:buFont typeface="Arial" panose="020B0604020202020204" pitchFamily="34" charset="0"/>
              <a:buChar char="•"/>
            </a:pPr>
            <a:r>
              <a:rPr lang="es-ES" dirty="0"/>
              <a:t>La especificidad es la manera mediante la cual los navegadores deciden qué valores de una propiedad</a:t>
            </a:r>
          </a:p>
          <a:p>
            <a:r>
              <a:rPr lang="es-ES" dirty="0"/>
              <a:t>     CSS son más relevantes para un elemento y, por lo tanto, serán aplicados. </a:t>
            </a:r>
          </a:p>
          <a:p>
            <a:pPr marL="285750" indent="-285750">
              <a:buFont typeface="Arial" panose="020B0604020202020204" pitchFamily="34" charset="0"/>
              <a:buChar char="•"/>
            </a:pPr>
            <a:r>
              <a:rPr lang="es-ES" dirty="0"/>
              <a:t>La especificidad está basada en las reglas de coincidencia que están compuestas por diferentes tipos </a:t>
            </a:r>
          </a:p>
          <a:p>
            <a:r>
              <a:rPr lang="es-ES" dirty="0"/>
              <a:t>     de selectores CSS.</a:t>
            </a:r>
          </a:p>
          <a:p>
            <a:pPr marL="285750" indent="-285750">
              <a:buFont typeface="Arial" panose="020B0604020202020204" pitchFamily="34" charset="0"/>
              <a:buChar char="•"/>
            </a:pPr>
            <a:r>
              <a:rPr lang="es-ES" dirty="0"/>
              <a:t>A cada declaración CSS se le aplica un peso.</a:t>
            </a:r>
          </a:p>
          <a:p>
            <a:pPr marL="285750" indent="-285750">
              <a:buFont typeface="Arial" panose="020B0604020202020204" pitchFamily="34" charset="0"/>
              <a:buChar char="•"/>
            </a:pPr>
            <a:r>
              <a:rPr lang="es-ES" dirty="0"/>
              <a:t>Hay que tener en cuenta que cuando varias declaraciones tienen igual especificidad, </a:t>
            </a:r>
          </a:p>
          <a:p>
            <a:r>
              <a:rPr lang="es-ES" dirty="0"/>
              <a:t>      se aplicará al elemento la última declaración encontrada en el CSS (Cascada).</a:t>
            </a:r>
          </a:p>
          <a:p>
            <a:r>
              <a:rPr lang="es-ES" b="0" dirty="0">
                <a:solidFill>
                  <a:srgbClr val="6A9955"/>
                </a:solidFill>
                <a:effectLst/>
                <a:latin typeface="Consolas" panose="020B0609020204030204" pitchFamily="49" charset="0"/>
              </a:rPr>
              <a:t> </a:t>
            </a:r>
            <a:r>
              <a:rPr lang="es-ES" b="0" dirty="0">
                <a:effectLst/>
              </a:rPr>
              <a:t>Se utiliza la siguiente fórmula y se aplican mediante la operación lógica OR (o suma binaria)</a:t>
            </a:r>
          </a:p>
          <a:p>
            <a:pPr marL="285750" indent="-285750">
              <a:buFont typeface="Arial" panose="020B0604020202020204" pitchFamily="34" charset="0"/>
              <a:buChar char="•"/>
            </a:pPr>
            <a:r>
              <a:rPr lang="es-ES" b="0" dirty="0">
                <a:effectLst/>
              </a:rPr>
              <a:t>Etiquetas y </a:t>
            </a:r>
            <a:r>
              <a:rPr lang="es-ES" b="0" dirty="0" err="1">
                <a:effectLst/>
              </a:rPr>
              <a:t>pseudoelementos</a:t>
            </a:r>
            <a:r>
              <a:rPr lang="es-ES" b="0" dirty="0">
                <a:effectLst/>
              </a:rPr>
              <a:t>: 001</a:t>
            </a:r>
          </a:p>
          <a:p>
            <a:pPr marL="285750" indent="-285750">
              <a:buFont typeface="Arial" panose="020B0604020202020204" pitchFamily="34" charset="0"/>
              <a:buChar char="•"/>
            </a:pPr>
            <a:r>
              <a:rPr lang="es-ES" dirty="0"/>
              <a:t>C</a:t>
            </a:r>
            <a:r>
              <a:rPr lang="es-ES" b="0" dirty="0">
                <a:effectLst/>
              </a:rPr>
              <a:t>lases, atributos y </a:t>
            </a:r>
            <a:r>
              <a:rPr lang="es-ES" b="0" dirty="0" err="1">
                <a:effectLst/>
              </a:rPr>
              <a:t>pseudoclases</a:t>
            </a:r>
            <a:r>
              <a:rPr lang="es-ES" b="0" dirty="0">
                <a:effectLst/>
              </a:rPr>
              <a:t>: 010</a:t>
            </a:r>
          </a:p>
          <a:p>
            <a:pPr marL="285750" indent="-285750">
              <a:buFont typeface="Arial" panose="020B0604020202020204" pitchFamily="34" charset="0"/>
              <a:buChar char="•"/>
            </a:pPr>
            <a:r>
              <a:rPr lang="es-ES" b="0" dirty="0" err="1">
                <a:effectLst/>
              </a:rPr>
              <a:t>Ids</a:t>
            </a:r>
            <a:r>
              <a:rPr lang="es-ES" b="0" dirty="0">
                <a:effectLst/>
              </a:rPr>
              <a:t>: 100</a:t>
            </a:r>
          </a:p>
          <a:p>
            <a:pPr marL="285750" indent="-285750">
              <a:buFont typeface="Arial" panose="020B0604020202020204" pitchFamily="34" charset="0"/>
              <a:buChar char="•"/>
            </a:pPr>
            <a:r>
              <a:rPr lang="es-ES" b="0" dirty="0">
                <a:effectLst/>
              </a:rPr>
              <a:t>Estilos en </a:t>
            </a:r>
            <a:r>
              <a:rPr lang="es-ES" b="0" dirty="0" err="1">
                <a:effectLst/>
              </a:rPr>
              <a:t>linea</a:t>
            </a:r>
            <a:r>
              <a:rPr lang="es-ES" b="0" dirty="0">
                <a:effectLst/>
              </a:rPr>
              <a:t>: 1000.</a:t>
            </a:r>
          </a:p>
          <a:p>
            <a:pPr marL="285750" indent="-285750">
              <a:buFont typeface="Arial" panose="020B0604020202020204" pitchFamily="34" charset="0"/>
              <a:buChar char="•"/>
            </a:pPr>
            <a:r>
              <a:rPr lang="es-ES" dirty="0"/>
              <a:t>Selector universal (*): gana al resto</a:t>
            </a:r>
            <a:endParaRPr lang="es-ES" b="0" dirty="0">
              <a:effectLst/>
            </a:endParaRPr>
          </a:p>
          <a:p>
            <a:pPr marL="285750" indent="-285750">
              <a:buFont typeface="Arial" panose="020B0604020202020204" pitchFamily="34" charset="0"/>
              <a:buChar char="•"/>
            </a:pPr>
            <a:r>
              <a:rPr lang="es-ES" b="0" dirty="0">
                <a:effectLst/>
              </a:rPr>
              <a:t>!</a:t>
            </a:r>
            <a:r>
              <a:rPr lang="es-ES" b="0" dirty="0" err="1">
                <a:effectLst/>
              </a:rPr>
              <a:t>important</a:t>
            </a:r>
            <a:r>
              <a:rPr lang="es-ES" b="0" dirty="0">
                <a:effectLst/>
              </a:rPr>
              <a:t>: gana </a:t>
            </a:r>
            <a:r>
              <a:rPr lang="es-ES" b="0">
                <a:effectLst/>
              </a:rPr>
              <a:t>al resto</a:t>
            </a:r>
            <a:endParaRPr lang="es-ES" b="0" dirty="0">
              <a:effectLst/>
            </a:endParaRPr>
          </a:p>
          <a:p>
            <a:endParaRPr lang="es-ES" dirty="0"/>
          </a:p>
        </p:txBody>
      </p:sp>
    </p:spTree>
    <p:extLst>
      <p:ext uri="{BB962C8B-B14F-4D97-AF65-F5344CB8AC3E}">
        <p14:creationId xmlns:p14="http://schemas.microsoft.com/office/powerpoint/2010/main" val="2135156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Especificidad</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graphicFrame>
        <p:nvGraphicFramePr>
          <p:cNvPr id="4" name="Tabla 3">
            <a:extLst>
              <a:ext uri="{FF2B5EF4-FFF2-40B4-BE49-F238E27FC236}">
                <a16:creationId xmlns:a16="http://schemas.microsoft.com/office/drawing/2014/main" id="{D0739D98-5A4E-1908-1DE0-7BFB18F2C180}"/>
              </a:ext>
            </a:extLst>
          </p:cNvPr>
          <p:cNvGraphicFramePr>
            <a:graphicFrameLocks noGrp="1"/>
          </p:cNvGraphicFramePr>
          <p:nvPr>
            <p:extLst>
              <p:ext uri="{D42A27DB-BD31-4B8C-83A1-F6EECF244321}">
                <p14:modId xmlns:p14="http://schemas.microsoft.com/office/powerpoint/2010/main" val="3013020922"/>
              </p:ext>
            </p:extLst>
          </p:nvPr>
        </p:nvGraphicFramePr>
        <p:xfrm>
          <a:off x="1326108" y="1306971"/>
          <a:ext cx="6720417" cy="3352800"/>
        </p:xfrm>
        <a:graphic>
          <a:graphicData uri="http://schemas.openxmlformats.org/drawingml/2006/table">
            <a:tbl>
              <a:tblPr bandRow="1">
                <a:tableStyleId>{5C22544A-7EE6-4342-B048-85BDC9FD1C3A}</a:tableStyleId>
              </a:tblPr>
              <a:tblGrid>
                <a:gridCol w="2240139">
                  <a:extLst>
                    <a:ext uri="{9D8B030D-6E8A-4147-A177-3AD203B41FA5}">
                      <a16:colId xmlns:a16="http://schemas.microsoft.com/office/drawing/2014/main" val="1570777009"/>
                    </a:ext>
                  </a:extLst>
                </a:gridCol>
                <a:gridCol w="2240139">
                  <a:extLst>
                    <a:ext uri="{9D8B030D-6E8A-4147-A177-3AD203B41FA5}">
                      <a16:colId xmlns:a16="http://schemas.microsoft.com/office/drawing/2014/main" val="3832516584"/>
                    </a:ext>
                  </a:extLst>
                </a:gridCol>
                <a:gridCol w="2240139">
                  <a:extLst>
                    <a:ext uri="{9D8B030D-6E8A-4147-A177-3AD203B41FA5}">
                      <a16:colId xmlns:a16="http://schemas.microsoft.com/office/drawing/2014/main" val="4117181378"/>
                    </a:ext>
                  </a:extLst>
                </a:gridCol>
              </a:tblGrid>
              <a:tr h="370840">
                <a:tc>
                  <a:txBody>
                    <a:bodyPr/>
                    <a:lstStyle/>
                    <a:p>
                      <a:r>
                        <a:rPr lang="es-ES" sz="1000" b="1" kern="1200" dirty="0">
                          <a:solidFill>
                            <a:schemeClr val="tx1"/>
                          </a:solidFill>
                          <a:effectLst/>
                          <a:latin typeface="+mn-lt"/>
                          <a:ea typeface="+mn-ea"/>
                          <a:cs typeface="+mn-cs"/>
                        </a:rPr>
                        <a:t>  p{</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color:red</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txBody>
                  <a:tcPr/>
                </a:tc>
                <a:tc>
                  <a:txBody>
                    <a:bodyPr/>
                    <a:lstStyle/>
                    <a:p>
                      <a:r>
                        <a:rPr lang="es-ES" sz="1200" dirty="0"/>
                        <a:t>001</a:t>
                      </a:r>
                    </a:p>
                  </a:txBody>
                  <a:tcPr/>
                </a:tc>
                <a:tc>
                  <a:txBody>
                    <a:bodyPr/>
                    <a:lstStyle/>
                    <a:p>
                      <a:r>
                        <a:rPr lang="es-ES" sz="1200" dirty="0"/>
                        <a:t>001</a:t>
                      </a:r>
                    </a:p>
                  </a:txBody>
                  <a:tcPr/>
                </a:tc>
                <a:extLst>
                  <a:ext uri="{0D108BD9-81ED-4DB2-BD59-A6C34878D82A}">
                    <a16:rowId xmlns:a16="http://schemas.microsoft.com/office/drawing/2014/main" val="2069939866"/>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color:green</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010</a:t>
                      </a:r>
                    </a:p>
                  </a:txBody>
                  <a:tcPr/>
                </a:tc>
                <a:tc>
                  <a:txBody>
                    <a:bodyPr/>
                    <a:lstStyle/>
                    <a:p>
                      <a:r>
                        <a:rPr lang="es-ES" sz="1200" dirty="0"/>
                        <a:t>010</a:t>
                      </a:r>
                    </a:p>
                  </a:txBody>
                  <a:tcPr/>
                </a:tc>
                <a:extLst>
                  <a:ext uri="{0D108BD9-81ED-4DB2-BD59-A6C34878D82A}">
                    <a16:rowId xmlns:a16="http://schemas.microsoft.com/office/drawing/2014/main" val="280249258"/>
                  </a:ext>
                </a:extLst>
              </a:tr>
              <a:tr h="370840">
                <a:tc>
                  <a:txBody>
                    <a:bodyPr/>
                    <a:lstStyle/>
                    <a:p>
                      <a:r>
                        <a:rPr lang="es-ES" sz="1000" b="1" kern="1200" dirty="0">
                          <a:solidFill>
                            <a:schemeClr val="tx1"/>
                          </a:solidFill>
                          <a:effectLst/>
                          <a:latin typeface="+mn-lt"/>
                          <a:ea typeface="+mn-ea"/>
                          <a:cs typeface="+mn-cs"/>
                        </a:rPr>
                        <a:t>#holiwi{</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color:aqua</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100</a:t>
                      </a:r>
                    </a:p>
                  </a:txBody>
                  <a:tcPr/>
                </a:tc>
                <a:tc>
                  <a:txBody>
                    <a:bodyPr/>
                    <a:lstStyle/>
                    <a:p>
                      <a:r>
                        <a:rPr lang="es-ES" sz="1200" dirty="0"/>
                        <a:t>100</a:t>
                      </a:r>
                    </a:p>
                  </a:txBody>
                  <a:tcPr/>
                </a:tc>
                <a:extLst>
                  <a:ext uri="{0D108BD9-81ED-4DB2-BD59-A6C34878D82A}">
                    <a16:rowId xmlns:a16="http://schemas.microsoft.com/office/drawing/2014/main" val="1366423394"/>
                  </a:ext>
                </a:extLst>
              </a:tr>
              <a:tr h="370840">
                <a:tc>
                  <a:txBody>
                    <a:bodyPr/>
                    <a:lstStyle/>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p.holiwi#holiwi</a:t>
                      </a:r>
                      <a:r>
                        <a:rPr lang="en-US" sz="1000" b="1" kern="1200" dirty="0">
                          <a:solidFill>
                            <a:schemeClr val="tx1"/>
                          </a:solidFill>
                          <a:effectLst/>
                          <a:latin typeface="+mn-lt"/>
                          <a:ea typeface="+mn-ea"/>
                          <a:cs typeface="+mn-cs"/>
                        </a:rPr>
                        <a:t>{</a:t>
                      </a:r>
                    </a:p>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color:darkred</a:t>
                      </a:r>
                      <a:endParaRPr lang="en-US" sz="1000" b="1" kern="1200" dirty="0">
                        <a:solidFill>
                          <a:schemeClr val="tx1"/>
                        </a:solidFill>
                        <a:effectLst/>
                        <a:latin typeface="+mn-lt"/>
                        <a:ea typeface="+mn-ea"/>
                        <a:cs typeface="+mn-cs"/>
                      </a:endParaRPr>
                    </a:p>
                    <a:p>
                      <a:r>
                        <a:rPr lang="en-U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+ 010 + 100</a:t>
                      </a:r>
                    </a:p>
                  </a:txBody>
                  <a:tcPr/>
                </a:tc>
                <a:tc>
                  <a:txBody>
                    <a:bodyPr/>
                    <a:lstStyle/>
                    <a:p>
                      <a:r>
                        <a:rPr lang="es-ES" sz="1200" dirty="0"/>
                        <a:t>111</a:t>
                      </a:r>
                    </a:p>
                  </a:txBody>
                  <a:tcPr/>
                </a:tc>
                <a:extLst>
                  <a:ext uri="{0D108BD9-81ED-4DB2-BD59-A6C34878D82A}">
                    <a16:rowId xmlns:a16="http://schemas.microsoft.com/office/drawing/2014/main" val="1857227159"/>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p#holiwi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color:blueviolet</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+ 100</a:t>
                      </a:r>
                    </a:p>
                  </a:txBody>
                  <a:tcPr/>
                </a:tc>
                <a:tc>
                  <a:txBody>
                    <a:bodyPr/>
                    <a:lstStyle/>
                    <a:p>
                      <a:r>
                        <a:rPr lang="es-ES" sz="1200" dirty="0"/>
                        <a:t>101</a:t>
                      </a:r>
                    </a:p>
                  </a:txBody>
                  <a:tcPr/>
                </a:tc>
                <a:extLst>
                  <a:ext uri="{0D108BD9-81ED-4DB2-BD59-A6C34878D82A}">
                    <a16:rowId xmlns:a16="http://schemas.microsoft.com/office/drawing/2014/main" val="1005209725"/>
                  </a:ext>
                </a:extLst>
              </a:tr>
            </a:tbl>
          </a:graphicData>
        </a:graphic>
      </p:graphicFrame>
      <p:sp>
        <p:nvSpPr>
          <p:cNvPr id="5" name="Flecha: a la derecha 4">
            <a:extLst>
              <a:ext uri="{FF2B5EF4-FFF2-40B4-BE49-F238E27FC236}">
                <a16:creationId xmlns:a16="http://schemas.microsoft.com/office/drawing/2014/main" id="{E6349987-AE03-25C6-0DCB-7E2E3D7C97C6}"/>
              </a:ext>
            </a:extLst>
          </p:cNvPr>
          <p:cNvSpPr/>
          <p:nvPr/>
        </p:nvSpPr>
        <p:spPr>
          <a:xfrm rot="10800000">
            <a:off x="8361485" y="3244361"/>
            <a:ext cx="1230923" cy="7033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4233872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Especificidad</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graphicFrame>
        <p:nvGraphicFramePr>
          <p:cNvPr id="4" name="Tabla 3">
            <a:extLst>
              <a:ext uri="{FF2B5EF4-FFF2-40B4-BE49-F238E27FC236}">
                <a16:creationId xmlns:a16="http://schemas.microsoft.com/office/drawing/2014/main" id="{D0739D98-5A4E-1908-1DE0-7BFB18F2C180}"/>
              </a:ext>
            </a:extLst>
          </p:cNvPr>
          <p:cNvGraphicFramePr>
            <a:graphicFrameLocks noGrp="1"/>
          </p:cNvGraphicFramePr>
          <p:nvPr>
            <p:extLst>
              <p:ext uri="{D42A27DB-BD31-4B8C-83A1-F6EECF244321}">
                <p14:modId xmlns:p14="http://schemas.microsoft.com/office/powerpoint/2010/main" val="3021815107"/>
              </p:ext>
            </p:extLst>
          </p:nvPr>
        </p:nvGraphicFramePr>
        <p:xfrm>
          <a:off x="1326108" y="1306971"/>
          <a:ext cx="6720417" cy="3931920"/>
        </p:xfrm>
        <a:graphic>
          <a:graphicData uri="http://schemas.openxmlformats.org/drawingml/2006/table">
            <a:tbl>
              <a:tblPr bandRow="1">
                <a:tableStyleId>{5C22544A-7EE6-4342-B048-85BDC9FD1C3A}</a:tableStyleId>
              </a:tblPr>
              <a:tblGrid>
                <a:gridCol w="2240139">
                  <a:extLst>
                    <a:ext uri="{9D8B030D-6E8A-4147-A177-3AD203B41FA5}">
                      <a16:colId xmlns:a16="http://schemas.microsoft.com/office/drawing/2014/main" val="1570777009"/>
                    </a:ext>
                  </a:extLst>
                </a:gridCol>
                <a:gridCol w="2240139">
                  <a:extLst>
                    <a:ext uri="{9D8B030D-6E8A-4147-A177-3AD203B41FA5}">
                      <a16:colId xmlns:a16="http://schemas.microsoft.com/office/drawing/2014/main" val="3832516584"/>
                    </a:ext>
                  </a:extLst>
                </a:gridCol>
                <a:gridCol w="2240139">
                  <a:extLst>
                    <a:ext uri="{9D8B030D-6E8A-4147-A177-3AD203B41FA5}">
                      <a16:colId xmlns:a16="http://schemas.microsoft.com/office/drawing/2014/main" val="4117181378"/>
                    </a:ext>
                  </a:extLst>
                </a:gridCol>
              </a:tblGrid>
              <a:tr h="370840">
                <a:tc>
                  <a:txBody>
                    <a:bodyPr/>
                    <a:lstStyle/>
                    <a:p>
                      <a:r>
                        <a:rPr lang="es-ES" sz="1000" b="1" kern="1200" dirty="0">
                          <a:solidFill>
                            <a:schemeClr val="tx1"/>
                          </a:solidFill>
                          <a:effectLst/>
                          <a:latin typeface="+mn-lt"/>
                          <a:ea typeface="+mn-ea"/>
                          <a:cs typeface="+mn-cs"/>
                        </a:rPr>
                        <a:t>  p{</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color:red</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txBody>
                  <a:tcPr/>
                </a:tc>
                <a:tc>
                  <a:txBody>
                    <a:bodyPr/>
                    <a:lstStyle/>
                    <a:p>
                      <a:r>
                        <a:rPr lang="es-ES" sz="1200" dirty="0"/>
                        <a:t>001</a:t>
                      </a:r>
                    </a:p>
                  </a:txBody>
                  <a:tcPr/>
                </a:tc>
                <a:tc>
                  <a:txBody>
                    <a:bodyPr/>
                    <a:lstStyle/>
                    <a:p>
                      <a:r>
                        <a:rPr lang="es-ES" sz="1200" dirty="0"/>
                        <a:t>001</a:t>
                      </a:r>
                    </a:p>
                  </a:txBody>
                  <a:tcPr/>
                </a:tc>
                <a:extLst>
                  <a:ext uri="{0D108BD9-81ED-4DB2-BD59-A6C34878D82A}">
                    <a16:rowId xmlns:a16="http://schemas.microsoft.com/office/drawing/2014/main" val="2069939866"/>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color:green</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010</a:t>
                      </a:r>
                    </a:p>
                  </a:txBody>
                  <a:tcPr/>
                </a:tc>
                <a:tc>
                  <a:txBody>
                    <a:bodyPr/>
                    <a:lstStyle/>
                    <a:p>
                      <a:r>
                        <a:rPr lang="es-ES" sz="1200" dirty="0"/>
                        <a:t>010</a:t>
                      </a:r>
                    </a:p>
                  </a:txBody>
                  <a:tcPr/>
                </a:tc>
                <a:extLst>
                  <a:ext uri="{0D108BD9-81ED-4DB2-BD59-A6C34878D82A}">
                    <a16:rowId xmlns:a16="http://schemas.microsoft.com/office/drawing/2014/main" val="280249258"/>
                  </a:ext>
                </a:extLst>
              </a:tr>
              <a:tr h="370840">
                <a:tc>
                  <a:txBody>
                    <a:bodyPr/>
                    <a:lstStyle/>
                    <a:p>
                      <a:r>
                        <a:rPr lang="es-ES" sz="1000" b="1" kern="1200" dirty="0">
                          <a:solidFill>
                            <a:schemeClr val="tx1"/>
                          </a:solidFill>
                          <a:effectLst/>
                          <a:latin typeface="+mn-lt"/>
                          <a:ea typeface="+mn-ea"/>
                          <a:cs typeface="+mn-cs"/>
                        </a:rPr>
                        <a:t>#holiwi{</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color:aqua</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100</a:t>
                      </a:r>
                    </a:p>
                  </a:txBody>
                  <a:tcPr/>
                </a:tc>
                <a:tc>
                  <a:txBody>
                    <a:bodyPr/>
                    <a:lstStyle/>
                    <a:p>
                      <a:r>
                        <a:rPr lang="es-ES" sz="1200" dirty="0"/>
                        <a:t>100</a:t>
                      </a:r>
                    </a:p>
                  </a:txBody>
                  <a:tcPr/>
                </a:tc>
                <a:extLst>
                  <a:ext uri="{0D108BD9-81ED-4DB2-BD59-A6C34878D82A}">
                    <a16:rowId xmlns:a16="http://schemas.microsoft.com/office/drawing/2014/main" val="1366423394"/>
                  </a:ext>
                </a:extLst>
              </a:tr>
              <a:tr h="370840">
                <a:tc>
                  <a:txBody>
                    <a:bodyPr/>
                    <a:lstStyle/>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p.holiwi#holiwi</a:t>
                      </a:r>
                      <a:r>
                        <a:rPr lang="en-US" sz="1000" b="1" kern="1200" dirty="0">
                          <a:solidFill>
                            <a:schemeClr val="tx1"/>
                          </a:solidFill>
                          <a:effectLst/>
                          <a:latin typeface="+mn-lt"/>
                          <a:ea typeface="+mn-ea"/>
                          <a:cs typeface="+mn-cs"/>
                        </a:rPr>
                        <a:t>{</a:t>
                      </a:r>
                    </a:p>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color:darkred</a:t>
                      </a:r>
                      <a:endParaRPr lang="en-US" sz="1000" b="1" kern="1200" dirty="0">
                        <a:solidFill>
                          <a:schemeClr val="tx1"/>
                        </a:solidFill>
                        <a:effectLst/>
                        <a:latin typeface="+mn-lt"/>
                        <a:ea typeface="+mn-ea"/>
                        <a:cs typeface="+mn-cs"/>
                      </a:endParaRPr>
                    </a:p>
                    <a:p>
                      <a:r>
                        <a:rPr lang="en-U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+ 010 + 100</a:t>
                      </a:r>
                    </a:p>
                  </a:txBody>
                  <a:tcPr/>
                </a:tc>
                <a:tc>
                  <a:txBody>
                    <a:bodyPr/>
                    <a:lstStyle/>
                    <a:p>
                      <a:r>
                        <a:rPr lang="es-ES" sz="1200" dirty="0"/>
                        <a:t>111</a:t>
                      </a:r>
                    </a:p>
                  </a:txBody>
                  <a:tcPr/>
                </a:tc>
                <a:extLst>
                  <a:ext uri="{0D108BD9-81ED-4DB2-BD59-A6C34878D82A}">
                    <a16:rowId xmlns:a16="http://schemas.microsoft.com/office/drawing/2014/main" val="1857227159"/>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p#holiwi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color:blueviolet</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+ 100</a:t>
                      </a:r>
                    </a:p>
                  </a:txBody>
                  <a:tcPr/>
                </a:tc>
                <a:tc>
                  <a:txBody>
                    <a:bodyPr/>
                    <a:lstStyle/>
                    <a:p>
                      <a:r>
                        <a:rPr lang="es-ES" sz="1200" dirty="0"/>
                        <a:t>101</a:t>
                      </a:r>
                    </a:p>
                  </a:txBody>
                  <a:tcPr/>
                </a:tc>
                <a:extLst>
                  <a:ext uri="{0D108BD9-81ED-4DB2-BD59-A6C34878D82A}">
                    <a16:rowId xmlns:a16="http://schemas.microsoft.com/office/drawing/2014/main" val="10052097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effectLst/>
                          <a:latin typeface="+mn-lt"/>
                          <a:ea typeface="+mn-ea"/>
                          <a:cs typeface="+mn-cs"/>
                        </a:rPr>
                        <a:t>&lt;p id="</a:t>
                      </a:r>
                      <a:r>
                        <a:rPr lang="en-US" sz="1100" b="1" kern="1200" dirty="0" err="1">
                          <a:solidFill>
                            <a:schemeClr val="dk1"/>
                          </a:solidFill>
                          <a:effectLst/>
                          <a:latin typeface="+mn-lt"/>
                          <a:ea typeface="+mn-ea"/>
                          <a:cs typeface="+mn-cs"/>
                        </a:rPr>
                        <a:t>holiwi</a:t>
                      </a:r>
                      <a:r>
                        <a:rPr lang="en-US" sz="1100" b="1" kern="1200" dirty="0">
                          <a:solidFill>
                            <a:schemeClr val="dk1"/>
                          </a:solidFill>
                          <a:effectLst/>
                          <a:latin typeface="+mn-lt"/>
                          <a:ea typeface="+mn-ea"/>
                          <a:cs typeface="+mn-cs"/>
                        </a:rPr>
                        <a:t>" class="</a:t>
                      </a:r>
                      <a:r>
                        <a:rPr lang="en-US" sz="1100" b="1" kern="1200" dirty="0" err="1">
                          <a:solidFill>
                            <a:schemeClr val="dk1"/>
                          </a:solidFill>
                          <a:effectLst/>
                          <a:latin typeface="+mn-lt"/>
                          <a:ea typeface="+mn-ea"/>
                          <a:cs typeface="+mn-cs"/>
                        </a:rPr>
                        <a:t>holiwi</a:t>
                      </a:r>
                      <a:r>
                        <a:rPr lang="en-US" sz="1100" b="1" kern="1200" dirty="0">
                          <a:solidFill>
                            <a:schemeClr val="dk1"/>
                          </a:solidFill>
                          <a:effectLst/>
                          <a:latin typeface="+mn-lt"/>
                          <a:ea typeface="+mn-ea"/>
                          <a:cs typeface="+mn-cs"/>
                        </a:rPr>
                        <a:t>" style="</a:t>
                      </a:r>
                      <a:r>
                        <a:rPr lang="en-US" sz="1100" b="1" kern="1200" dirty="0" err="1">
                          <a:solidFill>
                            <a:schemeClr val="dk1"/>
                          </a:solidFill>
                          <a:effectLst/>
                          <a:latin typeface="+mn-lt"/>
                          <a:ea typeface="+mn-ea"/>
                          <a:cs typeface="+mn-cs"/>
                        </a:rPr>
                        <a:t>color:hotpink</a:t>
                      </a:r>
                      <a:r>
                        <a:rPr lang="en-US" sz="1100" b="1" kern="1200" dirty="0">
                          <a:solidFill>
                            <a:schemeClr val="dk1"/>
                          </a:solidFill>
                          <a:effectLst/>
                          <a:latin typeface="+mn-lt"/>
                          <a:ea typeface="+mn-ea"/>
                          <a:cs typeface="+mn-cs"/>
                        </a:rPr>
                        <a:t>"&gt;</a:t>
                      </a:r>
                    </a:p>
                    <a:p>
                      <a:endParaRPr lang="es-ES" sz="1000" b="1" dirty="0">
                        <a:solidFill>
                          <a:schemeClr val="tx1"/>
                        </a:solidFill>
                      </a:endParaRPr>
                    </a:p>
                  </a:txBody>
                  <a:tcPr/>
                </a:tc>
                <a:tc>
                  <a:txBody>
                    <a:bodyPr/>
                    <a:lstStyle/>
                    <a:p>
                      <a:r>
                        <a:rPr lang="es-ES" sz="1200" dirty="0"/>
                        <a:t>1000</a:t>
                      </a:r>
                    </a:p>
                  </a:txBody>
                  <a:tcPr/>
                </a:tc>
                <a:tc>
                  <a:txBody>
                    <a:bodyPr/>
                    <a:lstStyle/>
                    <a:p>
                      <a:r>
                        <a:rPr lang="es-ES" sz="1200" dirty="0"/>
                        <a:t>1000</a:t>
                      </a:r>
                    </a:p>
                  </a:txBody>
                  <a:tcPr/>
                </a:tc>
                <a:extLst>
                  <a:ext uri="{0D108BD9-81ED-4DB2-BD59-A6C34878D82A}">
                    <a16:rowId xmlns:a16="http://schemas.microsoft.com/office/drawing/2014/main" val="227612190"/>
                  </a:ext>
                </a:extLst>
              </a:tr>
            </a:tbl>
          </a:graphicData>
        </a:graphic>
      </p:graphicFrame>
      <p:sp>
        <p:nvSpPr>
          <p:cNvPr id="5" name="Flecha: a la derecha 4">
            <a:extLst>
              <a:ext uri="{FF2B5EF4-FFF2-40B4-BE49-F238E27FC236}">
                <a16:creationId xmlns:a16="http://schemas.microsoft.com/office/drawing/2014/main" id="{E6349987-AE03-25C6-0DCB-7E2E3D7C97C6}"/>
              </a:ext>
            </a:extLst>
          </p:cNvPr>
          <p:cNvSpPr/>
          <p:nvPr/>
        </p:nvSpPr>
        <p:spPr>
          <a:xfrm rot="10800000">
            <a:off x="8335108" y="4528038"/>
            <a:ext cx="1230923" cy="7033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4657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Especificidad</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graphicFrame>
        <p:nvGraphicFramePr>
          <p:cNvPr id="4" name="Tabla 3">
            <a:extLst>
              <a:ext uri="{FF2B5EF4-FFF2-40B4-BE49-F238E27FC236}">
                <a16:creationId xmlns:a16="http://schemas.microsoft.com/office/drawing/2014/main" id="{D0739D98-5A4E-1908-1DE0-7BFB18F2C180}"/>
              </a:ext>
            </a:extLst>
          </p:cNvPr>
          <p:cNvGraphicFramePr>
            <a:graphicFrameLocks noGrp="1"/>
          </p:cNvGraphicFramePr>
          <p:nvPr>
            <p:extLst>
              <p:ext uri="{D42A27DB-BD31-4B8C-83A1-F6EECF244321}">
                <p14:modId xmlns:p14="http://schemas.microsoft.com/office/powerpoint/2010/main" val="2560800511"/>
              </p:ext>
            </p:extLst>
          </p:nvPr>
        </p:nvGraphicFramePr>
        <p:xfrm>
          <a:off x="1326108" y="1306971"/>
          <a:ext cx="6720417" cy="3992880"/>
        </p:xfrm>
        <a:graphic>
          <a:graphicData uri="http://schemas.openxmlformats.org/drawingml/2006/table">
            <a:tbl>
              <a:tblPr bandRow="1">
                <a:tableStyleId>{5C22544A-7EE6-4342-B048-85BDC9FD1C3A}</a:tableStyleId>
              </a:tblPr>
              <a:tblGrid>
                <a:gridCol w="2240139">
                  <a:extLst>
                    <a:ext uri="{9D8B030D-6E8A-4147-A177-3AD203B41FA5}">
                      <a16:colId xmlns:a16="http://schemas.microsoft.com/office/drawing/2014/main" val="1570777009"/>
                    </a:ext>
                  </a:extLst>
                </a:gridCol>
                <a:gridCol w="2240139">
                  <a:extLst>
                    <a:ext uri="{9D8B030D-6E8A-4147-A177-3AD203B41FA5}">
                      <a16:colId xmlns:a16="http://schemas.microsoft.com/office/drawing/2014/main" val="3832516584"/>
                    </a:ext>
                  </a:extLst>
                </a:gridCol>
                <a:gridCol w="2240139">
                  <a:extLst>
                    <a:ext uri="{9D8B030D-6E8A-4147-A177-3AD203B41FA5}">
                      <a16:colId xmlns:a16="http://schemas.microsoft.com/office/drawing/2014/main" val="4117181378"/>
                    </a:ext>
                  </a:extLst>
                </a:gridCol>
              </a:tblGrid>
              <a:tr h="370840">
                <a:tc>
                  <a:txBody>
                    <a:bodyPr/>
                    <a:lstStyle/>
                    <a:p>
                      <a:r>
                        <a:rPr lang="es-ES" sz="1000" b="1" kern="1200" dirty="0">
                          <a:solidFill>
                            <a:schemeClr val="tx1"/>
                          </a:solidFill>
                          <a:effectLst/>
                          <a:latin typeface="+mn-lt"/>
                          <a:ea typeface="+mn-ea"/>
                          <a:cs typeface="+mn-cs"/>
                        </a:rPr>
                        <a:t>  p{</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color:red</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txBody>
                  <a:tcPr/>
                </a:tc>
                <a:tc>
                  <a:txBody>
                    <a:bodyPr/>
                    <a:lstStyle/>
                    <a:p>
                      <a:r>
                        <a:rPr lang="es-ES" sz="1200" dirty="0"/>
                        <a:t>001</a:t>
                      </a:r>
                    </a:p>
                  </a:txBody>
                  <a:tcPr/>
                </a:tc>
                <a:tc>
                  <a:txBody>
                    <a:bodyPr/>
                    <a:lstStyle/>
                    <a:p>
                      <a:r>
                        <a:rPr lang="es-ES" sz="1200" dirty="0"/>
                        <a:t>001</a:t>
                      </a:r>
                    </a:p>
                  </a:txBody>
                  <a:tcPr/>
                </a:tc>
                <a:extLst>
                  <a:ext uri="{0D108BD9-81ED-4DB2-BD59-A6C34878D82A}">
                    <a16:rowId xmlns:a16="http://schemas.microsoft.com/office/drawing/2014/main" val="2069939866"/>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color:green</a:t>
                      </a:r>
                      <a:r>
                        <a:rPr lang="es-ES" sz="1000" b="1" kern="1200" dirty="0">
                          <a:solidFill>
                            <a:schemeClr val="tx1"/>
                          </a:solidFill>
                          <a:effectLst/>
                          <a:latin typeface="+mn-lt"/>
                          <a:ea typeface="+mn-ea"/>
                          <a:cs typeface="+mn-cs"/>
                        </a:rPr>
                        <a:t>  </a:t>
                      </a:r>
                      <a:r>
                        <a:rPr lang="es-ES" sz="1400" b="1" kern="1200" dirty="0">
                          <a:solidFill>
                            <a:schemeClr val="tx1"/>
                          </a:solidFill>
                          <a:effectLst/>
                          <a:latin typeface="+mn-lt"/>
                          <a:ea typeface="+mn-ea"/>
                          <a:cs typeface="+mn-cs"/>
                        </a:rPr>
                        <a:t>!</a:t>
                      </a:r>
                      <a:r>
                        <a:rPr lang="es-ES" sz="1400" b="1" kern="1200" dirty="0" err="1">
                          <a:solidFill>
                            <a:schemeClr val="tx1"/>
                          </a:solidFill>
                          <a:effectLst/>
                          <a:latin typeface="+mn-lt"/>
                          <a:ea typeface="+mn-ea"/>
                          <a:cs typeface="+mn-cs"/>
                        </a:rPr>
                        <a:t>important</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010</a:t>
                      </a:r>
                    </a:p>
                  </a:txBody>
                  <a:tcPr/>
                </a:tc>
                <a:tc>
                  <a:txBody>
                    <a:bodyPr/>
                    <a:lstStyle/>
                    <a:p>
                      <a:r>
                        <a:rPr lang="es-ES" sz="1200" dirty="0"/>
                        <a:t>010</a:t>
                      </a:r>
                    </a:p>
                  </a:txBody>
                  <a:tcPr/>
                </a:tc>
                <a:extLst>
                  <a:ext uri="{0D108BD9-81ED-4DB2-BD59-A6C34878D82A}">
                    <a16:rowId xmlns:a16="http://schemas.microsoft.com/office/drawing/2014/main" val="280249258"/>
                  </a:ext>
                </a:extLst>
              </a:tr>
              <a:tr h="370840">
                <a:tc>
                  <a:txBody>
                    <a:bodyPr/>
                    <a:lstStyle/>
                    <a:p>
                      <a:r>
                        <a:rPr lang="es-ES" sz="1000" b="1" kern="1200" dirty="0">
                          <a:solidFill>
                            <a:schemeClr val="tx1"/>
                          </a:solidFill>
                          <a:effectLst/>
                          <a:latin typeface="+mn-lt"/>
                          <a:ea typeface="+mn-ea"/>
                          <a:cs typeface="+mn-cs"/>
                        </a:rPr>
                        <a:t>#holiwi{</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color:aqua</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100</a:t>
                      </a:r>
                    </a:p>
                  </a:txBody>
                  <a:tcPr/>
                </a:tc>
                <a:tc>
                  <a:txBody>
                    <a:bodyPr/>
                    <a:lstStyle/>
                    <a:p>
                      <a:r>
                        <a:rPr lang="es-ES" sz="1200" dirty="0"/>
                        <a:t>100</a:t>
                      </a:r>
                    </a:p>
                  </a:txBody>
                  <a:tcPr/>
                </a:tc>
                <a:extLst>
                  <a:ext uri="{0D108BD9-81ED-4DB2-BD59-A6C34878D82A}">
                    <a16:rowId xmlns:a16="http://schemas.microsoft.com/office/drawing/2014/main" val="1366423394"/>
                  </a:ext>
                </a:extLst>
              </a:tr>
              <a:tr h="370840">
                <a:tc>
                  <a:txBody>
                    <a:bodyPr/>
                    <a:lstStyle/>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p.holiwi#holiwi</a:t>
                      </a:r>
                      <a:r>
                        <a:rPr lang="en-US" sz="1000" b="1" kern="1200" dirty="0">
                          <a:solidFill>
                            <a:schemeClr val="tx1"/>
                          </a:solidFill>
                          <a:effectLst/>
                          <a:latin typeface="+mn-lt"/>
                          <a:ea typeface="+mn-ea"/>
                          <a:cs typeface="+mn-cs"/>
                        </a:rPr>
                        <a:t>{</a:t>
                      </a:r>
                    </a:p>
                    <a:p>
                      <a:r>
                        <a:rPr lang="en-US" sz="1000" b="1" kern="1200" dirty="0">
                          <a:solidFill>
                            <a:schemeClr val="tx1"/>
                          </a:solidFill>
                          <a:effectLst/>
                          <a:latin typeface="+mn-lt"/>
                          <a:ea typeface="+mn-ea"/>
                          <a:cs typeface="+mn-cs"/>
                        </a:rPr>
                        <a:t>                </a:t>
                      </a:r>
                      <a:r>
                        <a:rPr lang="en-US" sz="1000" b="1" kern="1200" dirty="0" err="1">
                          <a:solidFill>
                            <a:schemeClr val="tx1"/>
                          </a:solidFill>
                          <a:effectLst/>
                          <a:latin typeface="+mn-lt"/>
                          <a:ea typeface="+mn-ea"/>
                          <a:cs typeface="+mn-cs"/>
                        </a:rPr>
                        <a:t>color:darkred</a:t>
                      </a:r>
                      <a:endParaRPr lang="en-US" sz="1000" b="1" kern="1200" dirty="0">
                        <a:solidFill>
                          <a:schemeClr val="tx1"/>
                        </a:solidFill>
                        <a:effectLst/>
                        <a:latin typeface="+mn-lt"/>
                        <a:ea typeface="+mn-ea"/>
                        <a:cs typeface="+mn-cs"/>
                      </a:endParaRPr>
                    </a:p>
                    <a:p>
                      <a:r>
                        <a:rPr lang="en-U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+ 010 + 100</a:t>
                      </a:r>
                    </a:p>
                  </a:txBody>
                  <a:tcPr/>
                </a:tc>
                <a:tc>
                  <a:txBody>
                    <a:bodyPr/>
                    <a:lstStyle/>
                    <a:p>
                      <a:r>
                        <a:rPr lang="es-ES" sz="1200" dirty="0"/>
                        <a:t>111</a:t>
                      </a:r>
                    </a:p>
                  </a:txBody>
                  <a:tcPr/>
                </a:tc>
                <a:extLst>
                  <a:ext uri="{0D108BD9-81ED-4DB2-BD59-A6C34878D82A}">
                    <a16:rowId xmlns:a16="http://schemas.microsoft.com/office/drawing/2014/main" val="1857227159"/>
                  </a:ext>
                </a:extLst>
              </a:tr>
              <a:tr h="370840">
                <a:tc>
                  <a:txBody>
                    <a:bodyPr/>
                    <a:lstStyle/>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p#holiwi</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r>
                        <a:rPr lang="es-ES" sz="1000" b="1" kern="1200" dirty="0" err="1">
                          <a:solidFill>
                            <a:schemeClr val="tx1"/>
                          </a:solidFill>
                          <a:effectLst/>
                          <a:latin typeface="+mn-lt"/>
                          <a:ea typeface="+mn-ea"/>
                          <a:cs typeface="+mn-cs"/>
                        </a:rPr>
                        <a:t>color:blueviolet</a:t>
                      </a:r>
                      <a:r>
                        <a:rPr lang="es-ES" sz="1000" b="1" kern="1200" dirty="0">
                          <a:solidFill>
                            <a:schemeClr val="tx1"/>
                          </a:solidFill>
                          <a:effectLst/>
                          <a:latin typeface="+mn-lt"/>
                          <a:ea typeface="+mn-ea"/>
                          <a:cs typeface="+mn-cs"/>
                        </a:rPr>
                        <a:t>;</a:t>
                      </a:r>
                    </a:p>
                    <a:p>
                      <a:r>
                        <a:rPr lang="es-ES" sz="1000" b="1" kern="1200" dirty="0">
                          <a:solidFill>
                            <a:schemeClr val="tx1"/>
                          </a:solidFill>
                          <a:effectLst/>
                          <a:latin typeface="+mn-lt"/>
                          <a:ea typeface="+mn-ea"/>
                          <a:cs typeface="+mn-cs"/>
                        </a:rPr>
                        <a:t>            }</a:t>
                      </a:r>
                    </a:p>
                    <a:p>
                      <a:endParaRPr lang="es-ES" sz="1000" b="1" dirty="0">
                        <a:solidFill>
                          <a:schemeClr val="tx1"/>
                        </a:solidFill>
                      </a:endParaRPr>
                    </a:p>
                  </a:txBody>
                  <a:tcPr/>
                </a:tc>
                <a:tc>
                  <a:txBody>
                    <a:bodyPr/>
                    <a:lstStyle/>
                    <a:p>
                      <a:r>
                        <a:rPr lang="es-ES" sz="1200" dirty="0"/>
                        <a:t>001 + 100</a:t>
                      </a:r>
                    </a:p>
                  </a:txBody>
                  <a:tcPr/>
                </a:tc>
                <a:tc>
                  <a:txBody>
                    <a:bodyPr/>
                    <a:lstStyle/>
                    <a:p>
                      <a:r>
                        <a:rPr lang="es-ES" sz="1200" dirty="0"/>
                        <a:t>101</a:t>
                      </a:r>
                    </a:p>
                  </a:txBody>
                  <a:tcPr/>
                </a:tc>
                <a:extLst>
                  <a:ext uri="{0D108BD9-81ED-4DB2-BD59-A6C34878D82A}">
                    <a16:rowId xmlns:a16="http://schemas.microsoft.com/office/drawing/2014/main" val="10052097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effectLst/>
                          <a:latin typeface="+mn-lt"/>
                          <a:ea typeface="+mn-ea"/>
                          <a:cs typeface="+mn-cs"/>
                        </a:rPr>
                        <a:t>&lt;p id="</a:t>
                      </a:r>
                      <a:r>
                        <a:rPr lang="en-US" sz="1100" b="1" kern="1200" dirty="0" err="1">
                          <a:solidFill>
                            <a:schemeClr val="dk1"/>
                          </a:solidFill>
                          <a:effectLst/>
                          <a:latin typeface="+mn-lt"/>
                          <a:ea typeface="+mn-ea"/>
                          <a:cs typeface="+mn-cs"/>
                        </a:rPr>
                        <a:t>holiwi</a:t>
                      </a:r>
                      <a:r>
                        <a:rPr lang="en-US" sz="1100" b="1" kern="1200" dirty="0">
                          <a:solidFill>
                            <a:schemeClr val="dk1"/>
                          </a:solidFill>
                          <a:effectLst/>
                          <a:latin typeface="+mn-lt"/>
                          <a:ea typeface="+mn-ea"/>
                          <a:cs typeface="+mn-cs"/>
                        </a:rPr>
                        <a:t>" class="</a:t>
                      </a:r>
                      <a:r>
                        <a:rPr lang="en-US" sz="1100" b="1" kern="1200" dirty="0" err="1">
                          <a:solidFill>
                            <a:schemeClr val="dk1"/>
                          </a:solidFill>
                          <a:effectLst/>
                          <a:latin typeface="+mn-lt"/>
                          <a:ea typeface="+mn-ea"/>
                          <a:cs typeface="+mn-cs"/>
                        </a:rPr>
                        <a:t>holiwi</a:t>
                      </a:r>
                      <a:r>
                        <a:rPr lang="en-US" sz="1100" b="1" kern="1200" dirty="0">
                          <a:solidFill>
                            <a:schemeClr val="dk1"/>
                          </a:solidFill>
                          <a:effectLst/>
                          <a:latin typeface="+mn-lt"/>
                          <a:ea typeface="+mn-ea"/>
                          <a:cs typeface="+mn-cs"/>
                        </a:rPr>
                        <a:t>" style="</a:t>
                      </a:r>
                      <a:r>
                        <a:rPr lang="en-US" sz="1100" b="1" kern="1200" dirty="0" err="1">
                          <a:solidFill>
                            <a:schemeClr val="dk1"/>
                          </a:solidFill>
                          <a:effectLst/>
                          <a:latin typeface="+mn-lt"/>
                          <a:ea typeface="+mn-ea"/>
                          <a:cs typeface="+mn-cs"/>
                        </a:rPr>
                        <a:t>color:hotpink</a:t>
                      </a:r>
                      <a:r>
                        <a:rPr lang="en-US" sz="1100" b="1" kern="1200" dirty="0">
                          <a:solidFill>
                            <a:schemeClr val="dk1"/>
                          </a:solidFill>
                          <a:effectLst/>
                          <a:latin typeface="+mn-lt"/>
                          <a:ea typeface="+mn-ea"/>
                          <a:cs typeface="+mn-cs"/>
                        </a:rPr>
                        <a:t>"&gt;</a:t>
                      </a:r>
                    </a:p>
                    <a:p>
                      <a:endParaRPr lang="es-ES" sz="1000" b="1" dirty="0">
                        <a:solidFill>
                          <a:schemeClr val="tx1"/>
                        </a:solidFill>
                      </a:endParaRPr>
                    </a:p>
                  </a:txBody>
                  <a:tcPr/>
                </a:tc>
                <a:tc>
                  <a:txBody>
                    <a:bodyPr/>
                    <a:lstStyle/>
                    <a:p>
                      <a:r>
                        <a:rPr lang="es-ES" sz="1200" dirty="0"/>
                        <a:t>1000</a:t>
                      </a:r>
                    </a:p>
                  </a:txBody>
                  <a:tcPr/>
                </a:tc>
                <a:tc>
                  <a:txBody>
                    <a:bodyPr/>
                    <a:lstStyle/>
                    <a:p>
                      <a:r>
                        <a:rPr lang="es-ES" sz="1200" dirty="0"/>
                        <a:t>1000</a:t>
                      </a:r>
                    </a:p>
                  </a:txBody>
                  <a:tcPr/>
                </a:tc>
                <a:extLst>
                  <a:ext uri="{0D108BD9-81ED-4DB2-BD59-A6C34878D82A}">
                    <a16:rowId xmlns:a16="http://schemas.microsoft.com/office/drawing/2014/main" val="227612190"/>
                  </a:ext>
                </a:extLst>
              </a:tr>
            </a:tbl>
          </a:graphicData>
        </a:graphic>
      </p:graphicFrame>
      <p:sp>
        <p:nvSpPr>
          <p:cNvPr id="5" name="Flecha: a la derecha 4">
            <a:extLst>
              <a:ext uri="{FF2B5EF4-FFF2-40B4-BE49-F238E27FC236}">
                <a16:creationId xmlns:a16="http://schemas.microsoft.com/office/drawing/2014/main" id="{E6349987-AE03-25C6-0DCB-7E2E3D7C97C6}"/>
              </a:ext>
            </a:extLst>
          </p:cNvPr>
          <p:cNvSpPr/>
          <p:nvPr/>
        </p:nvSpPr>
        <p:spPr>
          <a:xfrm rot="10800000">
            <a:off x="8273562" y="1820007"/>
            <a:ext cx="1230923" cy="7033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43471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Especificidad</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sp>
        <p:nvSpPr>
          <p:cNvPr id="6" name="CuadroTexto 5">
            <a:extLst>
              <a:ext uri="{FF2B5EF4-FFF2-40B4-BE49-F238E27FC236}">
                <a16:creationId xmlns:a16="http://schemas.microsoft.com/office/drawing/2014/main" id="{42CC8E60-9FA8-735F-EF09-96D843B7DF98}"/>
              </a:ext>
            </a:extLst>
          </p:cNvPr>
          <p:cNvSpPr txBox="1"/>
          <p:nvPr/>
        </p:nvSpPr>
        <p:spPr>
          <a:xfrm>
            <a:off x="650631" y="1608992"/>
            <a:ext cx="9330183" cy="2031325"/>
          </a:xfrm>
          <a:prstGeom prst="rect">
            <a:avLst/>
          </a:prstGeom>
          <a:noFill/>
        </p:spPr>
        <p:txBody>
          <a:bodyPr wrap="none" rtlCol="0">
            <a:spAutoFit/>
          </a:bodyPr>
          <a:lstStyle/>
          <a:p>
            <a:r>
              <a:rPr lang="es-ES" dirty="0"/>
              <a:t>Debemos evitar el uso de !</a:t>
            </a:r>
            <a:r>
              <a:rPr lang="es-ES" b="1" dirty="0" err="1"/>
              <a:t>important</a:t>
            </a:r>
            <a:endParaRPr lang="es-ES" b="1" dirty="0"/>
          </a:p>
          <a:p>
            <a:endParaRPr lang="es-ES" b="1" dirty="0"/>
          </a:p>
          <a:p>
            <a:pPr marL="285750" indent="-285750">
              <a:buFont typeface="Arial" panose="020B0604020202020204" pitchFamily="34" charset="0"/>
              <a:buChar char="•"/>
            </a:pPr>
            <a:r>
              <a:rPr lang="es-ES" b="1" dirty="0"/>
              <a:t>Dificulta la mantenibilidad: </a:t>
            </a:r>
            <a:r>
              <a:rPr lang="es-ES" dirty="0"/>
              <a:t>El uso de !</a:t>
            </a:r>
            <a:r>
              <a:rPr lang="es-ES" dirty="0" err="1"/>
              <a:t>important</a:t>
            </a:r>
            <a:r>
              <a:rPr lang="es-ES" dirty="0"/>
              <a:t> puede hacer que sea muy difícil de </a:t>
            </a:r>
          </a:p>
          <a:p>
            <a:r>
              <a:rPr lang="es-ES" dirty="0"/>
              <a:t>     depurar y sobrescribir estilos.</a:t>
            </a:r>
          </a:p>
          <a:p>
            <a:pPr marL="285750" indent="-285750">
              <a:buFont typeface="Arial" panose="020B0604020202020204" pitchFamily="34" charset="0"/>
              <a:buChar char="•"/>
            </a:pPr>
            <a:r>
              <a:rPr lang="es-ES" b="1" dirty="0"/>
              <a:t>Sobrescribe la especificidad</a:t>
            </a:r>
            <a:r>
              <a:rPr lang="es-ES" dirty="0"/>
              <a:t>: !</a:t>
            </a:r>
            <a:r>
              <a:rPr lang="es-ES" dirty="0" err="1"/>
              <a:t>important</a:t>
            </a:r>
            <a:r>
              <a:rPr lang="es-ES" dirty="0"/>
              <a:t> anula cualquier otra regla de estilo, </a:t>
            </a:r>
          </a:p>
          <a:p>
            <a:r>
              <a:rPr lang="es-ES" dirty="0"/>
              <a:t>     independientemente de su especificidad. Esto puede romper la cascada natural de las hojas de</a:t>
            </a:r>
          </a:p>
          <a:p>
            <a:r>
              <a:rPr lang="es-ES" dirty="0"/>
              <a:t>     estilo y hacer que sea difícil entender y mantener el código.</a:t>
            </a:r>
          </a:p>
        </p:txBody>
      </p:sp>
    </p:spTree>
    <p:extLst>
      <p:ext uri="{BB962C8B-B14F-4D97-AF65-F5344CB8AC3E}">
        <p14:creationId xmlns:p14="http://schemas.microsoft.com/office/powerpoint/2010/main" val="2171590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Cascada</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sp>
        <p:nvSpPr>
          <p:cNvPr id="4" name="CuadroTexto 3">
            <a:extLst>
              <a:ext uri="{FF2B5EF4-FFF2-40B4-BE49-F238E27FC236}">
                <a16:creationId xmlns:a16="http://schemas.microsoft.com/office/drawing/2014/main" id="{D3D057C6-06CF-45E0-9FAF-24E354F9CFBC}"/>
              </a:ext>
            </a:extLst>
          </p:cNvPr>
          <p:cNvSpPr txBox="1"/>
          <p:nvPr/>
        </p:nvSpPr>
        <p:spPr>
          <a:xfrm>
            <a:off x="78229" y="1307038"/>
            <a:ext cx="9894760" cy="2862322"/>
          </a:xfrm>
          <a:prstGeom prst="rect">
            <a:avLst/>
          </a:prstGeom>
          <a:noFill/>
        </p:spPr>
        <p:txBody>
          <a:bodyPr wrap="none" rtlCol="0">
            <a:spAutoFit/>
          </a:bodyPr>
          <a:lstStyle/>
          <a:p>
            <a:r>
              <a:rPr lang="es-ES" dirty="0"/>
              <a:t>La cascada en CSS es el proceso utilizado por los navegadores para determinar qué reglas de </a:t>
            </a:r>
          </a:p>
          <a:p>
            <a:r>
              <a:rPr lang="es-ES" dirty="0"/>
              <a:t>estilo aplicar a un elemento basándose en la importancia, especificidad y el orden de origen de dichas </a:t>
            </a:r>
          </a:p>
          <a:p>
            <a:r>
              <a:rPr lang="es-ES" dirty="0"/>
              <a:t>reglas. Este proceso permite que varias hojas de estilo influyan en la apariencia de una página web y </a:t>
            </a:r>
          </a:p>
          <a:p>
            <a:r>
              <a:rPr lang="es-ES" dirty="0"/>
              <a:t>resuelve conflictos entre múltiples reglas CSS aplicables a un mismo elemento.</a:t>
            </a:r>
          </a:p>
          <a:p>
            <a:endParaRPr lang="es-ES" dirty="0"/>
          </a:p>
          <a:p>
            <a:r>
              <a:rPr lang="es-ES" dirty="0"/>
              <a:t>    </a:t>
            </a:r>
            <a:r>
              <a:rPr lang="es-ES" b="1" dirty="0"/>
              <a:t>Importancia</a:t>
            </a:r>
            <a:r>
              <a:rPr lang="es-ES" dirty="0"/>
              <a:t>: El navegador primero considera la importancia de la declaración, por ejemplo, las reglas</a:t>
            </a:r>
          </a:p>
          <a:p>
            <a:r>
              <a:rPr lang="es-ES" dirty="0"/>
              <a:t> marcadas con !</a:t>
            </a:r>
            <a:r>
              <a:rPr lang="es-ES" dirty="0" err="1"/>
              <a:t>important</a:t>
            </a:r>
            <a:r>
              <a:rPr lang="es-ES" dirty="0"/>
              <a:t> tienen más peso.</a:t>
            </a:r>
          </a:p>
          <a:p>
            <a:r>
              <a:rPr lang="es-ES" dirty="0"/>
              <a:t>    </a:t>
            </a:r>
            <a:r>
              <a:rPr lang="es-ES" b="1" dirty="0"/>
              <a:t>Especificidad</a:t>
            </a:r>
            <a:r>
              <a:rPr lang="es-ES" dirty="0"/>
              <a:t>: Luego, evalúa la especificidad de un selector; los selectores más específicos </a:t>
            </a:r>
          </a:p>
          <a:p>
            <a:r>
              <a:rPr lang="es-ES" dirty="0"/>
              <a:t>(como los ID) sobrepasan a los menos específicos (como las etiquetas).</a:t>
            </a:r>
          </a:p>
          <a:p>
            <a:r>
              <a:rPr lang="es-ES" dirty="0"/>
              <a:t>    </a:t>
            </a:r>
            <a:r>
              <a:rPr lang="es-ES" b="1" dirty="0"/>
              <a:t>Orden de origen</a:t>
            </a:r>
            <a:r>
              <a:rPr lang="es-ES" dirty="0"/>
              <a:t>: Finalmente, el orden en que se presentan las declaraciones también importa. </a:t>
            </a:r>
          </a:p>
        </p:txBody>
      </p:sp>
    </p:spTree>
    <p:extLst>
      <p:ext uri="{BB962C8B-B14F-4D97-AF65-F5344CB8AC3E}">
        <p14:creationId xmlns:p14="http://schemas.microsoft.com/office/powerpoint/2010/main" val="470188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Cascada</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sp>
        <p:nvSpPr>
          <p:cNvPr id="8" name="CuadroTexto 7">
            <a:extLst>
              <a:ext uri="{FF2B5EF4-FFF2-40B4-BE49-F238E27FC236}">
                <a16:creationId xmlns:a16="http://schemas.microsoft.com/office/drawing/2014/main" id="{D4EEBC8E-EAAE-4254-40EF-2F07370C710C}"/>
              </a:ext>
            </a:extLst>
          </p:cNvPr>
          <p:cNvSpPr txBox="1"/>
          <p:nvPr/>
        </p:nvSpPr>
        <p:spPr>
          <a:xfrm>
            <a:off x="292962" y="1493915"/>
            <a:ext cx="9525739" cy="2308324"/>
          </a:xfrm>
          <a:prstGeom prst="rect">
            <a:avLst/>
          </a:prstGeom>
          <a:noFill/>
        </p:spPr>
        <p:txBody>
          <a:bodyPr wrap="square">
            <a:spAutoFit/>
          </a:bodyPr>
          <a:lstStyle/>
          <a:p>
            <a:pPr marL="285750" indent="-285750">
              <a:buFont typeface="Arial" panose="020B0604020202020204" pitchFamily="34" charset="0"/>
              <a:buChar char="•"/>
            </a:pPr>
            <a:r>
              <a:rPr lang="es-ES" dirty="0"/>
              <a:t>Si una propiedad se ajusta en el atributo de estilo de un elemento, tiene prioridad sobre cambios en el mismo atributo dentro de la etiqueta &lt;</a:t>
            </a:r>
            <a:r>
              <a:rPr lang="es-ES" dirty="0" err="1"/>
              <a:t>style</a:t>
            </a:r>
            <a:r>
              <a:rPr lang="es-ES" dirty="0"/>
              <a:t>&gt; o en archivos CSS externos. </a:t>
            </a:r>
          </a:p>
          <a:p>
            <a:pPr marL="285750" indent="-285750">
              <a:buFont typeface="Arial" panose="020B0604020202020204" pitchFamily="34" charset="0"/>
              <a:buChar char="•"/>
            </a:pPr>
            <a:r>
              <a:rPr lang="es-ES" dirty="0"/>
              <a:t>Los cambios realizados en la etiqueta &lt;</a:t>
            </a:r>
            <a:r>
              <a:rPr lang="es-ES" dirty="0" err="1"/>
              <a:t>style</a:t>
            </a:r>
            <a:r>
              <a:rPr lang="es-ES" dirty="0"/>
              <a:t>&gt; predominan sobre los de las hojas de estilo externas. </a:t>
            </a:r>
          </a:p>
          <a:p>
            <a:pPr marL="285750" indent="-285750">
              <a:buFont typeface="Arial" panose="020B0604020202020204" pitchFamily="34" charset="0"/>
              <a:buChar char="•"/>
            </a:pPr>
            <a:r>
              <a:rPr lang="es-ES" dirty="0"/>
              <a:t>Cuando varias hojas de estilo externas alteran la misma propiedad, la última añadida domina. Entre dos reglas que afectan la misma propiedad de un elemento, prevalece la de mayor especificidad, excepto para el selector universal</a:t>
            </a:r>
          </a:p>
          <a:p>
            <a:pPr marL="285750" indent="-285750">
              <a:buFont typeface="Arial" panose="020B0604020202020204" pitchFamily="34" charset="0"/>
              <a:buChar char="•"/>
            </a:pPr>
            <a:r>
              <a:rPr lang="es-ES" dirty="0"/>
              <a:t>En caso de empate en la especificidad, se aplica el estilo más reciente.</a:t>
            </a:r>
          </a:p>
        </p:txBody>
      </p:sp>
    </p:spTree>
    <p:extLst>
      <p:ext uri="{BB962C8B-B14F-4D97-AF65-F5344CB8AC3E}">
        <p14:creationId xmlns:p14="http://schemas.microsoft.com/office/powerpoint/2010/main" val="282495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Herencia</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8" y="1415561"/>
            <a:ext cx="2627579" cy="646331"/>
          </a:xfrm>
          <a:prstGeom prst="rect">
            <a:avLst/>
          </a:prstGeom>
          <a:noFill/>
        </p:spPr>
        <p:txBody>
          <a:bodyPr wrap="square" rtlCol="0">
            <a:spAutoFit/>
          </a:bodyPr>
          <a:lstStyle/>
          <a:p>
            <a:endParaRPr lang="es-ES" dirty="0"/>
          </a:p>
          <a:p>
            <a:endParaRPr lang="es-ES" dirty="0"/>
          </a:p>
        </p:txBody>
      </p:sp>
      <p:sp>
        <p:nvSpPr>
          <p:cNvPr id="8" name="CuadroTexto 7">
            <a:extLst>
              <a:ext uri="{FF2B5EF4-FFF2-40B4-BE49-F238E27FC236}">
                <a16:creationId xmlns:a16="http://schemas.microsoft.com/office/drawing/2014/main" id="{D4EEBC8E-EAAE-4254-40EF-2F07370C710C}"/>
              </a:ext>
            </a:extLst>
          </p:cNvPr>
          <p:cNvSpPr txBox="1"/>
          <p:nvPr/>
        </p:nvSpPr>
        <p:spPr>
          <a:xfrm>
            <a:off x="292962" y="1493915"/>
            <a:ext cx="9525739" cy="1754326"/>
          </a:xfrm>
          <a:prstGeom prst="rect">
            <a:avLst/>
          </a:prstGeom>
          <a:noFill/>
        </p:spPr>
        <p:txBody>
          <a:bodyPr wrap="square">
            <a:spAutoFit/>
          </a:bodyPr>
          <a:lstStyle/>
          <a:p>
            <a:pPr marL="285750" indent="-285750">
              <a:buFont typeface="Arial" panose="020B0604020202020204" pitchFamily="34" charset="0"/>
              <a:buChar char="•"/>
            </a:pPr>
            <a:r>
              <a:rPr lang="es-ES" dirty="0"/>
              <a:t>La herencia en CSS significa que ciertas propiedades de un elemento contenedor se transmiten a sus elementos hijos. No obstante, esto no se aplica a todas las propiedades, dado que en ciertos contextos no sería lógico o práctico. Por lo tanto, solo algunas propiedades específicas se heredan de manera predeterminada para mantener la coherencia del diseño a lo largo de los elementos anidados.</a:t>
            </a:r>
          </a:p>
          <a:p>
            <a:endParaRPr lang="es-ES" dirty="0"/>
          </a:p>
        </p:txBody>
      </p:sp>
      <p:sp>
        <p:nvSpPr>
          <p:cNvPr id="7" name="CuadroTexto 6">
            <a:extLst>
              <a:ext uri="{FF2B5EF4-FFF2-40B4-BE49-F238E27FC236}">
                <a16:creationId xmlns:a16="http://schemas.microsoft.com/office/drawing/2014/main" id="{9D5BEA57-6DBB-8F9D-A388-97DB265DF20B}"/>
              </a:ext>
            </a:extLst>
          </p:cNvPr>
          <p:cNvSpPr txBox="1"/>
          <p:nvPr/>
        </p:nvSpPr>
        <p:spPr>
          <a:xfrm>
            <a:off x="372863" y="3565254"/>
            <a:ext cx="4740676" cy="646331"/>
          </a:xfrm>
          <a:prstGeom prst="rect">
            <a:avLst/>
          </a:prstGeom>
          <a:noFill/>
        </p:spPr>
        <p:txBody>
          <a:bodyPr wrap="square">
            <a:spAutoFit/>
          </a:bodyPr>
          <a:lstStyle/>
          <a:p>
            <a:r>
              <a:rPr lang="pt-BR" b="0" dirty="0">
                <a:solidFill>
                  <a:srgbClr val="808080"/>
                </a:solidFill>
                <a:effectLst/>
                <a:latin typeface="Consolas" panose="020B0609020204030204" pitchFamily="49" charset="0"/>
              </a:rPr>
              <a:t>&lt;</a:t>
            </a:r>
            <a:r>
              <a:rPr lang="pt-BR" b="0" dirty="0">
                <a:solidFill>
                  <a:srgbClr val="569CD6"/>
                </a:solidFill>
                <a:effectLst/>
                <a:latin typeface="Consolas" panose="020B0609020204030204" pitchFamily="49" charset="0"/>
              </a:rPr>
              <a:t>h1</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id</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"h1"</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class</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"h1"</a:t>
            </a:r>
            <a:r>
              <a:rPr lang="pt-BR" b="0" dirty="0">
                <a:solidFill>
                  <a:srgbClr val="808080"/>
                </a:solidFill>
                <a:effectLst/>
                <a:latin typeface="Consolas" panose="020B0609020204030204" pitchFamily="49" charset="0"/>
              </a:rPr>
              <a:t>&gt;</a:t>
            </a:r>
            <a:r>
              <a:rPr lang="pt-BR" b="0" dirty="0">
                <a:solidFill>
                  <a:srgbClr val="CCCCCC"/>
                </a:solidFill>
                <a:effectLst/>
                <a:latin typeface="Consolas" panose="020B0609020204030204" pitchFamily="49" charset="0"/>
              </a:rPr>
              <a:t>Mi </a:t>
            </a:r>
            <a:r>
              <a:rPr lang="pt-BR" b="0" dirty="0" err="1">
                <a:solidFill>
                  <a:srgbClr val="CCCCCC"/>
                </a:solidFill>
                <a:effectLst/>
                <a:latin typeface="Consolas" panose="020B0609020204030204" pitchFamily="49" charset="0"/>
              </a:rPr>
              <a:t>primerito</a:t>
            </a:r>
            <a:r>
              <a:rPr lang="pt-BR" b="0" dirty="0">
                <a:solidFill>
                  <a:srgbClr val="CCCCCC"/>
                </a:solidFill>
                <a:effectLst/>
                <a:latin typeface="Consolas" panose="020B0609020204030204" pitchFamily="49" charset="0"/>
              </a:rPr>
              <a:t> </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span</a:t>
            </a:r>
            <a:r>
              <a:rPr lang="pt-BR" b="0" dirty="0">
                <a:solidFill>
                  <a:srgbClr val="808080"/>
                </a:solidFill>
                <a:effectLst/>
                <a:latin typeface="Consolas" panose="020B0609020204030204" pitchFamily="49" charset="0"/>
              </a:rPr>
              <a:t>&gt;</a:t>
            </a:r>
            <a:r>
              <a:rPr lang="pt-BR" b="0" dirty="0">
                <a:solidFill>
                  <a:srgbClr val="CCCCCC"/>
                </a:solidFill>
                <a:effectLst/>
                <a:latin typeface="Consolas" panose="020B0609020204030204" pitchFamily="49" charset="0"/>
              </a:rPr>
              <a:t>HEADER</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span</a:t>
            </a:r>
            <a:r>
              <a:rPr lang="pt-BR" b="0" dirty="0">
                <a:solidFill>
                  <a:srgbClr val="808080"/>
                </a:solidFill>
                <a:effectLst/>
                <a:latin typeface="Consolas" panose="020B0609020204030204" pitchFamily="49" charset="0"/>
              </a:rPr>
              <a:t>&gt;&lt;/</a:t>
            </a:r>
            <a:r>
              <a:rPr lang="pt-BR" dirty="0">
                <a:solidFill>
                  <a:srgbClr val="569CD6"/>
                </a:solidFill>
                <a:latin typeface="Consolas" panose="020B0609020204030204" pitchFamily="49" charset="0"/>
              </a:rPr>
              <a:t>h</a:t>
            </a:r>
            <a:r>
              <a:rPr lang="pt-BR" b="0" dirty="0">
                <a:solidFill>
                  <a:srgbClr val="569CD6"/>
                </a:solidFill>
                <a:effectLst/>
                <a:latin typeface="Consolas" panose="020B0609020204030204" pitchFamily="49" charset="0"/>
              </a:rPr>
              <a:t>1</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p:txBody>
      </p:sp>
      <p:sp>
        <p:nvSpPr>
          <p:cNvPr id="10" name="CuadroTexto 9">
            <a:extLst>
              <a:ext uri="{FF2B5EF4-FFF2-40B4-BE49-F238E27FC236}">
                <a16:creationId xmlns:a16="http://schemas.microsoft.com/office/drawing/2014/main" id="{7C0F1E1C-E8DC-A9D3-11C4-570C46F45B8C}"/>
              </a:ext>
            </a:extLst>
          </p:cNvPr>
          <p:cNvSpPr txBox="1"/>
          <p:nvPr/>
        </p:nvSpPr>
        <p:spPr>
          <a:xfrm>
            <a:off x="5426477" y="3481774"/>
            <a:ext cx="5224508" cy="923330"/>
          </a:xfrm>
          <a:prstGeom prst="rect">
            <a:avLst/>
          </a:prstGeom>
          <a:noFill/>
        </p:spPr>
        <p:txBody>
          <a:bodyPr wrap="square">
            <a:spAutoFit/>
          </a:bodyPr>
          <a:lstStyle/>
          <a:p>
            <a:r>
              <a:rPr lang="es-ES" b="0" dirty="0">
                <a:solidFill>
                  <a:srgbClr val="D7BA7D"/>
                </a:solidFill>
                <a:effectLst/>
                <a:latin typeface="Consolas" panose="020B0609020204030204" pitchFamily="49" charset="0"/>
              </a:rPr>
              <a:t>.h1</a:t>
            </a:r>
            <a:r>
              <a:rPr lang="es-ES" b="0" dirty="0">
                <a:solidFill>
                  <a:srgbClr val="D4D4D4"/>
                </a:solidFill>
                <a:effectLst/>
                <a:latin typeface="Consolas" panose="020B0609020204030204" pitchFamily="49" charset="0"/>
              </a:rPr>
              <a:t>{</a:t>
            </a:r>
            <a:endParaRPr lang="es-ES" dirty="0">
              <a:solidFill>
                <a:srgbClr val="CCCCCC"/>
              </a:solidFill>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9CDCFE"/>
                </a:solidFill>
                <a:effectLst/>
                <a:latin typeface="Consolas" panose="020B0609020204030204" pitchFamily="49" charset="0"/>
              </a:rPr>
              <a:t>color</a:t>
            </a:r>
            <a:r>
              <a:rPr lang="es-ES" b="0" dirty="0">
                <a:solidFill>
                  <a:srgbClr val="D4D4D4"/>
                </a:solidFill>
                <a:effectLst/>
                <a:latin typeface="Consolas" panose="020B0609020204030204" pitchFamily="49" charset="0"/>
              </a:rPr>
              <a:t>: </a:t>
            </a:r>
            <a:r>
              <a:rPr lang="es-ES" b="0" dirty="0">
                <a:solidFill>
                  <a:srgbClr val="CE9178"/>
                </a:solidFill>
                <a:effectLst/>
                <a:latin typeface="Consolas" panose="020B0609020204030204" pitchFamily="49" charset="0"/>
              </a:rPr>
              <a:t>red</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p:txBody>
      </p:sp>
      <p:pic>
        <p:nvPicPr>
          <p:cNvPr id="12" name="Imagen 11">
            <a:extLst>
              <a:ext uri="{FF2B5EF4-FFF2-40B4-BE49-F238E27FC236}">
                <a16:creationId xmlns:a16="http://schemas.microsoft.com/office/drawing/2014/main" id="{6EC52C92-1BA4-21D6-FD4C-58214996A9B1}"/>
              </a:ext>
            </a:extLst>
          </p:cNvPr>
          <p:cNvPicPr>
            <a:picLocks noChangeAspect="1"/>
          </p:cNvPicPr>
          <p:nvPr/>
        </p:nvPicPr>
        <p:blipFill>
          <a:blip r:embed="rId3"/>
          <a:stretch>
            <a:fillRect/>
          </a:stretch>
        </p:blipFill>
        <p:spPr>
          <a:xfrm>
            <a:off x="3520437" y="4927830"/>
            <a:ext cx="3181794" cy="466790"/>
          </a:xfrm>
          <a:prstGeom prst="rect">
            <a:avLst/>
          </a:prstGeom>
        </p:spPr>
      </p:pic>
      <p:sp>
        <p:nvSpPr>
          <p:cNvPr id="13" name="Flecha: hacia abajo 12">
            <a:extLst>
              <a:ext uri="{FF2B5EF4-FFF2-40B4-BE49-F238E27FC236}">
                <a16:creationId xmlns:a16="http://schemas.microsoft.com/office/drawing/2014/main" id="{A4F459BA-55F1-5690-9066-09CA99772D20}"/>
              </a:ext>
            </a:extLst>
          </p:cNvPr>
          <p:cNvSpPr/>
          <p:nvPr/>
        </p:nvSpPr>
        <p:spPr>
          <a:xfrm>
            <a:off x="4394447" y="4074851"/>
            <a:ext cx="692458" cy="7989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6FB53590-D390-90CA-D4CD-2701AC45AA03}"/>
              </a:ext>
            </a:extLst>
          </p:cNvPr>
          <p:cNvSpPr txBox="1"/>
          <p:nvPr/>
        </p:nvSpPr>
        <p:spPr>
          <a:xfrm>
            <a:off x="5859262" y="2815985"/>
            <a:ext cx="3826276" cy="646331"/>
          </a:xfrm>
          <a:prstGeom prst="rect">
            <a:avLst/>
          </a:prstGeom>
          <a:noFill/>
          <a:ln>
            <a:solidFill>
              <a:schemeClr val="accent1"/>
            </a:solidFill>
          </a:ln>
        </p:spPr>
        <p:txBody>
          <a:bodyPr wrap="square">
            <a:spAutoFit/>
          </a:bodyPr>
          <a:lstStyle/>
          <a:p>
            <a:r>
              <a:rPr lang="es-ES" dirty="0"/>
              <a:t>Ver columna “</a:t>
            </a:r>
            <a:r>
              <a:rPr lang="es-ES" dirty="0" err="1"/>
              <a:t>Inherited</a:t>
            </a:r>
            <a:r>
              <a:rPr lang="es-ES" dirty="0"/>
              <a:t>?”:</a:t>
            </a:r>
          </a:p>
          <a:p>
            <a:r>
              <a:rPr lang="es-ES" dirty="0">
                <a:hlinkClick r:id="rId4"/>
              </a:rPr>
              <a:t>https://www.w3.org/TR/css-2010/#css</a:t>
            </a:r>
            <a:endParaRPr lang="es-ES" dirty="0"/>
          </a:p>
        </p:txBody>
      </p:sp>
    </p:spTree>
    <p:extLst>
      <p:ext uri="{BB962C8B-B14F-4D97-AF65-F5344CB8AC3E}">
        <p14:creationId xmlns:p14="http://schemas.microsoft.com/office/powerpoint/2010/main" val="1405162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Herencia</a:t>
            </a:r>
          </a:p>
        </p:txBody>
      </p:sp>
      <p:sp>
        <p:nvSpPr>
          <p:cNvPr id="3" name="CuadroTexto 2">
            <a:extLst>
              <a:ext uri="{FF2B5EF4-FFF2-40B4-BE49-F238E27FC236}">
                <a16:creationId xmlns:a16="http://schemas.microsoft.com/office/drawing/2014/main" id="{55EC883A-59BD-EDD2-D230-0F3E0F85AC24}"/>
              </a:ext>
            </a:extLst>
          </p:cNvPr>
          <p:cNvSpPr txBox="1"/>
          <p:nvPr/>
        </p:nvSpPr>
        <p:spPr>
          <a:xfrm>
            <a:off x="105509" y="1415561"/>
            <a:ext cx="7005506" cy="923330"/>
          </a:xfrm>
          <a:prstGeom prst="rect">
            <a:avLst/>
          </a:prstGeom>
          <a:noFill/>
        </p:spPr>
        <p:txBody>
          <a:bodyPr wrap="square" rtlCol="0">
            <a:spAutoFit/>
          </a:bodyPr>
          <a:lstStyle/>
          <a:p>
            <a:r>
              <a:rPr lang="es-ES" b="0">
                <a:solidFill>
                  <a:srgbClr val="808080"/>
                </a:solidFill>
                <a:effectLst/>
                <a:latin typeface="Consolas" panose="020B0609020204030204" pitchFamily="49" charset="0"/>
              </a:rPr>
              <a:t>&lt;</a:t>
            </a:r>
            <a:r>
              <a:rPr lang="es-ES" b="0">
                <a:solidFill>
                  <a:srgbClr val="569CD6"/>
                </a:solidFill>
                <a:effectLst/>
                <a:latin typeface="Consolas" panose="020B0609020204030204" pitchFamily="49" charset="0"/>
              </a:rPr>
              <a:t>p</a:t>
            </a:r>
            <a:r>
              <a:rPr lang="es-ES" b="0">
                <a:solidFill>
                  <a:srgbClr val="CCCCCC"/>
                </a:solidFill>
                <a:effectLst/>
                <a:latin typeface="Consolas" panose="020B0609020204030204" pitchFamily="49" charset="0"/>
              </a:rPr>
              <a:t> </a:t>
            </a:r>
            <a:r>
              <a:rPr lang="es-ES" b="0">
                <a:solidFill>
                  <a:srgbClr val="9CDCFE"/>
                </a:solidFill>
                <a:effectLst/>
                <a:latin typeface="Consolas" panose="020B0609020204030204" pitchFamily="49" charset="0"/>
              </a:rPr>
              <a:t>id</a:t>
            </a:r>
            <a:r>
              <a:rPr lang="es-ES" b="0">
                <a:solidFill>
                  <a:srgbClr val="CCCCCC"/>
                </a:solidFill>
                <a:effectLst/>
                <a:latin typeface="Consolas" panose="020B0609020204030204" pitchFamily="49" charset="0"/>
              </a:rPr>
              <a:t>=</a:t>
            </a:r>
            <a:r>
              <a:rPr lang="es-ES" b="0">
                <a:solidFill>
                  <a:srgbClr val="CE9178"/>
                </a:solidFill>
                <a:effectLst/>
                <a:latin typeface="Consolas" panose="020B0609020204030204" pitchFamily="49" charset="0"/>
              </a:rPr>
              <a:t>"p1"</a:t>
            </a:r>
            <a:r>
              <a:rPr lang="es-ES" b="0">
                <a:solidFill>
                  <a:srgbClr val="CCCCCC"/>
                </a:solidFill>
                <a:effectLst/>
                <a:latin typeface="Consolas" panose="020B0609020204030204" pitchFamily="49" charset="0"/>
              </a:rPr>
              <a:t> </a:t>
            </a:r>
            <a:r>
              <a:rPr lang="es-ES" b="0">
                <a:solidFill>
                  <a:srgbClr val="9CDCFE"/>
                </a:solidFill>
                <a:effectLst/>
                <a:latin typeface="Consolas" panose="020B0609020204030204" pitchFamily="49" charset="0"/>
              </a:rPr>
              <a:t>class</a:t>
            </a:r>
            <a:r>
              <a:rPr lang="es-ES" b="0">
                <a:solidFill>
                  <a:srgbClr val="CCCCCC"/>
                </a:solidFill>
                <a:effectLst/>
                <a:latin typeface="Consolas" panose="020B0609020204030204" pitchFamily="49" charset="0"/>
              </a:rPr>
              <a:t>=</a:t>
            </a:r>
            <a:r>
              <a:rPr lang="es-ES" b="0">
                <a:solidFill>
                  <a:srgbClr val="CE9178"/>
                </a:solidFill>
                <a:effectLst/>
                <a:latin typeface="Consolas" panose="020B0609020204030204" pitchFamily="49" charset="0"/>
              </a:rPr>
              <a:t>"p1"</a:t>
            </a:r>
            <a:r>
              <a:rPr lang="es-ES" b="0">
                <a:solidFill>
                  <a:srgbClr val="808080"/>
                </a:solidFill>
                <a:effectLst/>
                <a:latin typeface="Consolas" panose="020B0609020204030204" pitchFamily="49" charset="0"/>
              </a:rPr>
              <a:t>&gt;</a:t>
            </a:r>
            <a:r>
              <a:rPr lang="es-ES" b="0">
                <a:solidFill>
                  <a:srgbClr val="CCCCCC"/>
                </a:solidFill>
                <a:effectLst/>
                <a:latin typeface="Consolas" panose="020B0609020204030204" pitchFamily="49" charset="0"/>
              </a:rPr>
              <a:t> Esto es un parrafo y tiene </a:t>
            </a:r>
            <a:r>
              <a:rPr lang="es-ES" b="0">
                <a:solidFill>
                  <a:srgbClr val="808080"/>
                </a:solidFill>
                <a:effectLst/>
                <a:latin typeface="Consolas" panose="020B0609020204030204" pitchFamily="49" charset="0"/>
              </a:rPr>
              <a:t>&lt;</a:t>
            </a:r>
            <a:r>
              <a:rPr lang="es-ES" b="0">
                <a:solidFill>
                  <a:srgbClr val="569CD6"/>
                </a:solidFill>
                <a:effectLst/>
                <a:latin typeface="Consolas" panose="020B0609020204030204" pitchFamily="49" charset="0"/>
              </a:rPr>
              <a:t>a</a:t>
            </a:r>
            <a:r>
              <a:rPr lang="es-ES" b="0">
                <a:solidFill>
                  <a:srgbClr val="CCCCCC"/>
                </a:solidFill>
                <a:effectLst/>
                <a:latin typeface="Consolas" panose="020B0609020204030204" pitchFamily="49" charset="0"/>
              </a:rPr>
              <a:t> </a:t>
            </a:r>
            <a:r>
              <a:rPr lang="es-ES" b="0">
                <a:solidFill>
                  <a:srgbClr val="9CDCFE"/>
                </a:solidFill>
                <a:effectLst/>
                <a:latin typeface="Consolas" panose="020B0609020204030204" pitchFamily="49" charset="0"/>
              </a:rPr>
              <a:t>class</a:t>
            </a:r>
            <a:r>
              <a:rPr lang="es-ES" b="0">
                <a:solidFill>
                  <a:srgbClr val="CCCCCC"/>
                </a:solidFill>
                <a:effectLst/>
                <a:latin typeface="Consolas" panose="020B0609020204030204" pitchFamily="49" charset="0"/>
              </a:rPr>
              <a:t>=</a:t>
            </a:r>
            <a:r>
              <a:rPr lang="es-ES" b="0">
                <a:solidFill>
                  <a:srgbClr val="CE9178"/>
                </a:solidFill>
                <a:effectLst/>
                <a:latin typeface="Consolas" panose="020B0609020204030204" pitchFamily="49" charset="0"/>
              </a:rPr>
              <a:t>"enlace"</a:t>
            </a:r>
            <a:r>
              <a:rPr lang="es-ES" b="0">
                <a:solidFill>
                  <a:srgbClr val="CCCCCC"/>
                </a:solidFill>
                <a:effectLst/>
                <a:latin typeface="Consolas" panose="020B0609020204030204" pitchFamily="49" charset="0"/>
              </a:rPr>
              <a:t> </a:t>
            </a:r>
            <a:r>
              <a:rPr lang="es-ES" b="0">
                <a:solidFill>
                  <a:srgbClr val="9CDCFE"/>
                </a:solidFill>
                <a:effectLst/>
                <a:latin typeface="Consolas" panose="020B0609020204030204" pitchFamily="49" charset="0"/>
              </a:rPr>
              <a:t>href</a:t>
            </a:r>
            <a:r>
              <a:rPr lang="es-ES" b="0">
                <a:solidFill>
                  <a:srgbClr val="CCCCCC"/>
                </a:solidFill>
                <a:effectLst/>
                <a:latin typeface="Consolas" panose="020B0609020204030204" pitchFamily="49" charset="0"/>
              </a:rPr>
              <a:t>=</a:t>
            </a:r>
            <a:r>
              <a:rPr lang="es-ES" b="0">
                <a:solidFill>
                  <a:srgbClr val="CE9178"/>
                </a:solidFill>
                <a:effectLst/>
                <a:latin typeface="Consolas" panose="020B0609020204030204" pitchFamily="49" charset="0"/>
              </a:rPr>
              <a:t>"#"</a:t>
            </a:r>
            <a:r>
              <a:rPr lang="es-ES" b="0">
                <a:solidFill>
                  <a:srgbClr val="808080"/>
                </a:solidFill>
                <a:effectLst/>
                <a:latin typeface="Consolas" panose="020B0609020204030204" pitchFamily="49" charset="0"/>
              </a:rPr>
              <a:t>&gt;</a:t>
            </a:r>
            <a:r>
              <a:rPr lang="es-ES" b="0">
                <a:solidFill>
                  <a:srgbClr val="CCCCCC"/>
                </a:solidFill>
                <a:effectLst/>
                <a:latin typeface="Consolas" panose="020B0609020204030204" pitchFamily="49" charset="0"/>
              </a:rPr>
              <a:t>UN ENLACE</a:t>
            </a:r>
            <a:r>
              <a:rPr lang="es-ES" b="0">
                <a:solidFill>
                  <a:srgbClr val="808080"/>
                </a:solidFill>
                <a:effectLst/>
                <a:latin typeface="Consolas" panose="020B0609020204030204" pitchFamily="49" charset="0"/>
              </a:rPr>
              <a:t>&lt;/</a:t>
            </a:r>
            <a:r>
              <a:rPr lang="es-ES" b="0">
                <a:solidFill>
                  <a:srgbClr val="569CD6"/>
                </a:solidFill>
                <a:effectLst/>
                <a:latin typeface="Consolas" panose="020B0609020204030204" pitchFamily="49" charset="0"/>
              </a:rPr>
              <a:t>a</a:t>
            </a:r>
            <a:r>
              <a:rPr lang="es-ES" b="0">
                <a:solidFill>
                  <a:srgbClr val="808080"/>
                </a:solidFill>
                <a:effectLst/>
                <a:latin typeface="Consolas" panose="020B0609020204030204" pitchFamily="49" charset="0"/>
              </a:rPr>
              <a:t>&gt;</a:t>
            </a:r>
            <a:r>
              <a:rPr lang="es-ES" b="0">
                <a:solidFill>
                  <a:srgbClr val="CCCCCC"/>
                </a:solidFill>
                <a:effectLst/>
                <a:latin typeface="Consolas" panose="020B0609020204030204" pitchFamily="49" charset="0"/>
              </a:rPr>
              <a:t>  entre medias</a:t>
            </a:r>
            <a:r>
              <a:rPr lang="es-ES" b="0">
                <a:solidFill>
                  <a:srgbClr val="808080"/>
                </a:solidFill>
                <a:effectLst/>
                <a:latin typeface="Consolas" panose="020B0609020204030204" pitchFamily="49" charset="0"/>
              </a:rPr>
              <a:t>&lt;/</a:t>
            </a:r>
            <a:r>
              <a:rPr lang="es-ES" b="0">
                <a:solidFill>
                  <a:srgbClr val="569CD6"/>
                </a:solidFill>
                <a:effectLst/>
                <a:latin typeface="Consolas" panose="020B0609020204030204" pitchFamily="49" charset="0"/>
              </a:rPr>
              <a:t>p</a:t>
            </a:r>
            <a:r>
              <a:rPr lang="es-ES" b="0">
                <a:solidFill>
                  <a:srgbClr val="808080"/>
                </a:solidFill>
                <a:effectLst/>
                <a:latin typeface="Consolas" panose="020B0609020204030204" pitchFamily="49" charset="0"/>
              </a:rPr>
              <a:t>&gt;</a:t>
            </a:r>
            <a:endParaRPr lang="es-ES" b="0" dirty="0">
              <a:solidFill>
                <a:srgbClr val="CCCCCC"/>
              </a:solidFill>
              <a:effectLst/>
              <a:latin typeface="Consolas" panose="020B0609020204030204" pitchFamily="49" charset="0"/>
            </a:endParaRPr>
          </a:p>
        </p:txBody>
      </p:sp>
      <p:sp>
        <p:nvSpPr>
          <p:cNvPr id="5" name="CuadroTexto 4">
            <a:extLst>
              <a:ext uri="{FF2B5EF4-FFF2-40B4-BE49-F238E27FC236}">
                <a16:creationId xmlns:a16="http://schemas.microsoft.com/office/drawing/2014/main" id="{C4712156-8E60-91F1-3473-E224628C38E6}"/>
              </a:ext>
            </a:extLst>
          </p:cNvPr>
          <p:cNvSpPr txBox="1"/>
          <p:nvPr/>
        </p:nvSpPr>
        <p:spPr>
          <a:xfrm>
            <a:off x="7617040" y="1376012"/>
            <a:ext cx="2325950" cy="923330"/>
          </a:xfrm>
          <a:prstGeom prst="rect">
            <a:avLst/>
          </a:prstGeom>
          <a:noFill/>
        </p:spPr>
        <p:txBody>
          <a:bodyPr wrap="square">
            <a:spAutoFit/>
          </a:bodyPr>
          <a:lstStyle/>
          <a:p>
            <a:r>
              <a:rPr lang="es-ES" b="0" dirty="0">
                <a:solidFill>
                  <a:srgbClr val="D7BA7D"/>
                </a:solidFill>
                <a:effectLst/>
                <a:latin typeface="Consolas" panose="020B0609020204030204" pitchFamily="49" charset="0"/>
              </a:rPr>
              <a:t>.p1</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err="1">
                <a:solidFill>
                  <a:srgbClr val="9CDCFE"/>
                </a:solidFill>
                <a:effectLst/>
                <a:latin typeface="Consolas" panose="020B0609020204030204" pitchFamily="49" charset="0"/>
              </a:rPr>
              <a:t>color</a:t>
            </a:r>
            <a:r>
              <a:rPr lang="es-ES" b="0" dirty="0" err="1">
                <a:solidFill>
                  <a:srgbClr val="D4D4D4"/>
                </a:solidFill>
                <a:effectLst/>
                <a:latin typeface="Consolas" panose="020B0609020204030204" pitchFamily="49" charset="0"/>
              </a:rPr>
              <a:t>:</a:t>
            </a:r>
            <a:r>
              <a:rPr lang="es-ES" b="0" dirty="0" err="1">
                <a:solidFill>
                  <a:srgbClr val="CE9178"/>
                </a:solidFill>
                <a:effectLst/>
                <a:latin typeface="Consolas" panose="020B0609020204030204" pitchFamily="49" charset="0"/>
              </a:rPr>
              <a:t>green</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p:txBody>
      </p:sp>
      <p:pic>
        <p:nvPicPr>
          <p:cNvPr id="9" name="Imagen 8">
            <a:extLst>
              <a:ext uri="{FF2B5EF4-FFF2-40B4-BE49-F238E27FC236}">
                <a16:creationId xmlns:a16="http://schemas.microsoft.com/office/drawing/2014/main" id="{FED39043-B69C-A7BA-014D-8074927272DE}"/>
              </a:ext>
            </a:extLst>
          </p:cNvPr>
          <p:cNvPicPr>
            <a:picLocks noChangeAspect="1"/>
          </p:cNvPicPr>
          <p:nvPr/>
        </p:nvPicPr>
        <p:blipFill>
          <a:blip r:embed="rId3"/>
          <a:stretch>
            <a:fillRect/>
          </a:stretch>
        </p:blipFill>
        <p:spPr>
          <a:xfrm>
            <a:off x="2831667" y="3106387"/>
            <a:ext cx="3334215" cy="381053"/>
          </a:xfrm>
          <a:prstGeom prst="rect">
            <a:avLst/>
          </a:prstGeom>
        </p:spPr>
      </p:pic>
      <p:sp>
        <p:nvSpPr>
          <p:cNvPr id="11" name="Flecha: hacia abajo 10">
            <a:extLst>
              <a:ext uri="{FF2B5EF4-FFF2-40B4-BE49-F238E27FC236}">
                <a16:creationId xmlns:a16="http://schemas.microsoft.com/office/drawing/2014/main" id="{95DF0E41-0994-C400-9BCD-8A6FCB1C8ABA}"/>
              </a:ext>
            </a:extLst>
          </p:cNvPr>
          <p:cNvSpPr/>
          <p:nvPr/>
        </p:nvSpPr>
        <p:spPr>
          <a:xfrm>
            <a:off x="4154750" y="2050742"/>
            <a:ext cx="985421" cy="8966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CC6501EA-9F4E-B473-D3BF-C8730E9C555B}"/>
              </a:ext>
            </a:extLst>
          </p:cNvPr>
          <p:cNvSpPr txBox="1"/>
          <p:nvPr/>
        </p:nvSpPr>
        <p:spPr>
          <a:xfrm>
            <a:off x="239697" y="3586579"/>
            <a:ext cx="8787085" cy="1200329"/>
          </a:xfrm>
          <a:prstGeom prst="rect">
            <a:avLst/>
          </a:prstGeom>
          <a:noFill/>
        </p:spPr>
        <p:txBody>
          <a:bodyPr wrap="none" rtlCol="0">
            <a:spAutoFit/>
          </a:bodyPr>
          <a:lstStyle/>
          <a:p>
            <a:r>
              <a:rPr lang="es-ES" dirty="0"/>
              <a:t>La herencia no siempre se aplica. ¿Cómo podemos solucionar esto? </a:t>
            </a:r>
          </a:p>
          <a:p>
            <a:pPr marL="342900" indent="-342900">
              <a:buAutoNum type="arabicPeriod"/>
            </a:pPr>
            <a:r>
              <a:rPr lang="es-ES" dirty="0"/>
              <a:t>Dándole el mismo estilo en su clase. Esto puede suponer un problema y no es óptimo si </a:t>
            </a:r>
          </a:p>
          <a:p>
            <a:r>
              <a:rPr lang="es-ES" dirty="0"/>
              <a:t>       tenemos muchos tipos de texto.</a:t>
            </a:r>
          </a:p>
          <a:p>
            <a:r>
              <a:rPr lang="es-ES" dirty="0"/>
              <a:t>2. Usando el valor </a:t>
            </a:r>
            <a:r>
              <a:rPr lang="es-ES" dirty="0" err="1"/>
              <a:t>inherit</a:t>
            </a:r>
            <a:r>
              <a:rPr lang="es-ES" dirty="0"/>
              <a:t> para forzar la herencia</a:t>
            </a:r>
          </a:p>
        </p:txBody>
      </p:sp>
      <p:sp>
        <p:nvSpPr>
          <p:cNvPr id="15" name="CuadroTexto 14">
            <a:extLst>
              <a:ext uri="{FF2B5EF4-FFF2-40B4-BE49-F238E27FC236}">
                <a16:creationId xmlns:a16="http://schemas.microsoft.com/office/drawing/2014/main" id="{C5A36A84-A545-FCE8-7936-808B61C8BD24}"/>
              </a:ext>
            </a:extLst>
          </p:cNvPr>
          <p:cNvSpPr txBox="1"/>
          <p:nvPr/>
        </p:nvSpPr>
        <p:spPr>
          <a:xfrm>
            <a:off x="6232124" y="4207990"/>
            <a:ext cx="3551068" cy="923330"/>
          </a:xfrm>
          <a:prstGeom prst="rect">
            <a:avLst/>
          </a:prstGeom>
          <a:noFill/>
        </p:spPr>
        <p:txBody>
          <a:bodyPr wrap="square">
            <a:spAutoFit/>
          </a:bodyPr>
          <a:lstStyle/>
          <a:p>
            <a:r>
              <a:rPr lang="es-ES" b="0" dirty="0">
                <a:solidFill>
                  <a:srgbClr val="D4D4D4"/>
                </a:solidFill>
                <a:effectLst/>
                <a:latin typeface="Consolas" panose="020B0609020204030204" pitchFamily="49" charset="0"/>
              </a:rPr>
              <a:t> </a:t>
            </a:r>
            <a:r>
              <a:rPr lang="es-ES" b="0" dirty="0">
                <a:solidFill>
                  <a:srgbClr val="D7BA7D"/>
                </a:solidFill>
                <a:effectLst/>
                <a:latin typeface="Consolas" panose="020B0609020204030204" pitchFamily="49" charset="0"/>
              </a:rPr>
              <a:t>.enlace</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r>
              <a:rPr lang="es-ES" b="0" dirty="0">
                <a:solidFill>
                  <a:srgbClr val="9CDCFE"/>
                </a:solidFill>
                <a:effectLst/>
                <a:latin typeface="Consolas" panose="020B0609020204030204" pitchFamily="49" charset="0"/>
              </a:rPr>
              <a:t>color</a:t>
            </a:r>
            <a:r>
              <a:rPr lang="es-ES" b="0" dirty="0">
                <a:solidFill>
                  <a:srgbClr val="D4D4D4"/>
                </a:solidFill>
                <a:effectLst/>
                <a:latin typeface="Consolas" panose="020B0609020204030204" pitchFamily="49" charset="0"/>
              </a:rPr>
              <a:t>: </a:t>
            </a:r>
            <a:r>
              <a:rPr lang="es-ES" b="0" dirty="0" err="1">
                <a:solidFill>
                  <a:srgbClr val="CE9178"/>
                </a:solidFill>
                <a:effectLst/>
                <a:latin typeface="Consolas" panose="020B0609020204030204" pitchFamily="49" charset="0"/>
              </a:rPr>
              <a:t>inherit</a:t>
            </a:r>
            <a:r>
              <a:rPr lang="es-ES" b="0" dirty="0">
                <a:solidFill>
                  <a:srgbClr val="D4D4D4"/>
                </a:solidFill>
                <a:effectLst/>
                <a:latin typeface="Consolas" panose="020B0609020204030204" pitchFamily="49" charset="0"/>
              </a:rPr>
              <a:t>;</a:t>
            </a:r>
            <a:endParaRPr lang="es-ES" b="0" dirty="0">
              <a:solidFill>
                <a:srgbClr val="CCCCCC"/>
              </a:solidFill>
              <a:effectLst/>
              <a:latin typeface="Consolas" panose="020B0609020204030204" pitchFamily="49" charset="0"/>
            </a:endParaRPr>
          </a:p>
          <a:p>
            <a:r>
              <a:rPr lang="es-ES" b="0" dirty="0">
                <a:solidFill>
                  <a:srgbClr val="D4D4D4"/>
                </a:solidFill>
                <a:effectLst/>
                <a:latin typeface="Consolas" panose="020B0609020204030204" pitchFamily="49" charset="0"/>
              </a:rPr>
              <a:t> }</a:t>
            </a:r>
            <a:endParaRPr lang="es-ES" b="0" dirty="0">
              <a:solidFill>
                <a:srgbClr val="CCCCCC"/>
              </a:solidFill>
              <a:effectLst/>
              <a:latin typeface="Consolas" panose="020B0609020204030204" pitchFamily="49" charset="0"/>
            </a:endParaRPr>
          </a:p>
        </p:txBody>
      </p:sp>
      <p:sp>
        <p:nvSpPr>
          <p:cNvPr id="16" name="Flecha: a la derecha 15">
            <a:extLst>
              <a:ext uri="{FF2B5EF4-FFF2-40B4-BE49-F238E27FC236}">
                <a16:creationId xmlns:a16="http://schemas.microsoft.com/office/drawing/2014/main" id="{F4C27E53-9304-445E-CB6B-50DF2602E6E8}"/>
              </a:ext>
            </a:extLst>
          </p:cNvPr>
          <p:cNvSpPr/>
          <p:nvPr/>
        </p:nvSpPr>
        <p:spPr>
          <a:xfrm>
            <a:off x="5122416" y="4483223"/>
            <a:ext cx="1003176" cy="319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772703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Herencia</a:t>
            </a:r>
          </a:p>
        </p:txBody>
      </p:sp>
      <p:sp>
        <p:nvSpPr>
          <p:cNvPr id="4" name="CuadroTexto 3">
            <a:extLst>
              <a:ext uri="{FF2B5EF4-FFF2-40B4-BE49-F238E27FC236}">
                <a16:creationId xmlns:a16="http://schemas.microsoft.com/office/drawing/2014/main" id="{1C2731F1-B428-35CE-FC85-EE859F872A09}"/>
              </a:ext>
            </a:extLst>
          </p:cNvPr>
          <p:cNvSpPr txBox="1"/>
          <p:nvPr/>
        </p:nvSpPr>
        <p:spPr>
          <a:xfrm>
            <a:off x="701336" y="1740023"/>
            <a:ext cx="8778237" cy="369332"/>
          </a:xfrm>
          <a:prstGeom prst="rect">
            <a:avLst/>
          </a:prstGeom>
          <a:noFill/>
        </p:spPr>
        <p:txBody>
          <a:bodyPr wrap="none" rtlCol="0">
            <a:spAutoFit/>
          </a:bodyPr>
          <a:lstStyle/>
          <a:p>
            <a:r>
              <a:rPr lang="es-ES" dirty="0"/>
              <a:t>También tenemos una palabra para evitar que se produzca la herencia. Esta palabra es </a:t>
            </a:r>
            <a:r>
              <a:rPr lang="es-ES" dirty="0" err="1"/>
              <a:t>initial</a:t>
            </a:r>
            <a:endParaRPr lang="es-ES" dirty="0"/>
          </a:p>
        </p:txBody>
      </p:sp>
      <p:sp>
        <p:nvSpPr>
          <p:cNvPr id="10" name="CuadroTexto 9">
            <a:extLst>
              <a:ext uri="{FF2B5EF4-FFF2-40B4-BE49-F238E27FC236}">
                <a16:creationId xmlns:a16="http://schemas.microsoft.com/office/drawing/2014/main" id="{6300E67F-84E9-4957-7174-E15802255CA8}"/>
              </a:ext>
            </a:extLst>
          </p:cNvPr>
          <p:cNvSpPr txBox="1"/>
          <p:nvPr/>
        </p:nvSpPr>
        <p:spPr>
          <a:xfrm>
            <a:off x="665825" y="2068315"/>
            <a:ext cx="5042516" cy="3139321"/>
          </a:xfrm>
          <a:prstGeom prst="rect">
            <a:avLst/>
          </a:prstGeom>
          <a:noFill/>
        </p:spPr>
        <p:txBody>
          <a:bodyPr wrap="square">
            <a:spAutoFit/>
          </a:bodyPr>
          <a:lstStyle/>
          <a:p>
            <a:r>
              <a:rPr lang="es-ES" sz="1100" b="0" dirty="0">
                <a:solidFill>
                  <a:srgbClr val="808080"/>
                </a:solidFill>
                <a:effectLst/>
                <a:latin typeface="Consolas" panose="020B0609020204030204" pitchFamily="49" charset="0"/>
              </a:rPr>
              <a:t>    &lt;</a:t>
            </a:r>
            <a:r>
              <a:rPr lang="es-ES" sz="1100" b="0" dirty="0" err="1">
                <a:solidFill>
                  <a:srgbClr val="569CD6"/>
                </a:solidFill>
                <a:effectLst/>
                <a:latin typeface="Consolas" panose="020B0609020204030204" pitchFamily="49" charset="0"/>
              </a:rPr>
              <a:t>style</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r>
              <a:rPr lang="es-ES" sz="1100" b="0" dirty="0">
                <a:solidFill>
                  <a:srgbClr val="D7BA7D"/>
                </a:solidFill>
                <a:effectLst/>
                <a:latin typeface="Consolas" panose="020B0609020204030204" pitchFamily="49" charset="0"/>
              </a:rPr>
              <a:t>.lista</a:t>
            </a:r>
            <a:r>
              <a:rPr lang="es-ES" sz="1100" b="0" dirty="0">
                <a:solidFill>
                  <a:srgbClr val="D4D4D4"/>
                </a:solidFill>
                <a:effectLst/>
                <a:latin typeface="Consolas" panose="020B0609020204030204" pitchFamily="49" charset="0"/>
              </a:rPr>
              <a:t>{</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color</a:t>
            </a:r>
            <a:r>
              <a:rPr lang="es-ES" sz="1100" b="0" dirty="0" err="1">
                <a:solidFill>
                  <a:srgbClr val="D4D4D4"/>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red</a:t>
            </a:r>
            <a:r>
              <a:rPr lang="es-ES" sz="1100" b="0" dirty="0">
                <a:solidFill>
                  <a:srgbClr val="D4D4D4"/>
                </a:solidFill>
                <a:effectLst/>
                <a:latin typeface="Consolas" panose="020B0609020204030204" pitchFamily="49" charset="0"/>
              </a:rPr>
              <a:t>;</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r>
              <a:rPr lang="es-ES" sz="1100" b="0" dirty="0">
                <a:solidFill>
                  <a:srgbClr val="D7BA7D"/>
                </a:solidFill>
                <a:effectLst/>
                <a:latin typeface="Consolas" panose="020B0609020204030204" pitchFamily="49" charset="0"/>
              </a:rPr>
              <a:t>.</a:t>
            </a:r>
            <a:r>
              <a:rPr lang="es-ES" sz="1100" b="0" dirty="0" err="1">
                <a:solidFill>
                  <a:srgbClr val="D7BA7D"/>
                </a:solidFill>
                <a:effectLst/>
                <a:latin typeface="Consolas" panose="020B0609020204030204" pitchFamily="49" charset="0"/>
              </a:rPr>
              <a:t>item</a:t>
            </a:r>
            <a:r>
              <a:rPr lang="es-ES" sz="1100" b="0" dirty="0">
                <a:solidFill>
                  <a:srgbClr val="D7BA7D"/>
                </a:solidFill>
                <a:effectLst/>
                <a:latin typeface="Consolas" panose="020B0609020204030204" pitchFamily="49" charset="0"/>
              </a:rPr>
              <a:t>-extra</a:t>
            </a:r>
            <a:r>
              <a:rPr lang="es-ES" sz="1100" b="0" dirty="0">
                <a:solidFill>
                  <a:srgbClr val="D4D4D4"/>
                </a:solidFill>
                <a:effectLst/>
                <a:latin typeface="Consolas" panose="020B0609020204030204" pitchFamily="49" charset="0"/>
              </a:rPr>
              <a:t>{</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r>
              <a:rPr lang="es-ES" sz="1100" b="0" dirty="0">
                <a:solidFill>
                  <a:srgbClr val="9CDCFE"/>
                </a:solidFill>
                <a:effectLst/>
                <a:latin typeface="Consolas" panose="020B0609020204030204" pitchFamily="49" charset="0"/>
              </a:rPr>
              <a:t>color</a:t>
            </a:r>
            <a:r>
              <a:rPr lang="es-ES" sz="1100" b="0" dirty="0">
                <a:solidFill>
                  <a:srgbClr val="D4D4D4"/>
                </a:solidFill>
                <a:effectLst/>
                <a:latin typeface="Consolas" panose="020B0609020204030204" pitchFamily="49" charset="0"/>
              </a:rPr>
              <a:t>: </a:t>
            </a:r>
            <a:r>
              <a:rPr lang="es-ES" sz="1100" b="0" dirty="0" err="1">
                <a:solidFill>
                  <a:srgbClr val="CE9178"/>
                </a:solidFill>
                <a:effectLst/>
                <a:latin typeface="Consolas" panose="020B0609020204030204" pitchFamily="49" charset="0"/>
              </a:rPr>
              <a:t>initial</a:t>
            </a:r>
            <a:r>
              <a:rPr lang="es-ES" sz="1100" b="0" dirty="0">
                <a:solidFill>
                  <a:srgbClr val="D4D4D4"/>
                </a:solidFill>
                <a:effectLst/>
                <a:latin typeface="Consolas" panose="020B0609020204030204" pitchFamily="49" charset="0"/>
              </a:rPr>
              <a:t>;</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endParaRPr lang="es-ES" sz="1100" b="0" dirty="0">
              <a:solidFill>
                <a:srgbClr val="CCCCCC"/>
              </a:solidFill>
              <a:effectLst/>
              <a:latin typeface="Consolas" panose="020B0609020204030204" pitchFamily="49" charset="0"/>
            </a:endParaRPr>
          </a:p>
          <a:p>
            <a:r>
              <a:rPr lang="es-ES" sz="1100" b="0" dirty="0">
                <a:solidFill>
                  <a:srgbClr val="D4D4D4"/>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style</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a:solidFill>
                  <a:srgbClr val="569CD6"/>
                </a:solidFill>
                <a:effectLst/>
                <a:latin typeface="Consolas" panose="020B0609020204030204" pitchFamily="49" charset="0"/>
              </a:rPr>
              <a:t>head</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body</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ul</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"lista"</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item</a:t>
            </a:r>
            <a:r>
              <a:rPr lang="es-ES" sz="1100" b="0" dirty="0">
                <a:solidFill>
                  <a:srgbClr val="CE9178"/>
                </a:solidFill>
                <a:effectLst/>
                <a:latin typeface="Consolas" panose="020B0609020204030204" pitchFamily="49" charset="0"/>
              </a:rPr>
              <a:t>"</a:t>
            </a:r>
            <a:r>
              <a:rPr lang="es-ES" sz="1100" b="0" dirty="0">
                <a:solidFill>
                  <a:srgbClr val="808080"/>
                </a:solidFill>
                <a:effectLst/>
                <a:latin typeface="Consolas" panose="020B0609020204030204" pitchFamily="49" charset="0"/>
              </a:rPr>
              <a:t>&gt;</a:t>
            </a:r>
            <a:r>
              <a:rPr lang="es-ES" sz="1100" b="0" dirty="0">
                <a:solidFill>
                  <a:srgbClr val="CCCCCC"/>
                </a:solidFill>
                <a:effectLst/>
                <a:latin typeface="Consolas" panose="020B0609020204030204" pitchFamily="49" charset="0"/>
              </a:rPr>
              <a:t>Elemento 1</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item</a:t>
            </a:r>
            <a:r>
              <a:rPr lang="es-ES" sz="1100" b="0" dirty="0">
                <a:solidFill>
                  <a:srgbClr val="CE9178"/>
                </a:solidFill>
                <a:effectLst/>
                <a:latin typeface="Consolas" panose="020B0609020204030204" pitchFamily="49" charset="0"/>
              </a:rPr>
              <a:t>"</a:t>
            </a:r>
            <a:r>
              <a:rPr lang="es-ES" sz="1100" b="0" dirty="0">
                <a:solidFill>
                  <a:srgbClr val="808080"/>
                </a:solidFill>
                <a:effectLst/>
                <a:latin typeface="Consolas" panose="020B0609020204030204" pitchFamily="49" charset="0"/>
              </a:rPr>
              <a:t>&gt;</a:t>
            </a:r>
            <a:r>
              <a:rPr lang="es-ES" sz="1100" b="0" dirty="0">
                <a:solidFill>
                  <a:srgbClr val="CCCCCC"/>
                </a:solidFill>
                <a:effectLst/>
                <a:latin typeface="Consolas" panose="020B0609020204030204" pitchFamily="49" charset="0"/>
              </a:rPr>
              <a:t>Elemento 2</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item</a:t>
            </a:r>
            <a:r>
              <a:rPr lang="es-ES" sz="1100" b="0" dirty="0">
                <a:solidFill>
                  <a:srgbClr val="CE9178"/>
                </a:solidFill>
                <a:effectLst/>
                <a:latin typeface="Consolas" panose="020B0609020204030204" pitchFamily="49" charset="0"/>
              </a:rPr>
              <a:t>"</a:t>
            </a:r>
            <a:r>
              <a:rPr lang="es-ES" sz="1100" b="0" dirty="0">
                <a:solidFill>
                  <a:srgbClr val="808080"/>
                </a:solidFill>
                <a:effectLst/>
                <a:latin typeface="Consolas" panose="020B0609020204030204" pitchFamily="49" charset="0"/>
              </a:rPr>
              <a:t>&gt;</a:t>
            </a:r>
            <a:r>
              <a:rPr lang="es-ES" sz="1100" b="0" dirty="0">
                <a:solidFill>
                  <a:srgbClr val="CCCCCC"/>
                </a:solidFill>
                <a:effectLst/>
                <a:latin typeface="Consolas" panose="020B0609020204030204" pitchFamily="49" charset="0"/>
              </a:rPr>
              <a:t>Elemento 3</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item</a:t>
            </a:r>
            <a:r>
              <a:rPr lang="es-ES" sz="1100" b="0" dirty="0">
                <a:solidFill>
                  <a:srgbClr val="CE9178"/>
                </a:solidFill>
                <a:effectLst/>
                <a:latin typeface="Consolas" panose="020B0609020204030204" pitchFamily="49" charset="0"/>
              </a:rPr>
              <a:t>"</a:t>
            </a:r>
            <a:r>
              <a:rPr lang="es-ES" sz="1100" b="0" dirty="0">
                <a:solidFill>
                  <a:srgbClr val="808080"/>
                </a:solidFill>
                <a:effectLst/>
                <a:latin typeface="Consolas" panose="020B0609020204030204" pitchFamily="49" charset="0"/>
              </a:rPr>
              <a:t>&gt;</a:t>
            </a:r>
            <a:r>
              <a:rPr lang="es-ES" sz="1100" b="0" dirty="0">
                <a:solidFill>
                  <a:srgbClr val="CCCCCC"/>
                </a:solidFill>
                <a:effectLst/>
                <a:latin typeface="Consolas" panose="020B0609020204030204" pitchFamily="49" charset="0"/>
              </a:rPr>
              <a:t>Elemento 4</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CCCCCC"/>
                </a:solidFill>
                <a:effectLst/>
                <a:latin typeface="Consolas" panose="020B0609020204030204" pitchFamily="49" charset="0"/>
              </a:rPr>
              <a:t> </a:t>
            </a:r>
            <a:r>
              <a:rPr lang="es-ES" sz="1100" b="0" dirty="0" err="1">
                <a:solidFill>
                  <a:srgbClr val="9CDCFE"/>
                </a:solidFill>
                <a:effectLst/>
                <a:latin typeface="Consolas" panose="020B0609020204030204" pitchFamily="49" charset="0"/>
              </a:rPr>
              <a:t>class</a:t>
            </a:r>
            <a:r>
              <a:rPr lang="es-ES" sz="1100" b="0" dirty="0">
                <a:solidFill>
                  <a:srgbClr val="CCCCCC"/>
                </a:solidFill>
                <a:effectLst/>
                <a:latin typeface="Consolas" panose="020B0609020204030204" pitchFamily="49" charset="0"/>
              </a:rPr>
              <a:t>=</a:t>
            </a:r>
            <a:r>
              <a:rPr lang="es-ES" sz="1100" b="0" dirty="0">
                <a:solidFill>
                  <a:srgbClr val="CE9178"/>
                </a:solidFill>
                <a:effectLst/>
                <a:latin typeface="Consolas" panose="020B0609020204030204" pitchFamily="49" charset="0"/>
              </a:rPr>
              <a:t>"</a:t>
            </a:r>
            <a:r>
              <a:rPr lang="es-ES" sz="1100" b="0" dirty="0" err="1">
                <a:solidFill>
                  <a:srgbClr val="CE9178"/>
                </a:solidFill>
                <a:effectLst/>
                <a:latin typeface="Consolas" panose="020B0609020204030204" pitchFamily="49" charset="0"/>
              </a:rPr>
              <a:t>item</a:t>
            </a:r>
            <a:r>
              <a:rPr lang="es-ES" sz="1100" b="0" dirty="0">
                <a:solidFill>
                  <a:srgbClr val="CE9178"/>
                </a:solidFill>
                <a:effectLst/>
                <a:latin typeface="Consolas" panose="020B0609020204030204" pitchFamily="49" charset="0"/>
              </a:rPr>
              <a:t>-extra"</a:t>
            </a:r>
            <a:r>
              <a:rPr lang="es-ES" sz="1100" b="0" dirty="0">
                <a:solidFill>
                  <a:srgbClr val="808080"/>
                </a:solidFill>
                <a:effectLst/>
                <a:latin typeface="Consolas" panose="020B0609020204030204" pitchFamily="49" charset="0"/>
              </a:rPr>
              <a:t>&gt;</a:t>
            </a:r>
            <a:r>
              <a:rPr lang="es-ES" sz="1100" b="0" dirty="0">
                <a:solidFill>
                  <a:srgbClr val="CCCCCC"/>
                </a:solidFill>
                <a:effectLst/>
                <a:latin typeface="Consolas" panose="020B0609020204030204" pitchFamily="49" charset="0"/>
              </a:rPr>
              <a:t>Elemento extra</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li</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ul</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a:p>
            <a:r>
              <a:rPr lang="es-ES" sz="1100" b="0" dirty="0">
                <a:solidFill>
                  <a:srgbClr val="CCCCCC"/>
                </a:solidFill>
                <a:effectLst/>
                <a:latin typeface="Consolas" panose="020B0609020204030204" pitchFamily="49" charset="0"/>
              </a:rPr>
              <a:t>    </a:t>
            </a:r>
            <a:r>
              <a:rPr lang="es-ES" sz="1100" b="0" dirty="0">
                <a:solidFill>
                  <a:srgbClr val="808080"/>
                </a:solidFill>
                <a:effectLst/>
                <a:latin typeface="Consolas" panose="020B0609020204030204" pitchFamily="49" charset="0"/>
              </a:rPr>
              <a:t>&lt;/</a:t>
            </a:r>
            <a:r>
              <a:rPr lang="es-ES" sz="1100" b="0" dirty="0" err="1">
                <a:solidFill>
                  <a:srgbClr val="569CD6"/>
                </a:solidFill>
                <a:effectLst/>
                <a:latin typeface="Consolas" panose="020B0609020204030204" pitchFamily="49" charset="0"/>
              </a:rPr>
              <a:t>body</a:t>
            </a:r>
            <a:r>
              <a:rPr lang="es-ES" sz="1100" b="0" dirty="0">
                <a:solidFill>
                  <a:srgbClr val="808080"/>
                </a:solidFill>
                <a:effectLst/>
                <a:latin typeface="Consolas" panose="020B0609020204030204" pitchFamily="49" charset="0"/>
              </a:rPr>
              <a:t>&gt;</a:t>
            </a:r>
            <a:endParaRPr lang="es-ES" sz="1100" b="0" dirty="0">
              <a:solidFill>
                <a:srgbClr val="CCCCCC"/>
              </a:solidFill>
              <a:effectLst/>
              <a:latin typeface="Consolas" panose="020B0609020204030204" pitchFamily="49" charset="0"/>
            </a:endParaRPr>
          </a:p>
        </p:txBody>
      </p:sp>
      <p:pic>
        <p:nvPicPr>
          <p:cNvPr id="16" name="Imagen 15">
            <a:extLst>
              <a:ext uri="{FF2B5EF4-FFF2-40B4-BE49-F238E27FC236}">
                <a16:creationId xmlns:a16="http://schemas.microsoft.com/office/drawing/2014/main" id="{F1727768-FA8D-FCC5-94E5-0DA22C4B5236}"/>
              </a:ext>
            </a:extLst>
          </p:cNvPr>
          <p:cNvPicPr>
            <a:picLocks noChangeAspect="1"/>
          </p:cNvPicPr>
          <p:nvPr/>
        </p:nvPicPr>
        <p:blipFill>
          <a:blip r:embed="rId3"/>
          <a:stretch>
            <a:fillRect/>
          </a:stretch>
        </p:blipFill>
        <p:spPr>
          <a:xfrm>
            <a:off x="7717330" y="2490177"/>
            <a:ext cx="1552792" cy="1009791"/>
          </a:xfrm>
          <a:prstGeom prst="rect">
            <a:avLst/>
          </a:prstGeom>
        </p:spPr>
      </p:pic>
      <p:sp>
        <p:nvSpPr>
          <p:cNvPr id="17" name="Flecha: a la derecha 16">
            <a:extLst>
              <a:ext uri="{FF2B5EF4-FFF2-40B4-BE49-F238E27FC236}">
                <a16:creationId xmlns:a16="http://schemas.microsoft.com/office/drawing/2014/main" id="{5CA8A542-366A-DF82-2AB5-E37C336506E0}"/>
              </a:ext>
            </a:extLst>
          </p:cNvPr>
          <p:cNvSpPr/>
          <p:nvPr/>
        </p:nvSpPr>
        <p:spPr>
          <a:xfrm>
            <a:off x="5202315" y="2618913"/>
            <a:ext cx="1873188" cy="8078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63474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019EC-9FAD-65C2-B0A2-DA6BEF38BC25}"/>
              </a:ext>
            </a:extLst>
          </p:cNvPr>
          <p:cNvSpPr txBox="1">
            <a:spLocks noGrp="1"/>
          </p:cNvSpPr>
          <p:nvPr>
            <p:ph type="title" idx="4294967295"/>
          </p:nvPr>
        </p:nvSpPr>
        <p:spPr>
          <a:xfrm>
            <a:off x="336351" y="233602"/>
            <a:ext cx="9359999" cy="719998"/>
          </a:xfrm>
        </p:spPr>
        <p:txBody>
          <a:bodyPr/>
          <a:lstStyle/>
          <a:p>
            <a:pPr lvl="0"/>
            <a:r>
              <a:rPr lang="es-ES" dirty="0">
                <a:cs typeface="Noto Sans" pitchFamily="2"/>
              </a:rPr>
              <a:t>Herencia</a:t>
            </a:r>
          </a:p>
        </p:txBody>
      </p:sp>
      <p:sp>
        <p:nvSpPr>
          <p:cNvPr id="6" name="CuadroTexto 5">
            <a:extLst>
              <a:ext uri="{FF2B5EF4-FFF2-40B4-BE49-F238E27FC236}">
                <a16:creationId xmlns:a16="http://schemas.microsoft.com/office/drawing/2014/main" id="{B268A5E9-1D65-D4EC-D76B-E52A99322E23}"/>
              </a:ext>
            </a:extLst>
          </p:cNvPr>
          <p:cNvSpPr txBox="1"/>
          <p:nvPr/>
        </p:nvSpPr>
        <p:spPr>
          <a:xfrm>
            <a:off x="719091" y="1846555"/>
            <a:ext cx="8799075" cy="1754326"/>
          </a:xfrm>
          <a:prstGeom prst="rect">
            <a:avLst/>
          </a:prstGeom>
          <a:noFill/>
        </p:spPr>
        <p:txBody>
          <a:bodyPr wrap="none" rtlCol="0">
            <a:spAutoFit/>
          </a:bodyPr>
          <a:lstStyle/>
          <a:p>
            <a:r>
              <a:rPr lang="es-ES" dirty="0"/>
              <a:t>Actividad. </a:t>
            </a:r>
          </a:p>
          <a:p>
            <a:r>
              <a:rPr lang="es-ES" dirty="0"/>
              <a:t>1. Demuestra  con ejemplos inventados como se aplica la cascada y especificidad para</a:t>
            </a:r>
          </a:p>
          <a:p>
            <a:r>
              <a:rPr lang="es-ES" dirty="0"/>
              <a:t>comprobar que se han adquirido los conocimientos. Recuerda probar también el !</a:t>
            </a:r>
            <a:r>
              <a:rPr lang="es-ES" dirty="0" err="1"/>
              <a:t>important</a:t>
            </a:r>
            <a:endParaRPr lang="es-ES" dirty="0"/>
          </a:p>
          <a:p>
            <a:r>
              <a:rPr lang="es-ES" dirty="0"/>
              <a:t>2. Demuestra con ejemplos inventados como se aplica la herencia para comprobar que </a:t>
            </a:r>
          </a:p>
          <a:p>
            <a:r>
              <a:rPr lang="es-ES" dirty="0"/>
              <a:t>Se han adquirido los conocimientos.</a:t>
            </a:r>
          </a:p>
          <a:p>
            <a:endParaRPr lang="es-ES" dirty="0"/>
          </a:p>
        </p:txBody>
      </p:sp>
    </p:spTree>
    <p:extLst>
      <p:ext uri="{BB962C8B-B14F-4D97-AF65-F5344CB8AC3E}">
        <p14:creationId xmlns:p14="http://schemas.microsoft.com/office/powerpoint/2010/main" val="920709368"/>
      </p:ext>
    </p:extLst>
  </p:cSld>
  <p:clrMapOvr>
    <a:masterClrMapping/>
  </p:clrMapOvr>
</p:sld>
</file>

<file path=ppt/theme/theme1.xml><?xml version="1.0" encoding="utf-8"?>
<a:theme xmlns:a="http://schemas.openxmlformats.org/drawingml/2006/main" name="Midnight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dnightblu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idnightblu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2451</TotalTime>
  <Words>4062</Words>
  <Application>Microsoft Macintosh PowerPoint</Application>
  <PresentationFormat>Personalizado</PresentationFormat>
  <Paragraphs>549</Paragraphs>
  <Slides>40</Slides>
  <Notes>35</Notes>
  <HiddenSlides>0</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40</vt:i4>
      </vt:variant>
    </vt:vector>
  </HeadingPairs>
  <TitlesOfParts>
    <vt:vector size="51" baseType="lpstr">
      <vt:lpstr>Arial</vt:lpstr>
      <vt:lpstr>Calibri</vt:lpstr>
      <vt:lpstr>Cambria</vt:lpstr>
      <vt:lpstr>Consolas</vt:lpstr>
      <vt:lpstr>Courier New</vt:lpstr>
      <vt:lpstr>Noto Sans</vt:lpstr>
      <vt:lpstr>Wingdings</vt:lpstr>
      <vt:lpstr>Wingdings 2</vt:lpstr>
      <vt:lpstr>Midnightblue</vt:lpstr>
      <vt:lpstr>Midnightblue1</vt:lpstr>
      <vt:lpstr>Midnightblue2</vt:lpstr>
      <vt:lpstr>Unidad 1</vt:lpstr>
      <vt:lpstr>Unidad 2</vt:lpstr>
      <vt:lpstr>Unidad 2</vt:lpstr>
      <vt:lpstr>Unidad 2</vt:lpstr>
      <vt:lpstr>Sintaxis de CSS</vt:lpstr>
      <vt:lpstr>Sintaxis de CSS</vt:lpstr>
      <vt:lpstr>¿Cómo incluir CSS en nuestros documentos?</vt:lpstr>
      <vt:lpstr>¿Cómo incluir CSS en nuestros documentos?</vt:lpstr>
      <vt:lpstr>¿Cómo incluir CSS en nuestros documentos?</vt:lpstr>
      <vt:lpstr>Selectores básicos</vt:lpstr>
      <vt:lpstr>Selectores básicos</vt:lpstr>
      <vt:lpstr>Selectores con alcance</vt:lpstr>
      <vt:lpstr>Presentación de PowerPoint</vt:lpstr>
      <vt:lpstr>Presentación de PowerPoint</vt:lpstr>
      <vt:lpstr>Presentación de PowerPoint</vt:lpstr>
      <vt:lpstr>Presentación de PowerPoint</vt:lpstr>
      <vt:lpstr>Selectores con alcance</vt:lpstr>
      <vt:lpstr>Selectores de atributo</vt:lpstr>
      <vt:lpstr>Ejercicio de selectores de atributos</vt:lpstr>
      <vt:lpstr>Algún ejemplo de selectores de atributos</vt:lpstr>
      <vt:lpstr>Selectores avanzados</vt:lpstr>
      <vt:lpstr>Ejercicio selectores avanzados</vt:lpstr>
      <vt:lpstr>Presentación de PowerPoint</vt:lpstr>
      <vt:lpstr>Presentación de PowerPoint</vt:lpstr>
      <vt:lpstr>Selectores con pseudoclases</vt:lpstr>
      <vt:lpstr>Selectores con pseudoclases</vt:lpstr>
      <vt:lpstr>Selectores con pseudoelementos</vt:lpstr>
      <vt:lpstr>Selectores</vt:lpstr>
      <vt:lpstr>Herencia, cascada y especificidad</vt:lpstr>
      <vt:lpstr>Especificidad</vt:lpstr>
      <vt:lpstr>Especificidad</vt:lpstr>
      <vt:lpstr>Especificidad</vt:lpstr>
      <vt:lpstr>Especificidad</vt:lpstr>
      <vt:lpstr>Especificidad</vt:lpstr>
      <vt:lpstr>Cascada</vt:lpstr>
      <vt:lpstr>Cascada</vt:lpstr>
      <vt:lpstr>Herencia</vt:lpstr>
      <vt:lpstr>Herencia</vt:lpstr>
      <vt:lpstr>Herencia</vt:lpstr>
      <vt:lpstr>Herencia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Midnightblue</dc:title>
  <dc:creator>Juan</dc:creator>
  <cp:lastModifiedBy>Francisco Alía Hernández</cp:lastModifiedBy>
  <cp:revision>57</cp:revision>
  <dcterms:created xsi:type="dcterms:W3CDTF">2022-09-11T16:37:12Z</dcterms:created>
  <dcterms:modified xsi:type="dcterms:W3CDTF">2025-11-07T08:15:35Z</dcterms:modified>
</cp:coreProperties>
</file>